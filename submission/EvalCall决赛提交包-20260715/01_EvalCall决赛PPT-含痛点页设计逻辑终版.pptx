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c77752b5564e15" /><Relationship Type="http://schemas.openxmlformats.org/officeDocument/2006/relationships/extended-properties" Target="/docProps/app.xml" Id="R424231643a6f414d" /><Relationship Type="http://schemas.openxmlformats.org/officeDocument/2006/relationships/officeDocument" Target="/ppt/presentation.xml" Id="R0bfdd151a809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2eaf7f59745fe"/>
  </p:sldMasterIdLst>
  <p:notesMasterIdLst>
    <p:notesMasterId xmlns:r="http://schemas.openxmlformats.org/officeDocument/2006/relationships" r:id="R8ef35a53ca684938"/>
  </p:notesMasterIdLst>
  <p:sldIdLst>
    <p:sldId xmlns:r="http://schemas.openxmlformats.org/officeDocument/2006/relationships" id="256" r:id="R025ec32ea75b43d9"/>
    <p:sldId xmlns:r="http://schemas.openxmlformats.org/officeDocument/2006/relationships" id="257" r:id="R6e994a4044d840b6"/>
    <p:sldId xmlns:r="http://schemas.openxmlformats.org/officeDocument/2006/relationships" id="258" r:id="Rbc78eaaf4067435d"/>
    <p:sldId xmlns:r="http://schemas.openxmlformats.org/officeDocument/2006/relationships" id="259" r:id="Ra84c8d90251c4050"/>
    <p:sldId xmlns:r="http://schemas.openxmlformats.org/officeDocument/2006/relationships" id="260" r:id="Re0544bd8a3804dd3"/>
    <p:sldId xmlns:r="http://schemas.openxmlformats.org/officeDocument/2006/relationships" id="261" r:id="R49f9c10c1f324f58"/>
    <p:sldId xmlns:r="http://schemas.openxmlformats.org/officeDocument/2006/relationships" id="262" r:id="R1baa9af54e3943f0"/>
    <p:sldId xmlns:r="http://schemas.openxmlformats.org/officeDocument/2006/relationships" id="263" r:id="R868a35576e794659"/>
    <p:sldId xmlns:r="http://schemas.openxmlformats.org/officeDocument/2006/relationships" id="264" r:id="R467c18baf6a444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bb9c9275c4919" /><Relationship Type="http://schemas.openxmlformats.org/officeDocument/2006/relationships/slideMaster" Target="/ppt/slideMasters/slideMaster1.xml" Id="Rd272eaf7f59745fe" /><Relationship Type="http://schemas.openxmlformats.org/officeDocument/2006/relationships/notesMaster" Target="/ppt/notesMasters/notesMaster1.xml" Id="R8ef35a53ca684938" /><Relationship Type="http://schemas.openxmlformats.org/officeDocument/2006/relationships/presProps" Target="/ppt/presProps.xml" Id="R5c4fb43c804f41d9" /><Relationship Type="http://schemas.openxmlformats.org/officeDocument/2006/relationships/tableStyles" Target="/ppt/tableStyles.xml" Id="Rc5f15249591e433b" /><Relationship Type="http://schemas.openxmlformats.org/officeDocument/2006/relationships/slide" Target="/ppt/slides/slide1.xml" Id="R025ec32ea75b43d9" /><Relationship Type="http://schemas.openxmlformats.org/officeDocument/2006/relationships/slide" Target="/ppt/slides/slide2.xml" Id="R6e994a4044d840b6" /><Relationship Type="http://schemas.openxmlformats.org/officeDocument/2006/relationships/slide" Target="/ppt/slides/slide3.xml" Id="Rbc78eaaf4067435d" /><Relationship Type="http://schemas.openxmlformats.org/officeDocument/2006/relationships/slide" Target="/ppt/slides/slide4.xml" Id="Ra84c8d90251c4050" /><Relationship Type="http://schemas.openxmlformats.org/officeDocument/2006/relationships/slide" Target="/ppt/slides/slide5.xml" Id="Re0544bd8a3804dd3" /><Relationship Type="http://schemas.openxmlformats.org/officeDocument/2006/relationships/slide" Target="/ppt/slides/slide6.xml" Id="R49f9c10c1f324f58" /><Relationship Type="http://schemas.openxmlformats.org/officeDocument/2006/relationships/slide" Target="/ppt/slides/slide7.xml" Id="R1baa9af54e3943f0" /><Relationship Type="http://schemas.openxmlformats.org/officeDocument/2006/relationships/slide" Target="/ppt/slides/slide8.xml" Id="R868a35576e794659" /><Relationship Type="http://schemas.openxmlformats.org/officeDocument/2006/relationships/slide" Target="/ppt/slides/slide9.xml" Id="R467c18baf6a444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92b92b78c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4bf87204b14052" /><Relationship Type="http://schemas.openxmlformats.org/officeDocument/2006/relationships/notesMaster" Target="/ppt/notesMasters/notesMaster1.xml" Id="R7722d59a684d45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6744bfe64446e" /><Relationship Type="http://schemas.openxmlformats.org/officeDocument/2006/relationships/notesMaster" Target="/ppt/notesMasters/notesMaster1.xml" Id="Rcd7d67cfe2d5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f38e0be2a45d7" /><Relationship Type="http://schemas.openxmlformats.org/officeDocument/2006/relationships/notesMaster" Target="/ppt/notesMasters/notesMaster1.xml" Id="Reff730aebc35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64f1161774a2b" /><Relationship Type="http://schemas.openxmlformats.org/officeDocument/2006/relationships/notesMaster" Target="/ppt/notesMasters/notesMaster1.xml" Id="R3ce09765cac745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e1807c3e646e6" /><Relationship Type="http://schemas.openxmlformats.org/officeDocument/2006/relationships/notesMaster" Target="/ppt/notesMasters/notesMaster1.xml" Id="R28aec589d92542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4b6794a1043d2" /><Relationship Type="http://schemas.openxmlformats.org/officeDocument/2006/relationships/notesMaster" Target="/ppt/notesMasters/notesMaster1.xml" Id="R56ea4431c9c0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f1ca4bf2bc49e4" /><Relationship Type="http://schemas.openxmlformats.org/officeDocument/2006/relationships/notesMaster" Target="/ppt/notesMasters/notesMaster1.xml" Id="R530e424c75bc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810b11415e49a0" /><Relationship Type="http://schemas.openxmlformats.org/officeDocument/2006/relationships/notesMaster" Target="/ppt/notesMasters/notesMaster1.xml" Id="Rd597027f598f49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bffb3fa8ad4f8a" /><Relationship Type="http://schemas.openxmlformats.org/officeDocument/2006/relationships/notesMaster" Target="/ppt/notesMasters/notesMaster1.xml" Id="R462753eb987a45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我是杨凯杰，团队名称是降临派。</a:t>
            </a:r>
          </a:p>
          <a:p xmlns:a="http://schemas.openxmlformats.org/drawingml/2006/main">
            <a:r>
              <a:t>我们的作品 EvalCall 面向美团黑客松赛道二：复杂指令下的多轮对话评测系统。</a:t>
            </a:r>
          </a:p>
          <a:p xmlns:a="http://schemas.openxmlformats.org/drawingml/2006/main">
            <a:r>
              <a:t>它把复杂任务指令变成可测试、可归责、可回归的模型上线标准。接下来我用六步解释为什么这样设计。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先不要急着讲方案，先把外呼模型真正难在哪里说清楚。</a:t>
            </a:r>
          </a:p>
          <a:p xmlns:a="http://schemas.openxmlformats.org/drawingml/2006/main">
            <a:r>
              <a:t>第一，复杂指令容易漏步骤；第二，隐私和合规存在一票否决；第三，低频高风险场景在历史日志里很难覆盖；第四，人工抽听跟不上通话量和模型迭代；第五，出错以后还可能把责任归错。</a:t>
            </a:r>
          </a:p>
          <a:p xmlns:a="http://schemas.openxmlformats.org/drawingml/2006/main">
            <a:r>
              <a:t>所以答案不是再做一次人工抽检，而是建立一套能够主动测试、统一判断、准确归因并持续回归的自动评测流程。下一页就是这套流程的六步总览。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开场只建立设计主线：六步依次解决不可比、不可执行、测不到、不能决策、错误归责和无法验证修复。</a:t>
            </a:r>
          </a:p>
          <a:p xmlns:a="http://schemas.openxmlformats.org/drawingml/2006/main">
            <a:r>
              <a:t>明确分工：PPT 解释为什么这样设计；Demo 证明真实运行；报告与产物供评委复核。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先讲风险：输入不冻结，模型对比就没有实验意义。</a:t>
            </a:r>
          </a:p>
          <a:p xmlns:a="http://schemas.openxmlformats.org/drawingml/2006/main">
            <a:r>
              <a:t>再讲机制：模拟测试和已有日志先归一成同一种任务包，冻结 SOP、模型、用户批次和哈希，六步只认这一个事实源。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先讲风险：直接把自然语言 SOP 塞给 Judge，每次理解可能不同。</a:t>
            </a:r>
          </a:p>
          <a:p xmlns:a="http://schemas.openxmlformats.org/drawingml/2006/main">
            <a:r>
              <a:t>再讲机制：LLM 只负责理解；确定性代码负责 L0/L1 分层、结构约束、严重度和来源校验，所以它是一份可执行合同。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先讲风险：历史日志只能覆盖已经发生过的情况。</a:t>
            </a:r>
          </a:p>
          <a:p xmlns:a="http://schemas.openxmlformats.org/drawingml/2006/main">
            <a:r>
              <a:t>再讲机制：Persona、对抗目标和固定 seed 主动制造边界，同时保证场景可复现；用户模拟器是官方测试工具，不是被评对象。</a:t>
            </a:r>
          </a:p>
          <a:p xmlns:a="http://schemas.openxmlformats.org/drawingml/2006/main">
            <a:r>
              <a:t>讲完点击“在线跑六步”。若实时通道异常，立即使用已验证结果，不在台上排障。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后先讲风险：平均分会掩盖 P0 和关键流程中断。</a:t>
            </a:r>
          </a:p>
          <a:p xmlns:a="http://schemas.openxmlformats.org/drawingml/2006/main">
            <a:r>
              <a:t>再讲机制：门禁、履约和逐项证据分别回答能否上线、任务是否完成、为什么这样判断；第 4 步是核心交付终点。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先讲风险：低分可能来自模型、SOP、Judge 或测试数据。</a:t>
            </a:r>
          </a:p>
          <a:p xmlns:a="http://schemas.openxmlformats.org/drawingml/2006/main">
            <a:r>
              <a:t>再讲机制：把模型表现、SOP 健康、裁判状态和数据覆盖放在同一套确定性规则中互证，先分清责任，再谈优化。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先讲风险：模型和评分尺同时变化，回归变好也无法证明是谁起作用。</a:t>
            </a:r>
          </a:p>
          <a:p xmlns:a="http://schemas.openxmlformats.org/drawingml/2006/main">
            <a:r>
              <a:t>再讲机制：按根因只改责任对象，锁定 SOP、Checklist 和用户批次，返回第 3 步同尺重放。</a:t>
            </a:r>
          </a:p>
          <a:p xmlns:a="http://schemas.openxmlformats.org/drawingml/2006/main">
            <a:r>
              <a:t>收尾：EvalCall 交付的不是另一张排行榜，而是一套可测试、可归责、可回归的上线质量基础设施。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e9d8225cb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4d54cedb04fbf" /><Relationship Type="http://schemas.openxmlformats.org/officeDocument/2006/relationships/slideLayout" Target="/ppt/slideLayouts/slideLayout1.xml" Id="Rf09f92ba554b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f92ba554b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c705bfd5494a" /><Relationship Type="http://schemas.openxmlformats.org/officeDocument/2006/relationships/notesSlide" Target="/ppt/notesSlides/notesSlide1.xml" Id="R773b4736ecc64f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0b05e184c4271" /><Relationship Type="http://schemas.openxmlformats.org/officeDocument/2006/relationships/notesSlide" Target="/ppt/notesSlides/notesSlide2.xml" Id="R060a6f61f8f54b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cd2177ead4aee" /><Relationship Type="http://schemas.openxmlformats.org/officeDocument/2006/relationships/hyperlink" Target="https://kaijie0074-art.github.io/evalcall/live.html?access=evalcall-final-20260716-4c9a7e2d8f1b6a03c5d7e9f2b4a6810d" TargetMode="External" Id="Rd1efc5a4204946dc" /><Relationship Type="http://schemas.openxmlformats.org/officeDocument/2006/relationships/hyperlink" Target="https://kaijie0074-art.github.io/evalcall/app.html" TargetMode="External" Id="R39d52a62eff54b12" /><Relationship Type="http://schemas.openxmlformats.org/officeDocument/2006/relationships/notesSlide" Target="/ppt/notesSlides/notesSlide3.xml" Id="Rf42ec0e4a7e14b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aa069fb654afa" /><Relationship Type="http://schemas.openxmlformats.org/officeDocument/2006/relationships/image" Target="/ppt/media/image.png" Id="R5288464a156d4556" /><Relationship Type="http://schemas.openxmlformats.org/officeDocument/2006/relationships/hyperlink" Target="https://kaijie0074-art.github.io/evalcall/live.html?access=evalcall-final-20260716-4c9a7e2d8f1b6a03c5d7e9f2b4a6810d" TargetMode="External" Id="Rbe8353ca6a644472" /><Relationship Type="http://schemas.openxmlformats.org/officeDocument/2006/relationships/hyperlink" Target="https://kaijie0074-art.github.io/evalcall/app.html" TargetMode="External" Id="R9aeefdd9b59b4a28" /><Relationship Type="http://schemas.openxmlformats.org/officeDocument/2006/relationships/notesSlide" Target="/ppt/notesSlides/notesSlide4.xml" Id="Rb472112d6a2d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00895135c4f28" /><Relationship Type="http://schemas.openxmlformats.org/officeDocument/2006/relationships/image" Target="/ppt/media/image2.png" Id="R5baf0f01cb8249c0" /><Relationship Type="http://schemas.openxmlformats.org/officeDocument/2006/relationships/hyperlink" Target="https://kaijie0074-art.github.io/evalcall/live.html?access=evalcall-final-20260716-4c9a7e2d8f1b6a03c5d7e9f2b4a6810d" TargetMode="External" Id="Rd5e4efc5c69244d2" /><Relationship Type="http://schemas.openxmlformats.org/officeDocument/2006/relationships/hyperlink" Target="https://kaijie0074-art.github.io/evalcall/app.html" TargetMode="External" Id="R6b104e907e344acc" /><Relationship Type="http://schemas.openxmlformats.org/officeDocument/2006/relationships/notesSlide" Target="/ppt/notesSlides/notesSlide5.xml" Id="Rc7dcd001739c48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af50af846458c" /><Relationship Type="http://schemas.openxmlformats.org/officeDocument/2006/relationships/image" Target="/ppt/media/image3.png" Id="Rbda10d6354a64297" /><Relationship Type="http://schemas.openxmlformats.org/officeDocument/2006/relationships/hyperlink" Target="https://kaijie0074-art.github.io/evalcall/live.html?access=evalcall-final-20260716-4c9a7e2d8f1b6a03c5d7e9f2b4a6810d" TargetMode="External" Id="R3afb575129614ed2" /><Relationship Type="http://schemas.openxmlformats.org/officeDocument/2006/relationships/hyperlink" Target="https://kaijie0074-art.github.io/evalcall/app.html" TargetMode="External" Id="Ree8af4bf1e6342d4" /><Relationship Type="http://schemas.openxmlformats.org/officeDocument/2006/relationships/notesSlide" Target="/ppt/notesSlides/notesSlide6.xml" Id="R20f44575f64f4f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1880aaed64657" /><Relationship Type="http://schemas.openxmlformats.org/officeDocument/2006/relationships/image" Target="/ppt/media/image4.png" Id="R0cba73cbc65f45b8" /><Relationship Type="http://schemas.openxmlformats.org/officeDocument/2006/relationships/hyperlink" Target="https://kaijie0074-art.github.io/evalcall/live.html?access=evalcall-final-20260716-4c9a7e2d8f1b6a03c5d7e9f2b4a6810d" TargetMode="External" Id="R17f46a3da4824e0b" /><Relationship Type="http://schemas.openxmlformats.org/officeDocument/2006/relationships/hyperlink" Target="https://kaijie0074-art.github.io/evalcall/app.html" TargetMode="External" Id="Rd6621c0e531245c7" /><Relationship Type="http://schemas.openxmlformats.org/officeDocument/2006/relationships/notesSlide" Target="/ppt/notesSlides/notesSlide7.xml" Id="R8a38f297896b4b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e9300cf74be6" /><Relationship Type="http://schemas.openxmlformats.org/officeDocument/2006/relationships/image" Target="/ppt/media/image5.png" Id="R90476aeb53584d9a" /><Relationship Type="http://schemas.openxmlformats.org/officeDocument/2006/relationships/hyperlink" Target="https://kaijie0074-art.github.io/evalcall/live.html?access=evalcall-final-20260716-4c9a7e2d8f1b6a03c5d7e9f2b4a6810d" TargetMode="External" Id="R5e6faf3d16b745bf" /><Relationship Type="http://schemas.openxmlformats.org/officeDocument/2006/relationships/hyperlink" Target="https://kaijie0074-art.github.io/evalcall/app.html" TargetMode="External" Id="R9c25a2b907f947ed" /><Relationship Type="http://schemas.openxmlformats.org/officeDocument/2006/relationships/notesSlide" Target="/ppt/notesSlides/notesSlide8.xml" Id="Rbfb938711dd2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d86091bad429b" /><Relationship Type="http://schemas.openxmlformats.org/officeDocument/2006/relationships/image" Target="/ppt/media/image4.png" Id="Rcca277ef25874b9f" /><Relationship Type="http://schemas.openxmlformats.org/officeDocument/2006/relationships/hyperlink" Target="https://kaijie0074-art.github.io/evalcall/live.html?access=evalcall-final-20260716-4c9a7e2d8f1b6a03c5d7e9f2b4a6810d" TargetMode="External" Id="Rfa2c67ffcc764cfb" /><Relationship Type="http://schemas.openxmlformats.org/officeDocument/2006/relationships/hyperlink" Target="https://kaijie0074-art.github.io/evalcall/app.html" TargetMode="External" Id="R6e7176dad3a945c4" /><Relationship Type="http://schemas.openxmlformats.org/officeDocument/2006/relationships/notesSlide" Target="/ppt/notesSlides/notesSlide9.xml" Id="R44cdcb8db92941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美团黑客松 · 赛道二 · 决赛路演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EvalCall｜外呼对话模型指令遵循自动评测系统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题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命题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219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复杂指令下的多轮对话评测系统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队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团队名称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降临派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团队成员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杨凯杰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让复杂任务指令变成可测试、可归责、可回归的上线标准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自动测试 · 可解释门禁 · 同尺回归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问题定义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模型外呼的过程中，到底会遇到什么问题呢？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581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58100"/>
                </a:solidFill>
                <a:latin typeface="PingFang SC"/>
                <a:ea typeface="PingFang SC"/>
                <a:cs typeface="PingFang SC"/>
              </a:rPr>
              <a:t>1.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指令太复杂，模型容易漏步骤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多流程、多约束、多分支同时存在时，模型可能顺序错误、遗漏要求或未完成任务。</a:t>
            </a:r>
          </a:p>
        </p:txBody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隐私与合规存在一票否决红线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一次敏感信息泄露、违规承诺或身份处理错误，就可能让整个模型版本不能上线。</a:t>
            </a:r>
          </a:p>
        </p:txBody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特定场景样本太少，风险测不到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拒绝、打断、质疑、反复追问等场景数量少但风险高，历史日志很难充分覆盖。</a:t>
            </a:r>
          </a:p>
        </p:txBody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43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人工质检成本高，无法规模化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人工抽听速度慢、标准不统一，无法覆盖大量通话，也跟不上模型快速迭代。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那该怎么解决呢？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581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58100"/>
                </a:solidFill>
                <a:latin typeface="PingFang SC"/>
                <a:ea typeface="PingFang SC"/>
                <a:cs typeface="PingFang SC"/>
              </a:rPr>
              <a:t>答案是：建立一套能够主动测试、统一判断、准确归因并持续回归的自动评测流程。</a:t>
            </a:r>
          </a:p>
        </p:txBody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5.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出错后无法正确归因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低分可能来自模型、SOP、裁判或测试数据；归因错误，就会修改错误的对象。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PPT 解释为什么这样设计 · Demo 证明真实运行 · 报告与产物负责结果复核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1efc5a4204946dc"/>
              </a:rPr>
              <a:t>▶ 在线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9d52a62eff54b12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冻结测试任务｜先把评测变成一次可复现的实验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先冻结变量，再评价模型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不做这一步：用户、SOP 或模型版本一变，任何好坏对比都失去意义。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双轨输入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模拟 / 日志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版本冻结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SOP·模型·用户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同批贯穿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六步共用任务包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task = freeze(sop, model, users, batch)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 = hash_every_input(task)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精妙：双入口先归一，后续六步不再偷换输入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设计闭环：双轨输入 → 统一任务包 → 哈希冻结；整个评测只认一个版本事实源。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8464a156d4556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e8353ca6a644472"/>
              </a:rPr>
              <a:t>▶ 在线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aeefdd9b59b4a28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建立评分标准｜评分标准不是提示词，而是可执行合同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 理解规则，代码守住边界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不做这一步：自然语言有歧义，Judge 每次都可能理解成不同标准。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通用安全红线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任务业务规则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溯源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原文·严重度·条件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L0 = safety_policy(); L1 = compile(sop)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checkpoint = verify(source, severity, condition)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精妙：生成能力与可审计约束解耦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设计闭环：SOP → 原子检查点 → 来源校验 → Checklist hash；评分标准由提示词变成合同。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f0f01cb8249c0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5e4efc5c69244d2"/>
              </a:rPr>
              <a:t>▶ 在线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b104e907e344acc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测试外呼模型｜用户模拟器主动制造真实边界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不是等线上出事，而是上线前主动撞边界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不做这一步：历史日志只覆盖已发生情况，危险分支可能漏掉。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Persona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用户行为边界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对抗目标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主动撞脆弱点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 Seed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同场景可复现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test = persona × adversarial_target × seed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transcript = run(target_model, test)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精妙：主动覆盖边界，同时保持场景可复现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设计闭环：Persona × 对抗目标 × 固定 seed → 测试对话；两种入口共用后半条评测链。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10d6354a64297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afb575129614ed2"/>
              </a:rPr>
              <a:t>▶ 在线跑六步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e8af4bf1e6342d4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输出评测报告｜报告的职责不是打分，而是做上线决策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平均分回答表现，门禁回答能不能上线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不做这一步：高平均分可能掩盖隐私泄露、P0 和关键流程中断。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门禁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一票否决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履约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任务是否完成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逐项引用原话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FAIL if P0 or critical_flow_failed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report = decision + evidence + blind_spots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精妙：先做发布决策，再解释为什么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设计闭环：P0 / 关键流程 / 履约 → 上线门禁；证据、盲区和复核队列回答“为什么”。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a73cbc65f45b8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7f46a3da4824e0b"/>
              </a:rPr>
              <a:t>▶ 在线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6621c0e531245c7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分析失败原因｜先分清责任，再决定优化谁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先分清责任，再决定改谁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不做这一步：SOP、Judge 或覆盖问题，都会被误判成模型能力差。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能力与策略问题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指令可执行性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Judge / 测试数据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signals = block + P0 + fulfillment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root = compare(model, instruction, judge, data)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精妙：多信号互证，拒绝单一失败率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设计闭环：模型表现 × SOP 健康 × Judge 状态 × 数据覆盖 → 可解释根因，而不是默认怪模型。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76aeb53584d9a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e6faf3d16b745bf"/>
              </a:rPr>
              <a:t>▶ 在线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c25a2b907f947ed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优化与回归｜只改责任对象，用同一把尺重新证明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只改责任对象，评分尺不变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不做这一步：模型和评分尺同时变化，无法证明谁起作用。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只改对象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按根因路由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锁定尺子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SOP·Checklist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Step 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同批用户重放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repair.py + diff.py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repair(root_cause); lock(SOP_HASH, CHECK_HASH)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return step_3(same_users, new_target)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精妙：变化只发生在责任对象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设计闭环：根因路由 → 单变量修复 → 同尺回归 → 原生 diff；形成可证伪的优化闭环。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277ef25874b9f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a2c67ffcc764cfb"/>
              </a:rPr>
              <a:t>▶ 在线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e7176dad3a945c4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2026-07-14T18:34:25.5680000Z</dcterms:created>
  <dcterms:modified xsi:type="dcterms:W3CDTF">2026-07-14T18:34:25.5680000Z</dcterms:modified>
</coreProperties>
</file>