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0b48d819ea4282" /><Relationship Type="http://schemas.openxmlformats.org/officeDocument/2006/relationships/extended-properties" Target="/docProps/app.xml" Id="R9b4ead73835f47cb" /><Relationship Type="http://schemas.openxmlformats.org/officeDocument/2006/relationships/officeDocument" Target="/ppt/presentation.xml" Id="Rcc33e500d4e54b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2ca94065394660"/>
  </p:sldMasterIdLst>
  <p:notesMasterIdLst>
    <p:notesMasterId xmlns:r="http://schemas.openxmlformats.org/officeDocument/2006/relationships" r:id="R565ef908c3dc4453"/>
  </p:notesMasterIdLst>
  <p:sldIdLst>
    <p:sldId xmlns:r="http://schemas.openxmlformats.org/officeDocument/2006/relationships" id="256" r:id="R56b97a46dcc34a81"/>
    <p:sldId xmlns:r="http://schemas.openxmlformats.org/officeDocument/2006/relationships" id="257" r:id="Ra2c52791f5cf4014"/>
    <p:sldId xmlns:r="http://schemas.openxmlformats.org/officeDocument/2006/relationships" id="258" r:id="Rf722ad1b95b14c54"/>
    <p:sldId xmlns:r="http://schemas.openxmlformats.org/officeDocument/2006/relationships" id="259" r:id="R4b9486ec61bf4979"/>
    <p:sldId xmlns:r="http://schemas.openxmlformats.org/officeDocument/2006/relationships" id="260" r:id="R8dca7a5cd4404d68"/>
    <p:sldId xmlns:r="http://schemas.openxmlformats.org/officeDocument/2006/relationships" id="261" r:id="R45fa4e0bf62d4278"/>
    <p:sldId xmlns:r="http://schemas.openxmlformats.org/officeDocument/2006/relationships" id="262" r:id="R75e81ca76f1740c9"/>
    <p:sldId xmlns:r="http://schemas.openxmlformats.org/officeDocument/2006/relationships" id="263" r:id="Rd9e8ffa89b7e4cb6"/>
    <p:sldId xmlns:r="http://schemas.openxmlformats.org/officeDocument/2006/relationships" id="264" r:id="R7b8399960b3f48a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725d55a84f4d93" /><Relationship Type="http://schemas.openxmlformats.org/officeDocument/2006/relationships/slideMaster" Target="/ppt/slideMasters/slideMaster1.xml" Id="R2b2ca94065394660" /><Relationship Type="http://schemas.openxmlformats.org/officeDocument/2006/relationships/notesMaster" Target="/ppt/notesMasters/notesMaster1.xml" Id="R565ef908c3dc4453" /><Relationship Type="http://schemas.openxmlformats.org/officeDocument/2006/relationships/presProps" Target="/ppt/presProps.xml" Id="R816c8da4750c47ee" /><Relationship Type="http://schemas.openxmlformats.org/officeDocument/2006/relationships/tableStyles" Target="/ppt/tableStyles.xml" Id="R2b9e3d01482c434f" /><Relationship Type="http://schemas.openxmlformats.org/officeDocument/2006/relationships/slide" Target="/ppt/slides/slide1.xml" Id="R56b97a46dcc34a81" /><Relationship Type="http://schemas.openxmlformats.org/officeDocument/2006/relationships/slide" Target="/ppt/slides/slide2.xml" Id="Ra2c52791f5cf4014" /><Relationship Type="http://schemas.openxmlformats.org/officeDocument/2006/relationships/slide" Target="/ppt/slides/slide3.xml" Id="Rf722ad1b95b14c54" /><Relationship Type="http://schemas.openxmlformats.org/officeDocument/2006/relationships/slide" Target="/ppt/slides/slide4.xml" Id="R4b9486ec61bf4979" /><Relationship Type="http://schemas.openxmlformats.org/officeDocument/2006/relationships/slide" Target="/ppt/slides/slide5.xml" Id="R8dca7a5cd4404d68" /><Relationship Type="http://schemas.openxmlformats.org/officeDocument/2006/relationships/slide" Target="/ppt/slides/slide6.xml" Id="R45fa4e0bf62d4278" /><Relationship Type="http://schemas.openxmlformats.org/officeDocument/2006/relationships/slide" Target="/ppt/slides/slide7.xml" Id="R75e81ca76f1740c9" /><Relationship Type="http://schemas.openxmlformats.org/officeDocument/2006/relationships/slide" Target="/ppt/slides/slide8.xml" Id="Rd9e8ffa89b7e4cb6" /><Relationship Type="http://schemas.openxmlformats.org/officeDocument/2006/relationships/slide" Target="/ppt/slides/slide9.xml" Id="R7b8399960b3f48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f12bb7995448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0b8a0542d04b3a" /><Relationship Type="http://schemas.openxmlformats.org/officeDocument/2006/relationships/notesMaster" Target="/ppt/notesMasters/notesMaster1.xml" Id="R9de6d1b52cc04b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9a440d942044fd" /><Relationship Type="http://schemas.openxmlformats.org/officeDocument/2006/relationships/notesMaster" Target="/ppt/notesMasters/notesMaster1.xml" Id="R3b82a42b09714d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e7d5213e7e482f" /><Relationship Type="http://schemas.openxmlformats.org/officeDocument/2006/relationships/notesMaster" Target="/ppt/notesMasters/notesMaster1.xml" Id="Rd8e918d9a92940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036f39b3f1407a" /><Relationship Type="http://schemas.openxmlformats.org/officeDocument/2006/relationships/notesMaster" Target="/ppt/notesMasters/notesMaster1.xml" Id="R003f423381f54e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efb30c672b4b6f" /><Relationship Type="http://schemas.openxmlformats.org/officeDocument/2006/relationships/notesMaster" Target="/ppt/notesMasters/notesMaster1.xml" Id="Rcc91523089fa4a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8a9d3f8f604fd0" /><Relationship Type="http://schemas.openxmlformats.org/officeDocument/2006/relationships/notesMaster" Target="/ppt/notesMasters/notesMaster1.xml" Id="R490b856dd3de4a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e0ab6266394ff5" /><Relationship Type="http://schemas.openxmlformats.org/officeDocument/2006/relationships/notesMaster" Target="/ppt/notesMasters/notesMaster1.xml" Id="Ra3cc8ef26b134d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87dd85bb8d4509" /><Relationship Type="http://schemas.openxmlformats.org/officeDocument/2006/relationships/notesMaster" Target="/ppt/notesMasters/notesMaster1.xml" Id="Reefc5e82de6a45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ca50d628d74f3c" /><Relationship Type="http://schemas.openxmlformats.org/officeDocument/2006/relationships/notesMaster" Target="/ppt/notesMasters/notesMaster1.xml" Id="R98ce372ff54049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我是杨凯杰，团队名称是降临派。</a:t>
            </a:r>
          </a:p>
          <a:p xmlns:a="http://schemas.openxmlformats.org/drawingml/2006/main">
            <a:r>
              <a:t>我们的作品 EvalCall 面向美团黑客松赛道二：复杂指令下的多轮对话评测系统。</a:t>
            </a:r>
          </a:p>
          <a:p xmlns:a="http://schemas.openxmlformats.org/drawingml/2006/main">
            <a:r>
              <a:t>它把复杂任务指令变成可测试、可归责、可回归的模型上线标准。接下来我用六步解释为什么这样设计。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先不要急着讲方案，先把外呼模型真正难在哪里说清楚。</a:t>
            </a:r>
          </a:p>
          <a:p xmlns:a="http://schemas.openxmlformats.org/drawingml/2006/main">
            <a:r>
              <a:t>第一，复杂指令容易漏步骤；第二，隐私和合规存在一票否决；第三，低频高风险场景在历史日志里很难覆盖；第四，人工抽听跟不上通话量和模型迭代；第五，出错以后还可能把责任归错。</a:t>
            </a:r>
          </a:p>
          <a:p xmlns:a="http://schemas.openxmlformats.org/drawingml/2006/main">
            <a:r>
              <a:t>所以答案不是再做一次人工抽检，而是建立一套能够主动测试、统一判断、准确归因并持续回归的自动评测流程。下一页就是这套流程的六步总览。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开场只建立设计主线：六步依次解决不可比、不可执行、测不到、不能决策、错误归责和无法验证修复。</a:t>
            </a:r>
          </a:p>
          <a:p xmlns:a="http://schemas.openxmlformats.org/drawingml/2006/main">
            <a:r>
              <a:t>明确分工：PPT 解释为什么这样设计；Demo 证明真实运行；报告与产物供评委复核。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先讲风险：输入不冻结，模型对比就没有实验意义。</a:t>
            </a:r>
          </a:p>
          <a:p xmlns:a="http://schemas.openxmlformats.org/drawingml/2006/main">
            <a:r>
              <a:t>再讲机制：模拟测试和已有日志先归一成同一种任务包，冻结 SOP、模型、用户批次和哈希，六步只认这一个事实源。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先讲风险：直接把自然语言 SOP 塞给 Judge，每次理解可能不同。</a:t>
            </a:r>
          </a:p>
          <a:p xmlns:a="http://schemas.openxmlformats.org/drawingml/2006/main">
            <a:r>
              <a:t>再讲机制：LLM 只负责理解；确定性代码负责 L0/L1 分层、结构约束、严重度和来源校验，所以它是一份可执行合同。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先讲风险：历史日志只能覆盖已经发生过的情况。</a:t>
            </a:r>
          </a:p>
          <a:p xmlns:a="http://schemas.openxmlformats.org/drawingml/2006/main">
            <a:r>
              <a:t>再讲机制：Persona、对抗目标和固定 seed 主动制造边界，同时保证场景可复现；用户模拟器是官方测试工具，不是被评对象。</a:t>
            </a:r>
          </a:p>
          <a:p xmlns:a="http://schemas.openxmlformats.org/drawingml/2006/main">
            <a:r>
              <a:t>讲完点击“在线跑六步”。若实时通道异常，立即使用已验证结果，不在台上排障。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 PPT 后先讲风险：平均分会掩盖 P0 和关键流程中断。</a:t>
            </a:r>
          </a:p>
          <a:p xmlns:a="http://schemas.openxmlformats.org/drawingml/2006/main">
            <a:r>
              <a:t>再讲机制：门禁、履约和逐项证据分别回答能否上线、任务是否完成、为什么这样判断；第 4 步是核心交付终点。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先讲风险：低分可能来自模型、SOP、Judge 或测试数据。</a:t>
            </a:r>
          </a:p>
          <a:p xmlns:a="http://schemas.openxmlformats.org/drawingml/2006/main">
            <a:r>
              <a:t>再讲机制：把模型表现、SOP 健康、裁判状态和数据覆盖放在同一套确定性规则中互证，先分清责任，再谈优化。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先讲风险：模型和评分尺同时变化，回归变好也无法证明是谁起作用。</a:t>
            </a:r>
          </a:p>
          <a:p xmlns:a="http://schemas.openxmlformats.org/drawingml/2006/main">
            <a:r>
              <a:t>再讲机制：按根因只改责任对象，锁定 SOP、Checklist 和用户批次，返回第 3 步同尺重放。</a:t>
            </a:r>
          </a:p>
          <a:p xmlns:a="http://schemas.openxmlformats.org/drawingml/2006/main">
            <a:r>
              <a:t>收尾：EvalCall 交付的不是另一张排行榜，而是一套可测试、可归责、可回归的上线质量基础设施。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1772b0578a41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d8be1d9be144b7" /><Relationship Type="http://schemas.openxmlformats.org/officeDocument/2006/relationships/slideLayout" Target="/ppt/slideLayouts/slideLayout1.xml" Id="R7a600d5d3fee42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00d5d3fee42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3a78c12f54012" /><Relationship Type="http://schemas.openxmlformats.org/officeDocument/2006/relationships/image" Target="/ppt/media/image.png" Id="Rc1847968d84a4d94" /><Relationship Type="http://schemas.openxmlformats.org/officeDocument/2006/relationships/notesSlide" Target="/ppt/notesSlides/notesSlide1.xml" Id="R3f08cd5a569f4a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d635625724043" /><Relationship Type="http://schemas.openxmlformats.org/officeDocument/2006/relationships/notesSlide" Target="/ppt/notesSlides/notesSlide2.xml" Id="Rb500153f7f324b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b6739518d496a" /><Relationship Type="http://schemas.openxmlformats.org/officeDocument/2006/relationships/hyperlink" Target="https://kaijie0074-art.github.io/evalcall/live.html?access=evalcall-final-20260716-4c9a7e2d8f1b6a03c5d7e9f2b4a6810d" TargetMode="External" Id="Rbf53a11361bc4743" /><Relationship Type="http://schemas.openxmlformats.org/officeDocument/2006/relationships/hyperlink" Target="https://kaijie0074-art.github.io/evalcall/app.html" TargetMode="External" Id="R845140f19b9d4ca1" /><Relationship Type="http://schemas.openxmlformats.org/officeDocument/2006/relationships/notesSlide" Target="/ppt/notesSlides/notesSlide3.xml" Id="R59b6e7cdf19747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fe3937d3a4901" /><Relationship Type="http://schemas.openxmlformats.org/officeDocument/2006/relationships/image" Target="/ppt/media/image2.png" Id="R3b953387b7ae47c5" /><Relationship Type="http://schemas.openxmlformats.org/officeDocument/2006/relationships/hyperlink" Target="https://kaijie0074-art.github.io/evalcall/live.html?access=evalcall-final-20260716-4c9a7e2d8f1b6a03c5d7e9f2b4a6810d" TargetMode="External" Id="R5acbfb3d49854018" /><Relationship Type="http://schemas.openxmlformats.org/officeDocument/2006/relationships/hyperlink" Target="https://kaijie0074-art.github.io/evalcall/app.html" TargetMode="External" Id="R5c01ebd4a1164975" /><Relationship Type="http://schemas.openxmlformats.org/officeDocument/2006/relationships/notesSlide" Target="/ppt/notesSlides/notesSlide4.xml" Id="Raeefe2ad6a5a41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abb140a8e460c" /><Relationship Type="http://schemas.openxmlformats.org/officeDocument/2006/relationships/image" Target="/ppt/media/image3.png" Id="R844c39ffe16f470c" /><Relationship Type="http://schemas.openxmlformats.org/officeDocument/2006/relationships/hyperlink" Target="https://kaijie0074-art.github.io/evalcall/live.html?access=evalcall-final-20260716-4c9a7e2d8f1b6a03c5d7e9f2b4a6810d" TargetMode="External" Id="R201131aa623f4586" /><Relationship Type="http://schemas.openxmlformats.org/officeDocument/2006/relationships/hyperlink" Target="https://kaijie0074-art.github.io/evalcall/app.html" TargetMode="External" Id="R57ae383847554ddd" /><Relationship Type="http://schemas.openxmlformats.org/officeDocument/2006/relationships/notesSlide" Target="/ppt/notesSlides/notesSlide5.xml" Id="R2818cf925f454f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8c41b1ecf405e" /><Relationship Type="http://schemas.openxmlformats.org/officeDocument/2006/relationships/image" Target="/ppt/media/image4.png" Id="R88d04edd735d4892" /><Relationship Type="http://schemas.openxmlformats.org/officeDocument/2006/relationships/hyperlink" Target="https://kaijie0074-art.github.io/evalcall/live.html?access=evalcall-final-20260716-4c9a7e2d8f1b6a03c5d7e9f2b4a6810d" TargetMode="External" Id="R78df1bbb13bc4d62" /><Relationship Type="http://schemas.openxmlformats.org/officeDocument/2006/relationships/hyperlink" Target="https://kaijie0074-art.github.io/evalcall/app.html" TargetMode="External" Id="R6827eebe06d343b3" /><Relationship Type="http://schemas.openxmlformats.org/officeDocument/2006/relationships/notesSlide" Target="/ppt/notesSlides/notesSlide6.xml" Id="R60ada73c779448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47b43c6304cb1" /><Relationship Type="http://schemas.openxmlformats.org/officeDocument/2006/relationships/image" Target="/ppt/media/image5.png" Id="R57ba6046844c48bd" /><Relationship Type="http://schemas.openxmlformats.org/officeDocument/2006/relationships/hyperlink" Target="https://kaijie0074-art.github.io/evalcall/live.html?access=evalcall-final-20260716-4c9a7e2d8f1b6a03c5d7e9f2b4a6810d" TargetMode="External" Id="R36521880b814440a" /><Relationship Type="http://schemas.openxmlformats.org/officeDocument/2006/relationships/hyperlink" Target="https://kaijie0074-art.github.io/evalcall/app.html" TargetMode="External" Id="Re612e82877be42fc" /><Relationship Type="http://schemas.openxmlformats.org/officeDocument/2006/relationships/notesSlide" Target="/ppt/notesSlides/notesSlide7.xml" Id="R3bd426b6f87344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f96f3102f4c34" /><Relationship Type="http://schemas.openxmlformats.org/officeDocument/2006/relationships/image" Target="/ppt/media/image6.png" Id="R119be18d84b84c4f" /><Relationship Type="http://schemas.openxmlformats.org/officeDocument/2006/relationships/hyperlink" Target="https://kaijie0074-art.github.io/evalcall/live.html?access=evalcall-final-20260716-4c9a7e2d8f1b6a03c5d7e9f2b4a6810d" TargetMode="External" Id="Rc8eb0e44c68749f0" /><Relationship Type="http://schemas.openxmlformats.org/officeDocument/2006/relationships/hyperlink" Target="https://kaijie0074-art.github.io/evalcall/app.html" TargetMode="External" Id="R69f15c4e87a3442d" /><Relationship Type="http://schemas.openxmlformats.org/officeDocument/2006/relationships/notesSlide" Target="/ppt/notesSlides/notesSlide8.xml" Id="Rc56babe4466d49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7ca1905cc497b" /><Relationship Type="http://schemas.openxmlformats.org/officeDocument/2006/relationships/image" Target="/ppt/media/image5.png" Id="Rb9ea120134194a5e" /><Relationship Type="http://schemas.openxmlformats.org/officeDocument/2006/relationships/hyperlink" Target="https://kaijie0074-art.github.io/evalcall/live.html?access=evalcall-final-20260716-4c9a7e2d8f1b6a03c5d7e9f2b4a6810d" TargetMode="External" Id="Re39bb87545534533" /><Relationship Type="http://schemas.openxmlformats.org/officeDocument/2006/relationships/hyperlink" Target="https://kaijie0074-art.github.io/evalcall/app.html" TargetMode="External" Id="R82de5b419605499f" /><Relationship Type="http://schemas.openxmlformats.org/officeDocument/2006/relationships/notesSlide" Target="/ppt/notesSlides/notesSlide9.xml" Id="R5b96af88f72245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47968d84a4d9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EFFADB3-C24B-464A-A482-53E431FC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问题定义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65D2154-B96E-43F0-B2E9-7CEAA53D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模型外呼的过程中，到底会遇到什么问题呢？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866D9FB-778F-4E38-BBD2-5560C320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DC85EB-6A27-49A6-A6DB-FF60299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step-n-0">
            <a:extLst xmlns:a="http://schemas.openxmlformats.org/drawingml/2006/main">
              <a:ext uri="{FF2B5EF4-FFF2-40B4-BE49-F238E27FC236}">
                <a16:creationId xmlns:a16="http://schemas.microsoft.com/office/drawing/2014/main" id="{20F518E8-7FC6-4EAD-A44E-6E969E7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859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581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58100"/>
                </a:solidFill>
                <a:latin typeface="PingFang SC"/>
                <a:ea typeface="PingFang SC"/>
                <a:cs typeface="PingFang SC"/>
              </a:rPr>
              <a:t>1.</a:t>
            </a:r>
          </a:p>
        </p:txBody>
      </p:sp>
      <p:sp>
        <p:nvSpPr>
          <p:cNvPr id="8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51765322-5A09-483C-A66A-C4834132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76400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指令太复杂，模型容易漏步骤</a:t>
            </a:r>
          </a:p>
        </p:txBody>
      </p:sp>
      <p:sp>
        <p:nvSpPr>
          <p:cNvPr id="9" name="step-body-0">
            <a:extLst xmlns:a="http://schemas.openxmlformats.org/drawingml/2006/main">
              <a:ext uri="{FF2B5EF4-FFF2-40B4-BE49-F238E27FC236}">
                <a16:creationId xmlns:a16="http://schemas.microsoft.com/office/drawing/2014/main" id="{81D68444-C300-41DA-957D-0CADF61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62150"/>
            <a:ext cx="1062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多流程、多约束、多分支同时存在时，模型可能顺序错误、遗漏要求或未完成任务。</a:t>
            </a:r>
          </a:p>
        </p:txBody>
      </p:sp>
      <p:sp>
        <p:nvSpPr>
          <p:cNvPr id="11" name="step-n-1">
            <a:extLst xmlns:a="http://schemas.openxmlformats.org/drawingml/2006/main">
              <a:ext uri="{FF2B5EF4-FFF2-40B4-BE49-F238E27FC236}">
                <a16:creationId xmlns:a16="http://schemas.microsoft.com/office/drawing/2014/main" id="{9020754C-4655-4B67-93A1-D6945B15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717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2.</a:t>
            </a:r>
          </a:p>
        </p:txBody>
      </p:sp>
      <p:sp>
        <p:nvSpPr>
          <p:cNvPr id="12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2C15ABA-AF5B-4574-A693-1AE5E7C6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隐私与合规存在一票否决红线</a:t>
            </a:r>
          </a:p>
        </p:txBody>
      </p:sp>
      <p:sp>
        <p:nvSpPr>
          <p:cNvPr id="13" name="step-body-1">
            <a:extLst xmlns:a="http://schemas.openxmlformats.org/drawingml/2006/main">
              <a:ext uri="{FF2B5EF4-FFF2-40B4-BE49-F238E27FC236}">
                <a16:creationId xmlns:a16="http://schemas.microsoft.com/office/drawing/2014/main" id="{CC81D6D1-3A42-4375-A2DB-05B84F35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062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一次敏感信息泄露、违规承诺或身份处理错误，就可能让整个模型版本不能上线。</a:t>
            </a:r>
          </a:p>
        </p:txBody>
      </p:sp>
      <p:sp>
        <p:nvSpPr>
          <p:cNvPr id="15" name="step-n-2">
            <a:extLst xmlns:a="http://schemas.openxmlformats.org/drawingml/2006/main">
              <a:ext uri="{FF2B5EF4-FFF2-40B4-BE49-F238E27FC236}">
                <a16:creationId xmlns:a16="http://schemas.microsoft.com/office/drawing/2014/main" id="{BE7D4578-4A77-4ECD-A191-6C6D728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575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3.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B5412980-B5B8-41C5-BBC7-CC881B8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48000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特定场景样本太少，风险测不到</a:t>
            </a:r>
          </a:p>
        </p:txBody>
      </p:sp>
      <p:sp>
        <p:nvSpPr>
          <p:cNvPr id="17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472E68F-8D8B-4A37-AF40-5384BD0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1062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拒绝、打断、质疑、反复追问等场景数量少但风险高，历史日志很难充分覆盖。</a:t>
            </a:r>
          </a:p>
        </p:txBody>
      </p:sp>
      <p:sp>
        <p:nvSpPr>
          <p:cNvPr id="19" name="step-n-3">
            <a:extLst xmlns:a="http://schemas.openxmlformats.org/drawingml/2006/main">
              <a:ext uri="{FF2B5EF4-FFF2-40B4-BE49-F238E27FC236}">
                <a16:creationId xmlns:a16="http://schemas.microsoft.com/office/drawing/2014/main" id="{F52B6353-AD90-4D20-ADD2-6BAE145C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4.</a:t>
            </a:r>
          </a:p>
        </p:txBody>
      </p:sp>
      <p:sp>
        <p:nvSpPr>
          <p:cNvPr id="20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D97F5F26-12C6-452C-A2DF-1949CF7A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人工质检成本高，无法规模化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A8E3E6EE-C136-46CD-9B40-5D5E42AF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19550"/>
            <a:ext cx="1062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人工抽听速度慢、标准不统一，无法覆盖大量通话，也跟不上模型快速迭代。</a:t>
            </a:r>
          </a:p>
        </p:txBody>
      </p:sp>
      <p:sp>
        <p:nvSpPr>
          <p:cNvPr id="22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85B92780-0A54-4176-AE54-80AED4C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95900"/>
            <a:ext cx="1112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那该怎么解决呢？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E648FF3C-1484-417E-9F5E-498A0B75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581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58100"/>
                </a:solidFill>
                <a:latin typeface="PingFang SC"/>
                <a:ea typeface="PingFang SC"/>
                <a:cs typeface="PingFang SC"/>
              </a:rPr>
              <a:t>答案是：建立一套能够主动测试、统一判断、准确归因并持续回归的自动评测流程。</a:t>
            </a:r>
          </a:p>
        </p:txBody>
      </p:sp>
      <p:sp>
        <p:nvSpPr>
          <p:cNvPr id="30" name="step-n-6">
            <a:extLst xmlns:a="http://schemas.openxmlformats.org/drawingml/2006/main">
              <a:ext uri="{FF2B5EF4-FFF2-40B4-BE49-F238E27FC236}">
                <a16:creationId xmlns:a16="http://schemas.microsoft.com/office/drawing/2014/main" id="{0AF895B3-0C7D-4F4A-AD53-77115BE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291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5.</a:t>
            </a:r>
          </a:p>
        </p:txBody>
      </p:sp>
      <p:sp>
        <p:nvSpPr>
          <p:cNvPr id="31" name="step-title-6">
            <a:extLst xmlns:a="http://schemas.openxmlformats.org/drawingml/2006/main">
              <a:ext uri="{FF2B5EF4-FFF2-40B4-BE49-F238E27FC236}">
                <a16:creationId xmlns:a16="http://schemas.microsoft.com/office/drawing/2014/main" id="{52A093D1-21A9-4D21-AA78-5E4C7BF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19600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出错后无法正确归因</a:t>
            </a:r>
          </a:p>
        </p:txBody>
      </p:sp>
      <p:sp>
        <p:nvSpPr>
          <p:cNvPr id="32" name="step-body-6">
            <a:extLst xmlns:a="http://schemas.openxmlformats.org/drawingml/2006/main">
              <a:ext uri="{FF2B5EF4-FFF2-40B4-BE49-F238E27FC236}">
                <a16:creationId xmlns:a16="http://schemas.microsoft.com/office/drawing/2014/main" id="{230A79F8-88BC-4067-BD59-AED39F7B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05350"/>
            <a:ext cx="1062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低分可能来自模型、SOP、裁判或测试数据；归因错误，就会修改错误的对象。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EFFADB3-C24B-464A-A482-53E431FC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外呼模型上线前的自动化指令遵循评测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65D2154-B96E-43F0-B2E9-7CEAA53D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让外呼模型在上线前，先失败十次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7866D9FB-778F-4E38-BBD2-5560C320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DC85EB-6A27-49A6-A6DB-FF60299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flow-line">
            <a:extLst xmlns:a="http://schemas.openxmlformats.org/drawingml/2006/main">
              <a:ext uri="{FF2B5EF4-FFF2-40B4-BE49-F238E27FC236}">
                <a16:creationId xmlns:a16="http://schemas.microsoft.com/office/drawing/2014/main" id="{A7B0684F-3DE1-469F-B089-30FA9B4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2887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D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ep-dot-0">
            <a:extLst xmlns:a="http://schemas.openxmlformats.org/drawingml/2006/main">
              <a:ext uri="{FF2B5EF4-FFF2-40B4-BE49-F238E27FC236}">
                <a16:creationId xmlns:a16="http://schemas.microsoft.com/office/drawing/2014/main" id="{3727BDF2-CC2A-4F3C-AA91-4F0E6BFD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ep-n-0">
            <a:extLst xmlns:a="http://schemas.openxmlformats.org/drawingml/2006/main">
              <a:ext uri="{FF2B5EF4-FFF2-40B4-BE49-F238E27FC236}">
                <a16:creationId xmlns:a16="http://schemas.microsoft.com/office/drawing/2014/main" id="{20F518E8-7FC6-4EAD-A44E-6E969E7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51765322-5A09-483C-A66A-C4834132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冻结测试任务</a:t>
            </a:r>
          </a:p>
        </p:txBody>
      </p:sp>
      <p:sp>
        <p:nvSpPr>
          <p:cNvPr id="9" name="step-body-0">
            <a:extLst xmlns:a="http://schemas.openxmlformats.org/drawingml/2006/main">
              <a:ext uri="{FF2B5EF4-FFF2-40B4-BE49-F238E27FC236}">
                <a16:creationId xmlns:a16="http://schemas.microsoft.com/office/drawing/2014/main" id="{81D68444-C300-41DA-957D-0CADF61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模型 / 输入 / SOP / hash</a:t>
            </a:r>
          </a:p>
        </p:txBody>
      </p:sp>
      <p:sp>
        <p:nvSpPr>
          <p:cNvPr id="10" name="step-dot-1">
            <a:extLst xmlns:a="http://schemas.openxmlformats.org/drawingml/2006/main">
              <a:ext uri="{FF2B5EF4-FFF2-40B4-BE49-F238E27FC236}">
                <a16:creationId xmlns:a16="http://schemas.microsoft.com/office/drawing/2014/main" id="{C1DF2A64-EBDD-4012-8140-CB091C1F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ep-n-1">
            <a:extLst xmlns:a="http://schemas.openxmlformats.org/drawingml/2006/main">
              <a:ext uri="{FF2B5EF4-FFF2-40B4-BE49-F238E27FC236}">
                <a16:creationId xmlns:a16="http://schemas.microsoft.com/office/drawing/2014/main" id="{9020754C-4655-4B67-93A1-D6945B15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42C15ABA-AF5B-4574-A693-1AE5E7C6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编译评分合同</a:t>
            </a:r>
          </a:p>
        </p:txBody>
      </p:sp>
      <p:sp>
        <p:nvSpPr>
          <p:cNvPr id="13" name="step-body-1">
            <a:extLst xmlns:a="http://schemas.openxmlformats.org/drawingml/2006/main">
              <a:ext uri="{FF2B5EF4-FFF2-40B4-BE49-F238E27FC236}">
                <a16:creationId xmlns:a16="http://schemas.microsoft.com/office/drawing/2014/main" id="{CC81D6D1-3A42-4375-A2DB-05B84F35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L0 安全 + L1 业务</a:t>
            </a:r>
          </a:p>
        </p:txBody>
      </p:sp>
      <p:sp>
        <p:nvSpPr>
          <p:cNvPr id="14" name="step-dot-2">
            <a:extLst xmlns:a="http://schemas.openxmlformats.org/drawingml/2006/main">
              <a:ext uri="{FF2B5EF4-FFF2-40B4-BE49-F238E27FC236}">
                <a16:creationId xmlns:a16="http://schemas.microsoft.com/office/drawing/2014/main" id="{8B21AB0A-0540-4BED-B85C-74B3C3C5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3360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ep-n-2">
            <a:extLst xmlns:a="http://schemas.openxmlformats.org/drawingml/2006/main">
              <a:ext uri="{FF2B5EF4-FFF2-40B4-BE49-F238E27FC236}">
                <a16:creationId xmlns:a16="http://schemas.microsoft.com/office/drawing/2014/main" id="{BE7D4578-4A77-4ECD-A191-6C6D728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907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B5412980-B5B8-41C5-BBC7-CC881B8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主动测试模型</a:t>
            </a:r>
          </a:p>
        </p:txBody>
      </p:sp>
      <p:sp>
        <p:nvSpPr>
          <p:cNvPr id="17" name="step-body-2">
            <a:extLst xmlns:a="http://schemas.openxmlformats.org/drawingml/2006/main">
              <a:ext uri="{FF2B5EF4-FFF2-40B4-BE49-F238E27FC236}">
                <a16:creationId xmlns:a16="http://schemas.microsoft.com/office/drawing/2014/main" id="{0472E68F-8D8B-4A37-AF40-5384BD0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Persona × 对抗分支</a:t>
            </a:r>
          </a:p>
        </p:txBody>
      </p:sp>
      <p:sp>
        <p:nvSpPr>
          <p:cNvPr id="18" name="step-dot-3">
            <a:extLst xmlns:a="http://schemas.openxmlformats.org/drawingml/2006/main">
              <a:ext uri="{FF2B5EF4-FFF2-40B4-BE49-F238E27FC236}">
                <a16:creationId xmlns:a16="http://schemas.microsoft.com/office/drawing/2014/main" id="{4F4ED39A-5F4D-4827-A0E0-05B192C4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095750"/>
            <a:ext cx="628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1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ep-n-3">
            <a:extLst xmlns:a="http://schemas.openxmlformats.org/drawingml/2006/main">
              <a:ext uri="{FF2B5EF4-FFF2-40B4-BE49-F238E27FC236}">
                <a16:creationId xmlns:a16="http://schemas.microsoft.com/office/drawing/2014/main" id="{F52B6353-AD90-4D20-ADD2-6BAE145C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D97F5F26-12C6-452C-A2DF-1949CF7A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决定是否上线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A8E3E6EE-C136-46CD-9B40-5D5E42AF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门禁 / 履约 / P0 / 证据</a:t>
            </a:r>
          </a:p>
        </p:txBody>
      </p:sp>
      <p:sp>
        <p:nvSpPr>
          <p:cNvPr id="22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85B92780-0A54-4176-AE54-80AED4C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跑完六步，精确回答三个问题：能不能上线？失败在哪里？到底该改谁？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E648FF3C-1484-417E-9F5E-498A0B75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PPT 解释为什么这样设计 · Demo 证明真实运行 · 报告与产物负责结果复核</a:t>
            </a:r>
          </a:p>
        </p:txBody>
      </p:sp>
      <p:sp>
        <p:nvSpPr>
          <p:cNvPr id="24" name="flow-line-row-2">
            <a:extLst xmlns:a="http://schemas.openxmlformats.org/drawingml/2006/main">
              <a:ext uri="{FF2B5EF4-FFF2-40B4-BE49-F238E27FC236}">
                <a16:creationId xmlns:a16="http://schemas.microsoft.com/office/drawing/2014/main" id="{9FF7EABC-BEE2-4BDE-96F0-2075FF5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91025"/>
            <a:ext cx="7600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tep-dot-5">
            <a:extLst xmlns:a="http://schemas.openxmlformats.org/drawingml/2006/main">
              <a:ext uri="{FF2B5EF4-FFF2-40B4-BE49-F238E27FC236}">
                <a16:creationId xmlns:a16="http://schemas.microsoft.com/office/drawing/2014/main" id="{F9E6E76D-3B64-4136-83D1-EDAB2A48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6" name="step-n-5">
            <a:extLst xmlns:a="http://schemas.openxmlformats.org/drawingml/2006/main">
              <a:ext uri="{FF2B5EF4-FFF2-40B4-BE49-F238E27FC236}">
                <a16:creationId xmlns:a16="http://schemas.microsoft.com/office/drawing/2014/main" id="{A480B850-43FF-4E9C-8036-9539608A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4879BEE7-933F-434D-9BC8-9F5EF41E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分离真实根因</a:t>
            </a:r>
          </a:p>
        </p:txBody>
      </p:sp>
      <p:sp>
        <p:nvSpPr>
          <p:cNvPr id="28" name="step-body-5">
            <a:extLst xmlns:a="http://schemas.openxmlformats.org/drawingml/2006/main">
              <a:ext uri="{FF2B5EF4-FFF2-40B4-BE49-F238E27FC236}">
                <a16:creationId xmlns:a16="http://schemas.microsoft.com/office/drawing/2014/main" id="{6A2887F8-74C4-4104-8D6A-242A585D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模型 / SOP / 裁判 / 数据</a:t>
            </a:r>
          </a:p>
        </p:txBody>
      </p:sp>
      <p:sp>
        <p:nvSpPr>
          <p:cNvPr id="29" name="step-dot-6">
            <a:extLst xmlns:a="http://schemas.openxmlformats.org/drawingml/2006/main">
              <a:ext uri="{FF2B5EF4-FFF2-40B4-BE49-F238E27FC236}">
                <a16:creationId xmlns:a16="http://schemas.microsoft.com/office/drawing/2014/main" id="{23E73DBE-3366-4643-901F-4A27567D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0957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9525">
            <a:solidFill>
              <a:srgbClr val="FFCC00"/>
            </a:solidFill>
            <a:prstDash val="solid"/>
          </a:ln>
        </p:spPr>
      </p:sp>
      <p:sp>
        <p:nvSpPr>
          <p:cNvPr id="30" name="step-n-6">
            <a:extLst xmlns:a="http://schemas.openxmlformats.org/drawingml/2006/main">
              <a:ext uri="{FF2B5EF4-FFF2-40B4-BE49-F238E27FC236}">
                <a16:creationId xmlns:a16="http://schemas.microsoft.com/office/drawing/2014/main" id="{0AF895B3-0C7D-4F4A-AD53-77115BEB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1529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6</a:t>
            </a:r>
          </a:p>
        </p:txBody>
      </p:sp>
      <p:sp>
        <p:nvSpPr>
          <p:cNvPr id="31" name="step-title-6">
            <a:extLst xmlns:a="http://schemas.openxmlformats.org/drawingml/2006/main">
              <a:ext uri="{FF2B5EF4-FFF2-40B4-BE49-F238E27FC236}">
                <a16:creationId xmlns:a16="http://schemas.microsoft.com/office/drawing/2014/main" id="{52A093D1-21A9-4D21-AA78-5E4C7BFE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577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同尺回归闭环</a:t>
            </a:r>
          </a:p>
        </p:txBody>
      </p:sp>
      <p:sp>
        <p:nvSpPr>
          <p:cNvPr id="32" name="step-body-6">
            <a:extLst xmlns:a="http://schemas.openxmlformats.org/drawingml/2006/main">
              <a:ext uri="{FF2B5EF4-FFF2-40B4-BE49-F238E27FC236}">
                <a16:creationId xmlns:a16="http://schemas.microsoft.com/office/drawing/2014/main" id="{230A79F8-88BC-4067-BD59-AED39F7B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768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只改责任对象，再测一次</a:t>
            </a:r>
          </a:p>
        </p:txBody>
      </p:sp>
      <p:sp>
        <p:nvSpPr>
          <p:cNvPr id="33" name="live-demo-link-1">
            <a:extLst xmlns:a="http://schemas.openxmlformats.org/drawingml/2006/main">
              <a:ext uri="{FF2B5EF4-FFF2-40B4-BE49-F238E27FC236}">
                <a16:creationId xmlns:a16="http://schemas.microsoft.com/office/drawing/2014/main" id="{40AEA778-D098-42AA-9C4B-6F7D4059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bf53a11361bc4743"/>
              </a:rPr>
              <a:t>▶ 在线 Demo</a:t>
            </a:r>
          </a:p>
        </p:txBody>
      </p:sp>
      <p:sp>
        <p:nvSpPr>
          <p:cNvPr id="34" name="public-demo-link-1">
            <a:extLst xmlns:a="http://schemas.openxmlformats.org/drawingml/2006/main">
              <a:ext uri="{FF2B5EF4-FFF2-40B4-BE49-F238E27FC236}">
                <a16:creationId xmlns:a16="http://schemas.microsoft.com/office/drawing/2014/main" id="{00C861CC-9BCF-4D46-AB6E-57BFA80C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845140f19b9d4ca1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01 · 冻结测试任务｜先把评测变成一次可复现的实验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先冻结变量，再评价模型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7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不做这一步：用户、SOP 或模型版本一变，任何好坏对比都失去意义。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双轨输入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模拟 / 日志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版本冻结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SOP·模型·用户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同批贯穿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六步共用任务包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demo_server.py + provenance.py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task = freeze(sop, model, users, batch)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manifest = hash_every_input(task)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精妙：双入口先归一，后续六步不再偷换输入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设计闭环：双轨输入 → 统一任务包 → 哈希冻结；整个评测只认一个版本事实源。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53387b7ae47c5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2">
            <a:extLst xmlns:a="http://schemas.openxmlformats.org/drawingml/2006/main">
              <a:ext uri="{FF2B5EF4-FFF2-40B4-BE49-F238E27FC236}">
                <a16:creationId xmlns:a16="http://schemas.microsoft.com/office/drawing/2014/main" id="{756737C3-9C64-4C8A-AD93-12198F63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5acbfb3d49854018"/>
              </a:rPr>
              <a:t>▶ 在线 Demo</a:t>
            </a:r>
          </a:p>
        </p:txBody>
      </p:sp>
      <p:sp>
        <p:nvSpPr>
          <p:cNvPr id="21" name="public-demo-link-2">
            <a:extLst xmlns:a="http://schemas.openxmlformats.org/drawingml/2006/main">
              <a:ext uri="{FF2B5EF4-FFF2-40B4-BE49-F238E27FC236}">
                <a16:creationId xmlns:a16="http://schemas.microsoft.com/office/drawing/2014/main" id="{CD853EDC-9D98-4FD5-A535-FCA37C30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5c01ebd4a1164975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02 · 建立评分标准｜评分标准不是提示词，而是可执行合同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LLM 理解规则，代码守住边界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4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不做这一步：自然语言有歧义，Judge 每次都可能理解成不同标准。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L0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通用安全红线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任务业务规则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溯源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原文·严重度·条件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compiler.py / compile_task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L0 = safety_policy(); L1 = compile(sop)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checkpoint = verify(source, severity, condition)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精妙：生成能力与可审计约束解耦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设计闭环：SOP → 原子检查点 → 来源校验 → Checklist hash；评分标准由提示词变成合同。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4c39ffe16f470c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3">
            <a:extLst xmlns:a="http://schemas.openxmlformats.org/drawingml/2006/main">
              <a:ext uri="{FF2B5EF4-FFF2-40B4-BE49-F238E27FC236}">
                <a16:creationId xmlns:a16="http://schemas.microsoft.com/office/drawing/2014/main" id="{3D4617B6-4996-4E84-AA48-B191C1E9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201131aa623f4586"/>
              </a:rPr>
              <a:t>▶ 在线 Demo</a:t>
            </a:r>
          </a:p>
        </p:txBody>
      </p:sp>
      <p:sp>
        <p:nvSpPr>
          <p:cNvPr id="21" name="public-demo-link-3">
            <a:extLst xmlns:a="http://schemas.openxmlformats.org/drawingml/2006/main">
              <a:ext uri="{FF2B5EF4-FFF2-40B4-BE49-F238E27FC236}">
                <a16:creationId xmlns:a16="http://schemas.microsoft.com/office/drawing/2014/main" id="{02F4CC26-4408-4620-95DF-C345C0C5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57ae383847554ddd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03 · 测试外呼模型｜用户模拟器主动制造真实边界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不是等线上出事，而是上线前主动撞边界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不做这一步：历史日志只覆盖已发生情况，危险分支可能漏掉。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Persona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用户行为边界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对抗目标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主动撞脆弱点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9133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固定 Seed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同场景可复现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simulator.py + arena.py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test = persona × adversarial_target × seed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transcript = run(target_model, test)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精妙：主动覆盖边界，同时保持场景可复现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设计闭环：Persona × 对抗目标 × 固定 seed → 测试对话；两种入口共用后半条评测链。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04edd735d4892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4">
            <a:extLst xmlns:a="http://schemas.openxmlformats.org/drawingml/2006/main">
              <a:ext uri="{FF2B5EF4-FFF2-40B4-BE49-F238E27FC236}">
                <a16:creationId xmlns:a16="http://schemas.microsoft.com/office/drawing/2014/main" id="{AF2CDF5B-3B98-43BB-A50C-8C60C460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78df1bbb13bc4d62"/>
              </a:rPr>
              <a:t>▶ 在线跑六步</a:t>
            </a:r>
          </a:p>
        </p:txBody>
      </p:sp>
      <p:sp>
        <p:nvSpPr>
          <p:cNvPr id="21" name="public-demo-link-4">
            <a:extLst xmlns:a="http://schemas.openxmlformats.org/drawingml/2006/main">
              <a:ext uri="{FF2B5EF4-FFF2-40B4-BE49-F238E27FC236}">
                <a16:creationId xmlns:a16="http://schemas.microsoft.com/office/drawing/2014/main" id="{1F7E4DBE-0D2D-439C-84E3-670AF506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6827eebe06d343b3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04 · 输出评测报告｜报告的职责不是打分，而是做上线决策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平均分回答表现，门禁回答能不能上线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不做这一步：高平均分可能掩盖隐私泄露、P0 和关键流程中断。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门禁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P0 一票否决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履约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任务是否完成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证据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逐项引用原话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scoring.py + report.py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gate = FAIL if P0 or critical_flow_failed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report = decision + evidence + blind_spots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精妙：先做发布决策，再解释为什么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设计闭环：P0 / 关键流程 / 履约 → 上线门禁；证据、盲区和复核队列回答“为什么”。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a6046844c48bd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5">
            <a:extLst xmlns:a="http://schemas.openxmlformats.org/drawingml/2006/main">
              <a:ext uri="{FF2B5EF4-FFF2-40B4-BE49-F238E27FC236}">
                <a16:creationId xmlns:a16="http://schemas.microsoft.com/office/drawing/2014/main" id="{61C59CF2-0FFC-4D26-9350-735655E5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36521880b814440a"/>
              </a:rPr>
              <a:t>▶ 在线 Demo</a:t>
            </a:r>
          </a:p>
        </p:txBody>
      </p:sp>
      <p:sp>
        <p:nvSpPr>
          <p:cNvPr id="21" name="public-demo-link-5">
            <a:extLst xmlns:a="http://schemas.openxmlformats.org/drawingml/2006/main">
              <a:ext uri="{FF2B5EF4-FFF2-40B4-BE49-F238E27FC236}">
                <a16:creationId xmlns:a16="http://schemas.microsoft.com/office/drawing/2014/main" id="{80808561-F100-49D4-BBA2-AE4D1C10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e612e82877be42fc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05 · 分析失败原因｜先分清责任，再决定优化谁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先分清责任，再决定改谁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2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不做这一步：SOP、Judge 或覆盖问题，都会被误判成模型能力差。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能力与策略问题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SOP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指令可执行性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裁判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Judge / 测试数据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attribution.py / analyze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signals = block + P0 + fulfillment + severity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root = compare(model, instruction, judge, data)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精妙：多信号互证，拒绝单一失败率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设计闭环：模型表现 × SOP 健康 × Judge 状态 × 数据覆盖 → 可解释根因，而不是默认怪模型。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be18d84b84c4f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6">
            <a:extLst xmlns:a="http://schemas.openxmlformats.org/drawingml/2006/main">
              <a:ext uri="{FF2B5EF4-FFF2-40B4-BE49-F238E27FC236}">
                <a16:creationId xmlns:a16="http://schemas.microsoft.com/office/drawing/2014/main" id="{5C046E7E-4FC9-4E41-9599-2D40A78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c8eb0e44c68749f0"/>
              </a:rPr>
              <a:t>▶ 在线 Demo</a:t>
            </a:r>
          </a:p>
        </p:txBody>
      </p:sp>
      <p:sp>
        <p:nvSpPr>
          <p:cNvPr id="21" name="public-demo-link-6">
            <a:extLst xmlns:a="http://schemas.openxmlformats.org/drawingml/2006/main">
              <a:ext uri="{FF2B5EF4-FFF2-40B4-BE49-F238E27FC236}">
                <a16:creationId xmlns:a16="http://schemas.microsoft.com/office/drawing/2014/main" id="{8B3A7256-100C-4B4A-9085-9FC1E248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69f15c4e87a3442d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06 · 优化与回归｜只改责任对象，用同一把尺重新证明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5" name="decision">
            <a:extLst xmlns:a="http://schemas.openxmlformats.org/drawingml/2006/main">
              <a:ext uri="{FF2B5EF4-FFF2-40B4-BE49-F238E27FC236}">
                <a16:creationId xmlns:a16="http://schemas.microsoft.com/office/drawing/2014/main" id="{B0CE3BC9-D8B1-4041-B5E5-CD8D93B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只改责任对象，评分尺不变</a:t>
            </a:r>
          </a:p>
        </p:txBody>
      </p:sp>
      <p:sp>
        <p:nvSpPr>
          <p:cNvPr id="6" name="decision-sub">
            <a:extLst xmlns:a="http://schemas.openxmlformats.org/drawingml/2006/main">
              <a:ext uri="{FF2B5EF4-FFF2-40B4-BE49-F238E27FC236}">
                <a16:creationId xmlns:a16="http://schemas.microsoft.com/office/drawing/2014/main" id="{C81463E1-CB7C-4B7A-8684-3880325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不做这一步：模型和评分尺同时变化，无法证明谁起作用。</a:t>
            </a:r>
          </a:p>
        </p:txBody>
      </p:sp>
      <p:sp>
        <p:nvSpPr>
          <p:cNvPr id="7" name="stat-0">
            <a:extLst xmlns:a="http://schemas.openxmlformats.org/drawingml/2006/main">
              <a:ext uri="{FF2B5EF4-FFF2-40B4-BE49-F238E27FC236}">
                <a16:creationId xmlns:a16="http://schemas.microsoft.com/office/drawing/2014/main" id="{A64EB69F-1AD3-45AE-93F6-D916A936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只改对象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261F069-84D1-4836-A1CB-0A3A5D5C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按根因路由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C2588DEE-1FC2-4818-B044-00FEF0E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锁定尺子</a:t>
            </a:r>
          </a:p>
        </p:txBody>
      </p:sp>
      <p:sp>
        <p:nvSpPr>
          <p:cNvPr id="10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2DA5F17-C3CD-4B4D-96F7-5057D545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SOP·Checklist</a:t>
            </a:r>
          </a:p>
        </p:txBody>
      </p:sp>
      <p:sp>
        <p:nvSpPr>
          <p:cNvPr id="11" name="stat-2">
            <a:extLst xmlns:a="http://schemas.openxmlformats.org/drawingml/2006/main">
              <a:ext uri="{FF2B5EF4-FFF2-40B4-BE49-F238E27FC236}">
                <a16:creationId xmlns:a16="http://schemas.microsoft.com/office/drawing/2014/main" id="{A2568244-186A-4F43-AECE-BB8E99D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8140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Step 3</a:t>
            </a:r>
          </a:p>
        </p:txBody>
      </p:sp>
      <p:sp>
        <p:nvSpPr>
          <p:cNvPr id="12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6EB030E-F492-46E3-8C5B-6A223CBE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8625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同批用户重放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repair.py + diff.py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repair(root_cause); lock(SOP_HASH, CHECK_HASH)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return step_3(same_users, new_target)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精妙：变化只发生在责任对象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771875FB-1E0E-4D7E-850B-F8DA480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22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设计闭环：根因路由 → 单变量修复 → 同尺回归 → 原生 diff；形成可证伪的优化闭环。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a120134194a5e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7">
            <a:extLst xmlns:a="http://schemas.openxmlformats.org/drawingml/2006/main">
              <a:ext uri="{FF2B5EF4-FFF2-40B4-BE49-F238E27FC236}">
                <a16:creationId xmlns:a16="http://schemas.microsoft.com/office/drawing/2014/main" id="{A146C632-4B71-4814-BD5D-B2693336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e39bb87545534533"/>
              </a:rPr>
              <a:t>▶ 在线 Demo</a:t>
            </a:r>
          </a:p>
        </p:txBody>
      </p:sp>
      <p:sp>
        <p:nvSpPr>
          <p:cNvPr id="21" name="public-demo-link-7">
            <a:extLst xmlns:a="http://schemas.openxmlformats.org/drawingml/2006/main">
              <a:ext uri="{FF2B5EF4-FFF2-40B4-BE49-F238E27FC236}">
                <a16:creationId xmlns:a16="http://schemas.microsoft.com/office/drawing/2014/main" id="{705C770E-3844-4808-B563-406B189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82de5b419605499f"/>
              </a:rPr>
              <a:t>结果备份 ↗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2026-07-14T19:28:40.8240000Z</dcterms:created>
  <dcterms:modified xsi:type="dcterms:W3CDTF">2026-07-14T19:28:40.8240000Z</dcterms:modified>
</coreProperties>
</file>