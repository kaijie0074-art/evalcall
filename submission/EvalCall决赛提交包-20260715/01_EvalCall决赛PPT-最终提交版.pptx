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b948ddd5ab430d" /><Relationship Type="http://schemas.openxmlformats.org/officeDocument/2006/relationships/extended-properties" Target="/docProps/app.xml" Id="R715b6c28af2a4752" /><Relationship Type="http://schemas.openxmlformats.org/officeDocument/2006/relationships/officeDocument" Target="/ppt/presentation.xml" Id="R40c1806983494e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9f91867e2b4350"/>
  </p:sldMasterIdLst>
  <p:notesMasterIdLst>
    <p:notesMasterId xmlns:r="http://schemas.openxmlformats.org/officeDocument/2006/relationships" r:id="Ra05e5ddf8fc148e1"/>
  </p:notesMasterIdLst>
  <p:sldIdLst>
    <p:sldId xmlns:r="http://schemas.openxmlformats.org/officeDocument/2006/relationships" id="256" r:id="R3ec07cfae2b84cfe"/>
    <p:sldId xmlns:r="http://schemas.openxmlformats.org/officeDocument/2006/relationships" id="257" r:id="Rfdd8f2a0fe4f4a10"/>
    <p:sldId xmlns:r="http://schemas.openxmlformats.org/officeDocument/2006/relationships" id="258" r:id="Rf4bd7e9e826e4513"/>
    <p:sldId xmlns:r="http://schemas.openxmlformats.org/officeDocument/2006/relationships" id="259" r:id="R4b1c180705564481"/>
    <p:sldId xmlns:r="http://schemas.openxmlformats.org/officeDocument/2006/relationships" id="260" r:id="R56d139750c214727"/>
    <p:sldId xmlns:r="http://schemas.openxmlformats.org/officeDocument/2006/relationships" id="261" r:id="Rc67adf09bcd34757"/>
    <p:sldId xmlns:r="http://schemas.openxmlformats.org/officeDocument/2006/relationships" id="262" r:id="R7d5c7607607a448c"/>
    <p:sldId xmlns:r="http://schemas.openxmlformats.org/officeDocument/2006/relationships" id="263" r:id="Rccdd674f480040c6"/>
    <p:sldId xmlns:r="http://schemas.openxmlformats.org/officeDocument/2006/relationships" id="264" r:id="R39ce073740c04d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04863169524538" /><Relationship Type="http://schemas.openxmlformats.org/officeDocument/2006/relationships/slideMaster" Target="/ppt/slideMasters/slideMaster1.xml" Id="Rfe9f91867e2b4350" /><Relationship Type="http://schemas.openxmlformats.org/officeDocument/2006/relationships/notesMaster" Target="/ppt/notesMasters/notesMaster1.xml" Id="Ra05e5ddf8fc148e1" /><Relationship Type="http://schemas.openxmlformats.org/officeDocument/2006/relationships/presProps" Target="/ppt/presProps.xml" Id="R27d1919a89bb4938" /><Relationship Type="http://schemas.openxmlformats.org/officeDocument/2006/relationships/tableStyles" Target="/ppt/tableStyles.xml" Id="R5852c4777a104e9d" /><Relationship Type="http://schemas.openxmlformats.org/officeDocument/2006/relationships/slide" Target="/ppt/slides/slide1.xml" Id="R3ec07cfae2b84cfe" /><Relationship Type="http://schemas.openxmlformats.org/officeDocument/2006/relationships/slide" Target="/ppt/slides/slide2.xml" Id="Rfdd8f2a0fe4f4a10" /><Relationship Type="http://schemas.openxmlformats.org/officeDocument/2006/relationships/slide" Target="/ppt/slides/slide3.xml" Id="Rf4bd7e9e826e4513" /><Relationship Type="http://schemas.openxmlformats.org/officeDocument/2006/relationships/slide" Target="/ppt/slides/slide4.xml" Id="R4b1c180705564481" /><Relationship Type="http://schemas.openxmlformats.org/officeDocument/2006/relationships/slide" Target="/ppt/slides/slide5.xml" Id="R56d139750c214727" /><Relationship Type="http://schemas.openxmlformats.org/officeDocument/2006/relationships/slide" Target="/ppt/slides/slide6.xml" Id="Rc67adf09bcd34757" /><Relationship Type="http://schemas.openxmlformats.org/officeDocument/2006/relationships/slide" Target="/ppt/slides/slide7.xml" Id="R7d5c7607607a448c" /><Relationship Type="http://schemas.openxmlformats.org/officeDocument/2006/relationships/slide" Target="/ppt/slides/slide8.xml" Id="Rccdd674f480040c6" /><Relationship Type="http://schemas.openxmlformats.org/officeDocument/2006/relationships/slide" Target="/ppt/slides/slide9.xml" Id="R39ce073740c04d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29301bf4034b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55dbc71a084e2e" /><Relationship Type="http://schemas.openxmlformats.org/officeDocument/2006/relationships/notesMaster" Target="/ppt/notesMasters/notesMaster1.xml" Id="Rfbe85118321943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056367cb654190" /><Relationship Type="http://schemas.openxmlformats.org/officeDocument/2006/relationships/notesMaster" Target="/ppt/notesMasters/notesMaster1.xml" Id="R42d80ccf311d46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9c4d35d5d44a16" /><Relationship Type="http://schemas.openxmlformats.org/officeDocument/2006/relationships/notesMaster" Target="/ppt/notesMasters/notesMaster1.xml" Id="R1b0b115ebbee4c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bba49550384fec" /><Relationship Type="http://schemas.openxmlformats.org/officeDocument/2006/relationships/notesMaster" Target="/ppt/notesMasters/notesMaster1.xml" Id="R6c7ecdc7aa7f4c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f98556cfbe4bea" /><Relationship Type="http://schemas.openxmlformats.org/officeDocument/2006/relationships/notesMaster" Target="/ppt/notesMasters/notesMaster1.xml" Id="Rb661d949b23e48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5a35e65a7940fb" /><Relationship Type="http://schemas.openxmlformats.org/officeDocument/2006/relationships/notesMaster" Target="/ppt/notesMasters/notesMaster1.xml" Id="Rcee32295224146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18af07ddc6472c" /><Relationship Type="http://schemas.openxmlformats.org/officeDocument/2006/relationships/notesMaster" Target="/ppt/notesMasters/notesMaster1.xml" Id="R3d2990e4cb454f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273d7da9274676" /><Relationship Type="http://schemas.openxmlformats.org/officeDocument/2006/relationships/notesMaster" Target="/ppt/notesMasters/notesMaster1.xml" Id="R0c8ce0e406664c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95edb762a24462" /><Relationship Type="http://schemas.openxmlformats.org/officeDocument/2006/relationships/notesMaster" Target="/ppt/notesMasters/notesMaster1.xml" Id="R950d906bb85e40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我是杨凯杰，团队名称是降临派。</a:t>
            </a:r>
          </a:p>
          <a:p xmlns:a="http://schemas.openxmlformats.org/drawingml/2006/main">
            <a:r>
              <a:t>我们的作品 EvalCall 面向美团黑客松赛道二：复杂指令下的多轮对话评测系统。</a:t>
            </a:r>
          </a:p>
          <a:p xmlns:a="http://schemas.openxmlformats.org/drawingml/2006/main">
            <a:r>
              <a:t>它把复杂任务指令变成可测试、可归责、可回归的模型上线标准。接下来我用六步解释为什么这样设计。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先不要急着讲方案，先把外呼模型真正难在哪里说清楚。</a:t>
            </a:r>
          </a:p>
          <a:p xmlns:a="http://schemas.openxmlformats.org/drawingml/2006/main">
            <a:r>
              <a:t>第一，复杂指令容易漏步骤；第二，隐私和合规存在一票否决；第三，低频高风险场景在历史日志里很难覆盖；第四，人工抽听跟不上通话量和模型迭代；第五，出错以后还可能把责任归错。</a:t>
            </a:r>
          </a:p>
          <a:p xmlns:a="http://schemas.openxmlformats.org/drawingml/2006/main">
            <a:r>
              <a:t>所以答案不是再做一次人工抽检，而是建立一套能够主动测试、统一判断、准确归因并持续回归的自动评测流程。下一页就是这套流程的六步总览。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开场只建立设计主线：六步依次解决不可比、不可执行、测不到、不能决策、错误归责和无法验证修复。</a:t>
            </a:r>
          </a:p>
          <a:p xmlns:a="http://schemas.openxmlformats.org/drawingml/2006/main">
            <a:r>
              <a:t>明确分工：PPT 解释为什么这样设计；Demo 证明真实运行；报告与产物供评委复核。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先讲风险：输入不冻结，模型对比就没有实验意义。</a:t>
            </a:r>
          </a:p>
          <a:p xmlns:a="http://schemas.openxmlformats.org/drawingml/2006/main">
            <a:r>
              <a:t>再讲机制：模拟测试和已有日志先归一成同一种任务包，冻结 SOP、模型、用户批次和哈希，六步只认这一个事实源。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先讲风险：直接把自然语言 SOP 塞给 Judge，每次理解可能不同。</a:t>
            </a:r>
          </a:p>
          <a:p xmlns:a="http://schemas.openxmlformats.org/drawingml/2006/main">
            <a:r>
              <a:t>再讲机制：LLM 只负责理解；确定性代码负责 L0/L1 分层、结构约束、严重度和来源校验，所以它是一份可执行合同。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先讲风险：历史日志只能覆盖已经发生过的情况。</a:t>
            </a:r>
          </a:p>
          <a:p xmlns:a="http://schemas.openxmlformats.org/drawingml/2006/main">
            <a:r>
              <a:t>再讲机制：Persona、对抗目标和固定 seed 主动制造边界，同时保证场景可复现；用户模拟器是官方测试工具，不是被评对象。</a:t>
            </a:r>
          </a:p>
          <a:p xmlns:a="http://schemas.openxmlformats.org/drawingml/2006/main">
            <a:r>
              <a:t>讲完点击“在线跑六步”。若实时通道异常，立即使用已验证结果，不在台上排障。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 PPT 后先讲风险：平均分会掩盖 P0 和关键流程中断。</a:t>
            </a:r>
          </a:p>
          <a:p xmlns:a="http://schemas.openxmlformats.org/drawingml/2006/main">
            <a:r>
              <a:t>再讲机制：门禁、履约和逐项证据分别回答能否上线、任务是否完成、为什么这样判断；第 4 步是核心交付终点。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先讲风险：低分可能来自模型、SOP、Judge 或测试数据。</a:t>
            </a:r>
          </a:p>
          <a:p xmlns:a="http://schemas.openxmlformats.org/drawingml/2006/main">
            <a:r>
              <a:t>再讲机制：把模型表现、SOP 健康、裁判状态和数据覆盖放在同一套确定性规则中互证，先分清责任，再谈优化。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先讲风险：模型和评分尺同时变化，回归变好也无法证明是谁起作用。</a:t>
            </a:r>
          </a:p>
          <a:p xmlns:a="http://schemas.openxmlformats.org/drawingml/2006/main">
            <a:r>
              <a:t>再讲机制：按根因只改责任对象，锁定 SOP、Checklist 和用户批次，返回第 3 步同尺重放。</a:t>
            </a:r>
          </a:p>
          <a:p xmlns:a="http://schemas.openxmlformats.org/drawingml/2006/main">
            <a:r>
              <a:t>收尾：EvalCall 交付的不是另一张排行榜，而是一套可测试、可归责、可回归的上线质量基础设施。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8c6ca008e047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defeee10af4bdb" /><Relationship Type="http://schemas.openxmlformats.org/officeDocument/2006/relationships/slideLayout" Target="/ppt/slideLayouts/slideLayout1.xml" Id="R7bbd6a40754d49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bd6a40754d49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4f2bce41f4321" /><Relationship Type="http://schemas.openxmlformats.org/officeDocument/2006/relationships/image" Target="/ppt/media/image.png" Id="R26c7083d0dc14c01" /><Relationship Type="http://schemas.openxmlformats.org/officeDocument/2006/relationships/notesSlide" Target="/ppt/notesSlides/notesSlide1.xml" Id="R92995516c0fb43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24f8fd9d647a8" /><Relationship Type="http://schemas.openxmlformats.org/officeDocument/2006/relationships/notesSlide" Target="/ppt/notesSlides/notesSlide2.xml" Id="Raf69915090e74c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8e09e69d14294" /><Relationship Type="http://schemas.openxmlformats.org/officeDocument/2006/relationships/hyperlink" Target="https://kaijie0074-art.github.io/evalcall/live.html?access=evalcall-final-20260716-4c9a7e2d8f1b6a03c5d7e9f2b4a6810d" TargetMode="External" Id="R3352234bac2c4730" /><Relationship Type="http://schemas.openxmlformats.org/officeDocument/2006/relationships/hyperlink" Target="https://kaijie0074-art.github.io/evalcall/app.html" TargetMode="External" Id="Re1b8640b4fd648ce" /><Relationship Type="http://schemas.openxmlformats.org/officeDocument/2006/relationships/notesSlide" Target="/ppt/notesSlides/notesSlide3.xml" Id="Re1baede6c15d4d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3682b005a4dc1" /><Relationship Type="http://schemas.openxmlformats.org/officeDocument/2006/relationships/image" Target="/ppt/media/image2.png" Id="R40f1130f7a0f4557" /><Relationship Type="http://schemas.openxmlformats.org/officeDocument/2006/relationships/hyperlink" Target="https://kaijie0074-art.github.io/evalcall/live.html?access=evalcall-final-20260716-4c9a7e2d8f1b6a03c5d7e9f2b4a6810d" TargetMode="External" Id="Rd6b8bc8f5cd04c62" /><Relationship Type="http://schemas.openxmlformats.org/officeDocument/2006/relationships/hyperlink" Target="https://kaijie0074-art.github.io/evalcall/app.html" TargetMode="External" Id="R9d682da392b548a8" /><Relationship Type="http://schemas.openxmlformats.org/officeDocument/2006/relationships/notesSlide" Target="/ppt/notesSlides/notesSlide4.xml" Id="Rd1ac78122b3f47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43577c18d4e42" /><Relationship Type="http://schemas.openxmlformats.org/officeDocument/2006/relationships/image" Target="/ppt/media/image3.png" Id="R76bf847efd034428" /><Relationship Type="http://schemas.openxmlformats.org/officeDocument/2006/relationships/hyperlink" Target="https://kaijie0074-art.github.io/evalcall/live.html?access=evalcall-final-20260716-4c9a7e2d8f1b6a03c5d7e9f2b4a6810d" TargetMode="External" Id="R146525409b7646cd" /><Relationship Type="http://schemas.openxmlformats.org/officeDocument/2006/relationships/hyperlink" Target="https://kaijie0074-art.github.io/evalcall/app.html" TargetMode="External" Id="R7760256aa0c64fa5" /><Relationship Type="http://schemas.openxmlformats.org/officeDocument/2006/relationships/notesSlide" Target="/ppt/notesSlides/notesSlide5.xml" Id="R941bc2abfa0244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0cd91b7974612" /><Relationship Type="http://schemas.openxmlformats.org/officeDocument/2006/relationships/image" Target="/ppt/media/image4.png" Id="Re8c5d0cf7a694fb9" /><Relationship Type="http://schemas.openxmlformats.org/officeDocument/2006/relationships/hyperlink" Target="https://kaijie0074-art.github.io/evalcall/live.html?access=evalcall-final-20260716-4c9a7e2d8f1b6a03c5d7e9f2b4a6810d" TargetMode="External" Id="Rfaa5e54138d74062" /><Relationship Type="http://schemas.openxmlformats.org/officeDocument/2006/relationships/hyperlink" Target="https://kaijie0074-art.github.io/evalcall/app.html" TargetMode="External" Id="Re0fe6c5662284923" /><Relationship Type="http://schemas.openxmlformats.org/officeDocument/2006/relationships/notesSlide" Target="/ppt/notesSlides/notesSlide6.xml" Id="Rb49e2dcf19e2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5146fde9f4d14" /><Relationship Type="http://schemas.openxmlformats.org/officeDocument/2006/relationships/image" Target="/ppt/media/image5.png" Id="R17ef752269df43fd" /><Relationship Type="http://schemas.openxmlformats.org/officeDocument/2006/relationships/hyperlink" Target="https://kaijie0074-art.github.io/evalcall/live.html?access=evalcall-final-20260716-4c9a7e2d8f1b6a03c5d7e9f2b4a6810d" TargetMode="External" Id="R2a9b2d98098e4c29" /><Relationship Type="http://schemas.openxmlformats.org/officeDocument/2006/relationships/hyperlink" Target="https://kaijie0074-art.github.io/evalcall/app.html" TargetMode="External" Id="R4514b347417642a8" /><Relationship Type="http://schemas.openxmlformats.org/officeDocument/2006/relationships/notesSlide" Target="/ppt/notesSlides/notesSlide7.xml" Id="Rdf7644b64be140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469e08dff46bf" /><Relationship Type="http://schemas.openxmlformats.org/officeDocument/2006/relationships/image" Target="/ppt/media/image6.png" Id="R4576bd49b12848c7" /><Relationship Type="http://schemas.openxmlformats.org/officeDocument/2006/relationships/hyperlink" Target="https://kaijie0074-art.github.io/evalcall/live.html?access=evalcall-final-20260716-4c9a7e2d8f1b6a03c5d7e9f2b4a6810d" TargetMode="External" Id="Rc70b3bfbb9cf4f0b" /><Relationship Type="http://schemas.openxmlformats.org/officeDocument/2006/relationships/hyperlink" Target="https://kaijie0074-art.github.io/evalcall/app.html" TargetMode="External" Id="Rf723d50c0ef74891" /><Relationship Type="http://schemas.openxmlformats.org/officeDocument/2006/relationships/notesSlide" Target="/ppt/notesSlides/notesSlide8.xml" Id="R20957bdaafb845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01ca04dd84585" /><Relationship Type="http://schemas.openxmlformats.org/officeDocument/2006/relationships/image" Target="/ppt/media/image5.png" Id="Rc95162b325864c92" /><Relationship Type="http://schemas.openxmlformats.org/officeDocument/2006/relationships/hyperlink" Target="https://kaijie0074-art.github.io/evalcall/live.html?access=evalcall-final-20260716-4c9a7e2d8f1b6a03c5d7e9f2b4a6810d" TargetMode="External" Id="R74b7230a8d954be4" /><Relationship Type="http://schemas.openxmlformats.org/officeDocument/2006/relationships/hyperlink" Target="https://kaijie0074-art.github.io/evalcall/app.html" TargetMode="External" Id="Rfe1196de1277461b" /><Relationship Type="http://schemas.openxmlformats.org/officeDocument/2006/relationships/notesSlide" Target="/ppt/notesSlides/notesSlide9.xml" Id="R63f549230c0246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7083d0dc14c0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4816FD2-B8C3-4D5A-970F-955CAB32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7A90"/>
                </a:solidFill>
              </a:defRPr>
            </a:pPr>
            <a:r>
              <a:rPr sz="1050" b="1">
                <a:solidFill>
                  <a:srgbClr val="6E7A90"/>
                </a:solidFill>
              </a:rPr>
              <a:t>EVALCALL · 问题定义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0D877AD-E85C-4F42-9556-3A4596FD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C31"/>
                </a:solidFill>
              </a:defRPr>
            </a:pPr>
            <a:r>
              <a:rPr sz="3000" b="1">
                <a:solidFill>
                  <a:srgbClr val="111C31"/>
                </a:solidFill>
              </a:rPr>
              <a:t>模型外呼的过程中，到底会遇到什么问题呢？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85223B97-650A-4B60-8FA9-B62F895D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ttention-prefix">
            <a:extLst xmlns:a="http://schemas.openxmlformats.org/drawingml/2006/main">
              <a:ext uri="{FF2B5EF4-FFF2-40B4-BE49-F238E27FC236}">
                <a16:creationId xmlns:a16="http://schemas.microsoft.com/office/drawing/2014/main" id="{CD6317AB-3534-431D-BD13-B67C356D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382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D2B46"/>
                </a:solidFill>
              </a:defRPr>
            </a:pPr>
            <a:r>
              <a:rPr sz="1350" b="1">
                <a:solidFill>
                  <a:srgbClr val="1D2B46"/>
                </a:solidFill>
              </a:rPr>
              <a:t>一通外呼，居然同时面对</a:t>
            </a:r>
          </a:p>
        </p:txBody>
      </p:sp>
      <p:sp>
        <p:nvSpPr>
          <p:cNvPr id="5" name="attention-five">
            <a:extLst xmlns:a="http://schemas.openxmlformats.org/drawingml/2006/main">
              <a:ext uri="{FF2B5EF4-FFF2-40B4-BE49-F238E27FC236}">
                <a16:creationId xmlns:a16="http://schemas.microsoft.com/office/drawing/2014/main" id="{FD0764E3-298C-485C-93CF-D54FC47C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343025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48800"/>
                </a:solidFill>
              </a:defRPr>
            </a:pPr>
            <a:r>
              <a:rPr sz="2850" b="1">
                <a:solidFill>
                  <a:srgbClr val="C48800"/>
                </a:solidFill>
              </a:rPr>
              <a:t>5</a:t>
            </a:r>
          </a:p>
        </p:txBody>
      </p:sp>
      <p:sp>
        <p:nvSpPr>
          <p:cNvPr id="6" name="attention-suffix">
            <a:extLst xmlns:a="http://schemas.openxmlformats.org/drawingml/2006/main">
              <a:ext uri="{FF2B5EF4-FFF2-40B4-BE49-F238E27FC236}">
                <a16:creationId xmlns:a16="http://schemas.microsoft.com/office/drawing/2014/main" id="{FE2C0260-9715-4B95-9738-AA7BE962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3827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2B46"/>
                </a:solidFill>
              </a:defRPr>
            </a:pPr>
            <a:r>
              <a:rPr sz="1350" b="1">
                <a:solidFill>
                  <a:srgbClr val="1D2B46"/>
                </a:solidFill>
              </a:rPr>
              <a:t>类问题</a:t>
            </a:r>
          </a:p>
        </p:txBody>
      </p:sp>
      <p:sp>
        <p:nvSpPr>
          <p:cNvPr id="7" name="attention-underline">
            <a:extLst xmlns:a="http://schemas.openxmlformats.org/drawingml/2006/main">
              <a:ext uri="{FF2B5EF4-FFF2-40B4-BE49-F238E27FC236}">
                <a16:creationId xmlns:a16="http://schemas.microsoft.com/office/drawing/2014/main" id="{A3C42C4C-9F16-46BA-9FF5-509140D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90700"/>
            <a:ext cx="1238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ard-shadow-01">
            <a:extLst xmlns:a="http://schemas.openxmlformats.org/drawingml/2006/main">
              <a:ext uri="{FF2B5EF4-FFF2-40B4-BE49-F238E27FC236}">
                <a16:creationId xmlns:a16="http://schemas.microsoft.com/office/drawing/2014/main" id="{D913C4E8-4066-4289-86C6-5E6730DA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38350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rd-01">
            <a:extLst xmlns:a="http://schemas.openxmlformats.org/drawingml/2006/main">
              <a:ext uri="{FF2B5EF4-FFF2-40B4-BE49-F238E27FC236}">
                <a16:creationId xmlns:a16="http://schemas.microsoft.com/office/drawing/2014/main" id="{8DFB3E88-3A1C-441C-85C3-82E89A47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rd-number-bg-01">
            <a:extLst xmlns:a="http://schemas.openxmlformats.org/drawingml/2006/main">
              <a:ext uri="{FF2B5EF4-FFF2-40B4-BE49-F238E27FC236}">
                <a16:creationId xmlns:a16="http://schemas.microsoft.com/office/drawing/2014/main" id="{D2442FE0-F2EE-4E84-BC54-33BBA050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ard-number-01">
            <a:extLst xmlns:a="http://schemas.openxmlformats.org/drawingml/2006/main">
              <a:ext uri="{FF2B5EF4-FFF2-40B4-BE49-F238E27FC236}">
                <a16:creationId xmlns:a16="http://schemas.microsoft.com/office/drawing/2014/main" id="{1B9E8D55-3102-40B4-B3BB-38DD174E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card-title-01">
            <a:extLst xmlns:a="http://schemas.openxmlformats.org/drawingml/2006/main">
              <a:ext uri="{FF2B5EF4-FFF2-40B4-BE49-F238E27FC236}">
                <a16:creationId xmlns:a16="http://schemas.microsoft.com/office/drawing/2014/main" id="{D10C6C7C-ED9B-49B8-863C-42D1F216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指令太复杂，模型容易漏步骤</a:t>
            </a:r>
          </a:p>
        </p:txBody>
      </p:sp>
      <p:sp>
        <p:nvSpPr>
          <p:cNvPr id="13" name="card-divider-01">
            <a:extLst xmlns:a="http://schemas.openxmlformats.org/drawingml/2006/main">
              <a:ext uri="{FF2B5EF4-FFF2-40B4-BE49-F238E27FC236}">
                <a16:creationId xmlns:a16="http://schemas.microsoft.com/office/drawing/2014/main" id="{67BC3786-D93A-40C0-B09A-65C137F1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308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rd-body-01">
            <a:extLst xmlns:a="http://schemas.openxmlformats.org/drawingml/2006/main">
              <a:ext uri="{FF2B5EF4-FFF2-40B4-BE49-F238E27FC236}">
                <a16:creationId xmlns:a16="http://schemas.microsoft.com/office/drawing/2014/main" id="{7C30EEAD-C2C6-42E3-95C6-C420F310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81275"/>
            <a:ext cx="3086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多流程、多约束、多分支同时存在</a:t>
            </a:r>
          </a:p>
        </p:txBody>
      </p:sp>
      <p:sp>
        <p:nvSpPr>
          <p:cNvPr id="15" name="card-shadow-02">
            <a:extLst xmlns:a="http://schemas.openxmlformats.org/drawingml/2006/main">
              <a:ext uri="{FF2B5EF4-FFF2-40B4-BE49-F238E27FC236}">
                <a16:creationId xmlns:a16="http://schemas.microsoft.com/office/drawing/2014/main" id="{BD636BEE-D50E-444B-BD28-63CF7112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38350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ard-02">
            <a:extLst xmlns:a="http://schemas.openxmlformats.org/drawingml/2006/main">
              <a:ext uri="{FF2B5EF4-FFF2-40B4-BE49-F238E27FC236}">
                <a16:creationId xmlns:a16="http://schemas.microsoft.com/office/drawing/2014/main" id="{4AE5D099-E9E3-46F3-889B-08F2318D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71675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ard-number-bg-02">
            <a:extLst xmlns:a="http://schemas.openxmlformats.org/drawingml/2006/main">
              <a:ext uri="{FF2B5EF4-FFF2-40B4-BE49-F238E27FC236}">
                <a16:creationId xmlns:a16="http://schemas.microsoft.com/office/drawing/2014/main" id="{E9118604-08B1-4544-BD42-76C4C5CF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number-02">
            <a:extLst xmlns:a="http://schemas.openxmlformats.org/drawingml/2006/main">
              <a:ext uri="{FF2B5EF4-FFF2-40B4-BE49-F238E27FC236}">
                <a16:creationId xmlns:a16="http://schemas.microsoft.com/office/drawing/2014/main" id="{8DFBC85C-D4A6-4CDD-97A3-5821581A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9" name="card-title-02">
            <a:extLst xmlns:a="http://schemas.openxmlformats.org/drawingml/2006/main">
              <a:ext uri="{FF2B5EF4-FFF2-40B4-BE49-F238E27FC236}">
                <a16:creationId xmlns:a16="http://schemas.microsoft.com/office/drawing/2014/main" id="{32C3BD0C-7429-4D79-9AC3-8BF4BDB0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145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隐私与合规存在一票否决红线</a:t>
            </a:r>
          </a:p>
        </p:txBody>
      </p:sp>
      <p:sp>
        <p:nvSpPr>
          <p:cNvPr id="20" name="card-divider-02">
            <a:extLst xmlns:a="http://schemas.openxmlformats.org/drawingml/2006/main">
              <a:ext uri="{FF2B5EF4-FFF2-40B4-BE49-F238E27FC236}">
                <a16:creationId xmlns:a16="http://schemas.microsoft.com/office/drawing/2014/main" id="{5623FCB2-FB7A-4AE6-B8AC-E647BAFB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95550"/>
            <a:ext cx="308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ard-body-02">
            <a:extLst xmlns:a="http://schemas.openxmlformats.org/drawingml/2006/main">
              <a:ext uri="{FF2B5EF4-FFF2-40B4-BE49-F238E27FC236}">
                <a16:creationId xmlns:a16="http://schemas.microsoft.com/office/drawing/2014/main" id="{7C054AA8-43D1-498B-A558-FC77FBDA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81275"/>
            <a:ext cx="3086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一次敏感信息或承诺错误，版本就不能上线</a:t>
            </a:r>
          </a:p>
        </p:txBody>
      </p:sp>
      <p:sp>
        <p:nvSpPr>
          <p:cNvPr id="22" name="card-shadow-03">
            <a:extLst xmlns:a="http://schemas.openxmlformats.org/drawingml/2006/main">
              <a:ext uri="{FF2B5EF4-FFF2-40B4-BE49-F238E27FC236}">
                <a16:creationId xmlns:a16="http://schemas.microsoft.com/office/drawing/2014/main" id="{C6B698AC-8EFE-4095-8BC0-84D71CF2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038350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03">
            <a:extLst xmlns:a="http://schemas.openxmlformats.org/drawingml/2006/main">
              <a:ext uri="{FF2B5EF4-FFF2-40B4-BE49-F238E27FC236}">
                <a16:creationId xmlns:a16="http://schemas.microsoft.com/office/drawing/2014/main" id="{A442D49A-E427-40E1-81D3-C9507FDC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ard-number-bg-03">
            <a:extLst xmlns:a="http://schemas.openxmlformats.org/drawingml/2006/main">
              <a:ext uri="{FF2B5EF4-FFF2-40B4-BE49-F238E27FC236}">
                <a16:creationId xmlns:a16="http://schemas.microsoft.com/office/drawing/2014/main" id="{C399F0CE-5FA3-4733-A8C8-A5E174AB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33600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ard-number-03">
            <a:extLst xmlns:a="http://schemas.openxmlformats.org/drawingml/2006/main">
              <a:ext uri="{FF2B5EF4-FFF2-40B4-BE49-F238E27FC236}">
                <a16:creationId xmlns:a16="http://schemas.microsoft.com/office/drawing/2014/main" id="{FB9DC75F-5D02-4369-B203-366F86AA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33600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6" name="card-title-03">
            <a:extLst xmlns:a="http://schemas.openxmlformats.org/drawingml/2006/main">
              <a:ext uri="{FF2B5EF4-FFF2-40B4-BE49-F238E27FC236}">
                <a16:creationId xmlns:a16="http://schemas.microsoft.com/office/drawing/2014/main" id="{C85E9C0A-C6AB-49C7-9210-A68170D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145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特定场景样本太少，风险测不到</a:t>
            </a:r>
          </a:p>
        </p:txBody>
      </p:sp>
      <p:sp>
        <p:nvSpPr>
          <p:cNvPr id="27" name="card-divider-03">
            <a:extLst xmlns:a="http://schemas.openxmlformats.org/drawingml/2006/main">
              <a:ext uri="{FF2B5EF4-FFF2-40B4-BE49-F238E27FC236}">
                <a16:creationId xmlns:a16="http://schemas.microsoft.com/office/drawing/2014/main" id="{AC323259-4CC9-4452-B236-1A531F54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95550"/>
            <a:ext cx="308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body-03">
            <a:extLst xmlns:a="http://schemas.openxmlformats.org/drawingml/2006/main">
              <a:ext uri="{FF2B5EF4-FFF2-40B4-BE49-F238E27FC236}">
                <a16:creationId xmlns:a16="http://schemas.microsoft.com/office/drawing/2014/main" id="{D789FA31-6B06-47F7-A020-3FFD8F3B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81275"/>
            <a:ext cx="3086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拒绝、打断、质疑等危险分支很难覆盖</a:t>
            </a:r>
          </a:p>
        </p:txBody>
      </p:sp>
      <p:sp>
        <p:nvSpPr>
          <p:cNvPr id="29" name="card-shadow-04">
            <a:extLst xmlns:a="http://schemas.openxmlformats.org/drawingml/2006/main">
              <a:ext uri="{FF2B5EF4-FFF2-40B4-BE49-F238E27FC236}">
                <a16:creationId xmlns:a16="http://schemas.microsoft.com/office/drawing/2014/main" id="{87DAAB3C-F297-4BDE-9DF1-AFE597EB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305175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card-04">
            <a:extLst xmlns:a="http://schemas.openxmlformats.org/drawingml/2006/main">
              <a:ext uri="{FF2B5EF4-FFF2-40B4-BE49-F238E27FC236}">
                <a16:creationId xmlns:a16="http://schemas.microsoft.com/office/drawing/2014/main" id="{8EC24B3F-8614-4B75-8869-19E2A3C9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38500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ard-number-bg-04">
            <a:extLst xmlns:a="http://schemas.openxmlformats.org/drawingml/2006/main">
              <a:ext uri="{FF2B5EF4-FFF2-40B4-BE49-F238E27FC236}">
                <a16:creationId xmlns:a16="http://schemas.microsoft.com/office/drawing/2014/main" id="{D929FF38-BE97-4E3E-B5CA-CDD0F10D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400425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card-number-04">
            <a:extLst xmlns:a="http://schemas.openxmlformats.org/drawingml/2006/main">
              <a:ext uri="{FF2B5EF4-FFF2-40B4-BE49-F238E27FC236}">
                <a16:creationId xmlns:a16="http://schemas.microsoft.com/office/drawing/2014/main" id="{1B03EADF-078C-4B7A-A3FE-09124B25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400425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3" name="card-title-04">
            <a:extLst xmlns:a="http://schemas.openxmlformats.org/drawingml/2006/main">
              <a:ext uri="{FF2B5EF4-FFF2-40B4-BE49-F238E27FC236}">
                <a16:creationId xmlns:a16="http://schemas.microsoft.com/office/drawing/2014/main" id="{8570E9E5-A3E2-4652-8FBE-8DD56696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813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人工质检成本高，无法规模化</a:t>
            </a:r>
          </a:p>
        </p:txBody>
      </p:sp>
      <p:sp>
        <p:nvSpPr>
          <p:cNvPr id="34" name="card-divider-04">
            <a:extLst xmlns:a="http://schemas.openxmlformats.org/drawingml/2006/main">
              <a:ext uri="{FF2B5EF4-FFF2-40B4-BE49-F238E27FC236}">
                <a16:creationId xmlns:a16="http://schemas.microsoft.com/office/drawing/2014/main" id="{63BFE156-96EC-42CA-BAA5-B1AEACBA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762375"/>
            <a:ext cx="3181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ard-body-04">
            <a:extLst xmlns:a="http://schemas.openxmlformats.org/drawingml/2006/main">
              <a:ext uri="{FF2B5EF4-FFF2-40B4-BE49-F238E27FC236}">
                <a16:creationId xmlns:a16="http://schemas.microsoft.com/office/drawing/2014/main" id="{8AAF60F1-47ED-4CA1-AC52-88D06892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848100"/>
            <a:ext cx="31813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抽听慢、标准不一，跟不上模型快速迭代</a:t>
            </a:r>
          </a:p>
        </p:txBody>
      </p:sp>
      <p:sp>
        <p:nvSpPr>
          <p:cNvPr id="36" name="card-shadow-05">
            <a:extLst xmlns:a="http://schemas.openxmlformats.org/drawingml/2006/main">
              <a:ext uri="{FF2B5EF4-FFF2-40B4-BE49-F238E27FC236}">
                <a16:creationId xmlns:a16="http://schemas.microsoft.com/office/drawing/2014/main" id="{0CCB4E24-7DDC-4BA7-BD67-C751187B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05175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ard-05">
            <a:extLst xmlns:a="http://schemas.openxmlformats.org/drawingml/2006/main">
              <a:ext uri="{FF2B5EF4-FFF2-40B4-BE49-F238E27FC236}">
                <a16:creationId xmlns:a16="http://schemas.microsoft.com/office/drawing/2014/main" id="{6346097A-5949-4987-84DE-40795262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number-bg-05">
            <a:extLst xmlns:a="http://schemas.openxmlformats.org/drawingml/2006/main">
              <a:ext uri="{FF2B5EF4-FFF2-40B4-BE49-F238E27FC236}">
                <a16:creationId xmlns:a16="http://schemas.microsoft.com/office/drawing/2014/main" id="{9E654997-C641-4AFC-A08B-7E5B680A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ard-number-05">
            <a:extLst xmlns:a="http://schemas.openxmlformats.org/drawingml/2006/main">
              <a:ext uri="{FF2B5EF4-FFF2-40B4-BE49-F238E27FC236}">
                <a16:creationId xmlns:a16="http://schemas.microsoft.com/office/drawing/2014/main" id="{3C9ED50C-30AD-49FA-9937-78CEAAFA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0" name="card-title-05">
            <a:extLst xmlns:a="http://schemas.openxmlformats.org/drawingml/2006/main">
              <a:ext uri="{FF2B5EF4-FFF2-40B4-BE49-F238E27FC236}">
                <a16:creationId xmlns:a16="http://schemas.microsoft.com/office/drawing/2014/main" id="{D3640DAA-7FFD-4957-9FE3-09AC9561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813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出错后无法正确归因</a:t>
            </a:r>
          </a:p>
        </p:txBody>
      </p:sp>
      <p:sp>
        <p:nvSpPr>
          <p:cNvPr id="41" name="card-divider-05">
            <a:extLst xmlns:a="http://schemas.openxmlformats.org/drawingml/2006/main">
              <a:ext uri="{FF2B5EF4-FFF2-40B4-BE49-F238E27FC236}">
                <a16:creationId xmlns:a16="http://schemas.microsoft.com/office/drawing/2014/main" id="{4A1A3DCD-692A-41B5-A987-C16ACE28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62375"/>
            <a:ext cx="3181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card-body-05">
            <a:extLst xmlns:a="http://schemas.openxmlformats.org/drawingml/2006/main">
              <a:ext uri="{FF2B5EF4-FFF2-40B4-BE49-F238E27FC236}">
                <a16:creationId xmlns:a16="http://schemas.microsoft.com/office/drawing/2014/main" id="{2DAF6F93-3EB8-4BDA-BFB7-6CE11B6B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48100"/>
            <a:ext cx="31813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问题可能来自模型、SOP、裁判或测试数据</a:t>
            </a:r>
          </a:p>
        </p:txBody>
      </p:sp>
      <p:sp>
        <p:nvSpPr>
          <p:cNvPr id="43" name="bottom-rule">
            <a:extLst xmlns:a="http://schemas.openxmlformats.org/drawingml/2006/main">
              <a:ext uri="{FF2B5EF4-FFF2-40B4-BE49-F238E27FC236}">
                <a16:creationId xmlns:a16="http://schemas.microsoft.com/office/drawing/2014/main" id="{ABDECBF0-361C-42B8-B1ED-C8323CF8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14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solution-question">
            <a:extLst xmlns:a="http://schemas.openxmlformats.org/drawingml/2006/main">
              <a:ext uri="{FF2B5EF4-FFF2-40B4-BE49-F238E27FC236}">
                <a16:creationId xmlns:a16="http://schemas.microsoft.com/office/drawing/2014/main" id="{D40B7995-D5E7-4BBB-9D7B-ADC72723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7677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C31"/>
                </a:solidFill>
              </a:defRPr>
            </a:pPr>
            <a:r>
              <a:rPr sz="2325" b="1">
                <a:solidFill>
                  <a:srgbClr val="111C31"/>
                </a:solidFill>
              </a:rPr>
              <a:t>那，该怎么解决呢？</a:t>
            </a:r>
          </a:p>
        </p:txBody>
      </p:sp>
      <p:sp>
        <p:nvSpPr>
          <p:cNvPr id="45" name="answer-accent">
            <a:extLst xmlns:a="http://schemas.openxmlformats.org/drawingml/2006/main">
              <a:ext uri="{FF2B5EF4-FFF2-40B4-BE49-F238E27FC236}">
                <a16:creationId xmlns:a16="http://schemas.microsoft.com/office/drawing/2014/main" id="{F9C57A2B-380A-4D23-8033-EDD2D3FE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05425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solution-answer">
            <a:extLst xmlns:a="http://schemas.openxmlformats.org/drawingml/2006/main">
              <a:ext uri="{FF2B5EF4-FFF2-40B4-BE49-F238E27FC236}">
                <a16:creationId xmlns:a16="http://schemas.microsoft.com/office/drawing/2014/main" id="{EEC27566-8669-41A2-A510-1921F92E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10877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48800"/>
                </a:solidFill>
              </a:defRPr>
            </a:pPr>
            <a:r>
              <a:rPr sz="2025" b="1">
                <a:solidFill>
                  <a:srgbClr val="C48800"/>
                </a:solidFill>
              </a:rPr>
              <a:t>答案是：建立一套能够主动测试、统一判断、准确归因并持续回归的自动评测流程。</a:t>
            </a:r>
          </a:p>
        </p:txBody>
      </p:sp>
      <p:sp>
        <p:nvSpPr>
          <p:cNvPr id="47" name="answer-underline">
            <a:extLst xmlns:a="http://schemas.openxmlformats.org/drawingml/2006/main">
              <a:ext uri="{FF2B5EF4-FFF2-40B4-BE49-F238E27FC236}">
                <a16:creationId xmlns:a16="http://schemas.microsoft.com/office/drawing/2014/main" id="{14E5AB82-30BB-4AC3-9FB5-4404062A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38825"/>
            <a:ext cx="60960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age">
            <a:extLst xmlns:a="http://schemas.openxmlformats.org/drawingml/2006/main">
              <a:ext uri="{FF2B5EF4-FFF2-40B4-BE49-F238E27FC236}">
                <a16:creationId xmlns:a16="http://schemas.microsoft.com/office/drawing/2014/main" id="{74E667C8-970F-494D-9C4A-8D9A9831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E7A90"/>
                </a:solidFill>
              </a:defRPr>
            </a:pPr>
            <a:r>
              <a:rPr sz="750" b="0">
                <a:solidFill>
                  <a:srgbClr val="6E7A9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AEFFADB3-C24B-464A-A482-53E431FC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外呼模型上线前的自动化指令遵循评测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65D2154-B96E-43F0-B2E9-7CEAA53D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让外呼模型在上线前，先失败十次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7866D9FB-778F-4E38-BBD2-5560C320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9DC85EB-6A27-49A6-A6DB-FF602999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flow-line">
            <a:extLst xmlns:a="http://schemas.openxmlformats.org/drawingml/2006/main">
              <a:ext uri="{FF2B5EF4-FFF2-40B4-BE49-F238E27FC236}">
                <a16:creationId xmlns:a16="http://schemas.microsoft.com/office/drawing/2014/main" id="{A7B0684F-3DE1-469F-B089-30FA9B4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28875"/>
            <a:ext cx="7600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dot-0">
            <a:extLst xmlns:a="http://schemas.openxmlformats.org/drawingml/2006/main">
              <a:ext uri="{FF2B5EF4-FFF2-40B4-BE49-F238E27FC236}">
                <a16:creationId xmlns:a16="http://schemas.microsoft.com/office/drawing/2014/main" id="{3727BDF2-CC2A-4F3C-AA91-4F0E6BFD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ep-n-0">
            <a:extLst xmlns:a="http://schemas.openxmlformats.org/drawingml/2006/main">
              <a:ext uri="{FF2B5EF4-FFF2-40B4-BE49-F238E27FC236}">
                <a16:creationId xmlns:a16="http://schemas.microsoft.com/office/drawing/2014/main" id="{20F518E8-7FC6-4EAD-A44E-6E969E7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51765322-5A09-483C-A66A-C4834132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冻结测试任务</a:t>
            </a:r>
          </a:p>
        </p:txBody>
      </p:sp>
      <p:sp>
        <p:nvSpPr>
          <p:cNvPr id="9" name="step-body-0">
            <a:extLst xmlns:a="http://schemas.openxmlformats.org/drawingml/2006/main">
              <a:ext uri="{FF2B5EF4-FFF2-40B4-BE49-F238E27FC236}">
                <a16:creationId xmlns:a16="http://schemas.microsoft.com/office/drawing/2014/main" id="{81D68444-C300-41DA-957D-0CADF615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模型 / 输入 / SOP / hash</a:t>
            </a:r>
          </a:p>
        </p:txBody>
      </p:sp>
      <p:sp>
        <p:nvSpPr>
          <p:cNvPr id="10" name="step-dot-1">
            <a:extLst xmlns:a="http://schemas.openxmlformats.org/drawingml/2006/main">
              <a:ext uri="{FF2B5EF4-FFF2-40B4-BE49-F238E27FC236}">
                <a16:creationId xmlns:a16="http://schemas.microsoft.com/office/drawing/2014/main" id="{C1DF2A64-EBDD-4012-8140-CB091C1F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ep-n-1">
            <a:extLst xmlns:a="http://schemas.openxmlformats.org/drawingml/2006/main">
              <a:ext uri="{FF2B5EF4-FFF2-40B4-BE49-F238E27FC236}">
                <a16:creationId xmlns:a16="http://schemas.microsoft.com/office/drawing/2014/main" id="{9020754C-4655-4B67-93A1-D6945B15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42C15ABA-AF5B-4574-A693-1AE5E7C6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编译评分合同</a:t>
            </a:r>
          </a:p>
        </p:txBody>
      </p:sp>
      <p:sp>
        <p:nvSpPr>
          <p:cNvPr id="13" name="step-body-1">
            <a:extLst xmlns:a="http://schemas.openxmlformats.org/drawingml/2006/main">
              <a:ext uri="{FF2B5EF4-FFF2-40B4-BE49-F238E27FC236}">
                <a16:creationId xmlns:a16="http://schemas.microsoft.com/office/drawing/2014/main" id="{CC81D6D1-3A42-4375-A2DB-05B84F35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L0 安全 + L1 业务</a:t>
            </a:r>
          </a:p>
        </p:txBody>
      </p:sp>
      <p:sp>
        <p:nvSpPr>
          <p:cNvPr id="14" name="step-dot-2">
            <a:extLst xmlns:a="http://schemas.openxmlformats.org/drawingml/2006/main">
              <a:ext uri="{FF2B5EF4-FFF2-40B4-BE49-F238E27FC236}">
                <a16:creationId xmlns:a16="http://schemas.microsoft.com/office/drawing/2014/main" id="{8B21AB0A-0540-4BED-B85C-74B3C3C5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ep-n-2">
            <a:extLst xmlns:a="http://schemas.openxmlformats.org/drawingml/2006/main">
              <a:ext uri="{FF2B5EF4-FFF2-40B4-BE49-F238E27FC236}">
                <a16:creationId xmlns:a16="http://schemas.microsoft.com/office/drawing/2014/main" id="{BE7D4578-4A77-4ECD-A191-6C6D7285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B5412980-B5B8-41C5-BBC7-CC881B86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主动测试模型</a:t>
            </a:r>
          </a:p>
        </p:txBody>
      </p:sp>
      <p:sp>
        <p:nvSpPr>
          <p:cNvPr id="17" name="step-body-2">
            <a:extLst xmlns:a="http://schemas.openxmlformats.org/drawingml/2006/main">
              <a:ext uri="{FF2B5EF4-FFF2-40B4-BE49-F238E27FC236}">
                <a16:creationId xmlns:a16="http://schemas.microsoft.com/office/drawing/2014/main" id="{0472E68F-8D8B-4A37-AF40-5384BD04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Persona × 对抗分支</a:t>
            </a:r>
          </a:p>
        </p:txBody>
      </p:sp>
      <p:sp>
        <p:nvSpPr>
          <p:cNvPr id="18" name="step-dot-3">
            <a:extLst xmlns:a="http://schemas.openxmlformats.org/drawingml/2006/main">
              <a:ext uri="{FF2B5EF4-FFF2-40B4-BE49-F238E27FC236}">
                <a16:creationId xmlns:a16="http://schemas.microsoft.com/office/drawing/2014/main" id="{4F4ED39A-5F4D-4827-A0E0-05B192C4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09575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1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ep-n-3">
            <a:extLst xmlns:a="http://schemas.openxmlformats.org/drawingml/2006/main">
              <a:ext uri="{FF2B5EF4-FFF2-40B4-BE49-F238E27FC236}">
                <a16:creationId xmlns:a16="http://schemas.microsoft.com/office/drawing/2014/main" id="{F52B6353-AD90-4D20-ADD2-6BAE145C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D97F5F26-12C6-452C-A2DF-1949CF7A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决定是否上线</a:t>
            </a:r>
          </a:p>
        </p:txBody>
      </p:sp>
      <p:sp>
        <p:nvSpPr>
          <p:cNvPr id="21" name="step-body-3">
            <a:extLst xmlns:a="http://schemas.openxmlformats.org/drawingml/2006/main">
              <a:ext uri="{FF2B5EF4-FFF2-40B4-BE49-F238E27FC236}">
                <a16:creationId xmlns:a16="http://schemas.microsoft.com/office/drawing/2014/main" id="{A8E3E6EE-C136-46CD-9B40-5D5E42AF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门禁 / 履约 / P0 / 证据</a:t>
            </a:r>
          </a:p>
        </p:txBody>
      </p:sp>
      <p:sp>
        <p:nvSpPr>
          <p:cNvPr id="22" name="decision-note">
            <a:extLst xmlns:a="http://schemas.openxmlformats.org/drawingml/2006/main">
              <a:ext uri="{FF2B5EF4-FFF2-40B4-BE49-F238E27FC236}">
                <a16:creationId xmlns:a16="http://schemas.microsoft.com/office/drawing/2014/main" id="{85B92780-0A54-4176-AE54-80AED4C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跑完六步，精确回答三个问题：能不能上线？失败在哪里？到底该改谁？</a:t>
            </a:r>
          </a:p>
        </p:txBody>
      </p:sp>
      <p:sp>
        <p:nvSpPr>
          <p:cNvPr id="23" name="source">
            <a:extLst xmlns:a="http://schemas.openxmlformats.org/drawingml/2006/main">
              <a:ext uri="{FF2B5EF4-FFF2-40B4-BE49-F238E27FC236}">
                <a16:creationId xmlns:a16="http://schemas.microsoft.com/office/drawing/2014/main" id="{E648FF3C-1484-417E-9F5E-498A0B75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PPT 解释为什么这样设计 · Demo 证明真实运行 · 报告与产物负责结果复核</a:t>
            </a:r>
          </a:p>
        </p:txBody>
      </p:sp>
      <p:sp>
        <p:nvSpPr>
          <p:cNvPr id="24" name="flow-line-row-2">
            <a:extLst xmlns:a="http://schemas.openxmlformats.org/drawingml/2006/main">
              <a:ext uri="{FF2B5EF4-FFF2-40B4-BE49-F238E27FC236}">
                <a16:creationId xmlns:a16="http://schemas.microsoft.com/office/drawing/2014/main" id="{9FF7EABC-BEE2-4BDE-96F0-2075FF5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91025"/>
            <a:ext cx="7600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tep-dot-5">
            <a:extLst xmlns:a="http://schemas.openxmlformats.org/drawingml/2006/main">
              <a:ext uri="{FF2B5EF4-FFF2-40B4-BE49-F238E27FC236}">
                <a16:creationId xmlns:a16="http://schemas.microsoft.com/office/drawing/2014/main" id="{F9E6E76D-3B64-4136-83D1-EDAB2A48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957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6" name="step-n-5">
            <a:extLst xmlns:a="http://schemas.openxmlformats.org/drawingml/2006/main">
              <a:ext uri="{FF2B5EF4-FFF2-40B4-BE49-F238E27FC236}">
                <a16:creationId xmlns:a16="http://schemas.microsoft.com/office/drawing/2014/main" id="{A480B850-43FF-4E9C-8036-9539608A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step-title-5">
            <a:extLst xmlns:a="http://schemas.openxmlformats.org/drawingml/2006/main">
              <a:ext uri="{FF2B5EF4-FFF2-40B4-BE49-F238E27FC236}">
                <a16:creationId xmlns:a16="http://schemas.microsoft.com/office/drawing/2014/main" id="{4879BEE7-933F-434D-9BC8-9F5EF41E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分离真实根因</a:t>
            </a:r>
          </a:p>
        </p:txBody>
      </p:sp>
      <p:sp>
        <p:nvSpPr>
          <p:cNvPr id="28" name="step-body-5">
            <a:extLst xmlns:a="http://schemas.openxmlformats.org/drawingml/2006/main">
              <a:ext uri="{FF2B5EF4-FFF2-40B4-BE49-F238E27FC236}">
                <a16:creationId xmlns:a16="http://schemas.microsoft.com/office/drawing/2014/main" id="{6A2887F8-74C4-4104-8D6A-242A585D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模型 / SOP / 裁判 / 数据</a:t>
            </a:r>
          </a:p>
        </p:txBody>
      </p:sp>
      <p:sp>
        <p:nvSpPr>
          <p:cNvPr id="29" name="step-dot-6">
            <a:extLst xmlns:a="http://schemas.openxmlformats.org/drawingml/2006/main">
              <a:ext uri="{FF2B5EF4-FFF2-40B4-BE49-F238E27FC236}">
                <a16:creationId xmlns:a16="http://schemas.microsoft.com/office/drawing/2014/main" id="{23E73DBE-3366-4643-901F-4A27567D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0957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9525">
            <a:solidFill>
              <a:srgbClr val="FFCC00"/>
            </a:solidFill>
            <a:prstDash val="solid"/>
          </a:ln>
        </p:spPr>
      </p:sp>
      <p:sp>
        <p:nvSpPr>
          <p:cNvPr id="30" name="step-n-6">
            <a:extLst xmlns:a="http://schemas.openxmlformats.org/drawingml/2006/main">
              <a:ext uri="{FF2B5EF4-FFF2-40B4-BE49-F238E27FC236}">
                <a16:creationId xmlns:a16="http://schemas.microsoft.com/office/drawing/2014/main" id="{0AF895B3-0C7D-4F4A-AD53-77115BEB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6</a:t>
            </a:r>
          </a:p>
        </p:txBody>
      </p:sp>
      <p:sp>
        <p:nvSpPr>
          <p:cNvPr id="31" name="step-title-6">
            <a:extLst xmlns:a="http://schemas.openxmlformats.org/drawingml/2006/main">
              <a:ext uri="{FF2B5EF4-FFF2-40B4-BE49-F238E27FC236}">
                <a16:creationId xmlns:a16="http://schemas.microsoft.com/office/drawing/2014/main" id="{52A093D1-21A9-4D21-AA78-5E4C7BFE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同尺回归闭环</a:t>
            </a:r>
          </a:p>
        </p:txBody>
      </p:sp>
      <p:sp>
        <p:nvSpPr>
          <p:cNvPr id="32" name="step-body-6">
            <a:extLst xmlns:a="http://schemas.openxmlformats.org/drawingml/2006/main">
              <a:ext uri="{FF2B5EF4-FFF2-40B4-BE49-F238E27FC236}">
                <a16:creationId xmlns:a16="http://schemas.microsoft.com/office/drawing/2014/main" id="{230A79F8-88BC-4067-BD59-AED39F7B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只改责任对象，再测一次</a:t>
            </a:r>
          </a:p>
        </p:txBody>
      </p:sp>
      <p:sp>
        <p:nvSpPr>
          <p:cNvPr id="33" name="live-demo-link-1">
            <a:extLst xmlns:a="http://schemas.openxmlformats.org/drawingml/2006/main">
              <a:ext uri="{FF2B5EF4-FFF2-40B4-BE49-F238E27FC236}">
                <a16:creationId xmlns:a16="http://schemas.microsoft.com/office/drawing/2014/main" id="{40AEA778-D098-42AA-9C4B-6F7D4059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3352234bac2c4730"/>
              </a:rPr>
              <a:t>▶ 在线 Demo</a:t>
            </a:r>
          </a:p>
        </p:txBody>
      </p:sp>
      <p:sp>
        <p:nvSpPr>
          <p:cNvPr id="34" name="public-demo-link-1">
            <a:extLst xmlns:a="http://schemas.openxmlformats.org/drawingml/2006/main">
              <a:ext uri="{FF2B5EF4-FFF2-40B4-BE49-F238E27FC236}">
                <a16:creationId xmlns:a16="http://schemas.microsoft.com/office/drawing/2014/main" id="{00C861CC-9BCF-4D46-AB6E-57BFA80C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e1b8640b4fd648ce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01 · 冻结测试任务｜先把评测变成一次可复现的实验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demo_server.py + provenance.py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task = freeze(sop, model, users, batch)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manifest = hash_every_input(task)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精妙：双入口先归一，后续六步不再偷换输入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1130f7a0f4557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2">
            <a:extLst xmlns:a="http://schemas.openxmlformats.org/drawingml/2006/main">
              <a:ext uri="{FF2B5EF4-FFF2-40B4-BE49-F238E27FC236}">
                <a16:creationId xmlns:a16="http://schemas.microsoft.com/office/drawing/2014/main" id="{756737C3-9C64-4C8A-AD93-12198F63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d6b8bc8f5cd04c62"/>
              </a:rPr>
              <a:t>▶ 在线 Demo</a:t>
            </a:r>
          </a:p>
        </p:txBody>
      </p:sp>
      <p:sp>
        <p:nvSpPr>
          <p:cNvPr id="21" name="public-demo-link-2">
            <a:extLst xmlns:a="http://schemas.openxmlformats.org/drawingml/2006/main">
              <a:ext uri="{FF2B5EF4-FFF2-40B4-BE49-F238E27FC236}">
                <a16:creationId xmlns:a16="http://schemas.microsoft.com/office/drawing/2014/main" id="{CD853EDC-9D98-4FD5-A535-FCA37C30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9d682da392b548a8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1EBF3C19-F77A-45BC-92BA-1E6B0205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313B6E8A-2629-4A12-AB80-3971BCC8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629D5F89-DE93-49E9-AA15-277D70BF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评测输入和版本经常变化，导致不同模型结果无法公平比较。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C32C0133-DA5B-43AC-8221-4439382C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F7014716-44B5-4783-BB5D-02EFFBCD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3BDA0EF0-B623-4C8E-93C6-C60A3A38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同时支持模拟测试和已有日志；将模型、SOP、用户批次统一写入任务包并计算哈希。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3051020D-AF5E-401A-9944-5ED1F465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F1134C0B-E974-455D-A1AD-BF08FDA8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F78796D2-59C5-4D3A-B887-5E08EB3E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六步始终复用同一份输入事实，结果可复现、可追踪，也能进行真实版本对比。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02 · 建立评分标准｜评分标准不是提示词，而是可执行合同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compiler.py / compile_task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L0 = safety_policy(); L1 = compile(sop)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checkpoint = verify(source, severity, condition)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精妙：生成能力与可审计约束解耦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f847efd034428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3">
            <a:extLst xmlns:a="http://schemas.openxmlformats.org/drawingml/2006/main">
              <a:ext uri="{FF2B5EF4-FFF2-40B4-BE49-F238E27FC236}">
                <a16:creationId xmlns:a16="http://schemas.microsoft.com/office/drawing/2014/main" id="{3D4617B6-4996-4E84-AA48-B191C1E9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146525409b7646cd"/>
              </a:rPr>
              <a:t>▶ 在线 Demo</a:t>
            </a:r>
          </a:p>
        </p:txBody>
      </p:sp>
      <p:sp>
        <p:nvSpPr>
          <p:cNvPr id="21" name="public-demo-link-3">
            <a:extLst xmlns:a="http://schemas.openxmlformats.org/drawingml/2006/main">
              <a:ext uri="{FF2B5EF4-FFF2-40B4-BE49-F238E27FC236}">
                <a16:creationId xmlns:a16="http://schemas.microsoft.com/office/drawing/2014/main" id="{02F4CC26-4408-4620-95DF-C345C0C5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7760256aa0c64fa5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3B9485B1-617A-482B-AD8F-6B1BBAA0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CD95CBE7-CBE0-4F8A-A748-33AEC0A8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079EF836-5F99-4886-9D40-D2633B7F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自然语言SOP存在歧义，Judge可能每次按照不同标准打分。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0C6C29B1-DD49-4628-8F76-F83422B8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EC37DCB2-9C1B-42A9-B571-3945FBAED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306037A7-E046-4BAD-86F5-B4AF9ED8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把SOP编译成L0通用红线与L1业务规则；每个检查点保留来源、条件和严重度。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4487EA6B-2914-4057-A998-3CEB5C82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37CE9FFD-DD4A-4BAB-B4AC-652894AF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9FE45EED-D1AA-4926-851B-28968ABF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评分标准从提示词变成可执行合同，既能自动评分，也能逐项审计和复核。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03 · 测试外呼模型｜用户模拟器主动制造真实边界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simulator.py + arena.py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test = persona × adversarial_target × seed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transcript = run(target_model, test)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精妙：主动覆盖边界，同时保持场景可复现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5d0cf7a694fb9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4">
            <a:extLst xmlns:a="http://schemas.openxmlformats.org/drawingml/2006/main">
              <a:ext uri="{FF2B5EF4-FFF2-40B4-BE49-F238E27FC236}">
                <a16:creationId xmlns:a16="http://schemas.microsoft.com/office/drawing/2014/main" id="{AF2CDF5B-3B98-43BB-A50C-8C60C460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faa5e54138d74062"/>
              </a:rPr>
              <a:t>▶ 在线跑六步</a:t>
            </a:r>
          </a:p>
        </p:txBody>
      </p:sp>
      <p:sp>
        <p:nvSpPr>
          <p:cNvPr id="21" name="public-demo-link-4">
            <a:extLst xmlns:a="http://schemas.openxmlformats.org/drawingml/2006/main">
              <a:ext uri="{FF2B5EF4-FFF2-40B4-BE49-F238E27FC236}">
                <a16:creationId xmlns:a16="http://schemas.microsoft.com/office/drawing/2014/main" id="{1F7E4DBE-0D2D-439C-84E3-670AF506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e0fe6c5662284923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B222B827-C6BE-4046-AD95-978466C4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BA914AF9-9C70-4A1E-BC61-6B2FC08A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B0A20B1F-3A6C-4F7F-B84A-CD504F99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历史日志覆盖不到拒绝、打断、质疑等高风险对话边界。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C184AFA4-EA83-4A6F-83EA-68DDA243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FCC8BE34-7A5F-46E7-A312-EA04A5DA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D114048F-A66C-4A16-9847-894AA99E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用户模拟器组合Persona、对抗目标和固定Seed，主动生成可复现的多轮测试对话。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3F2BEE25-1A17-4FB3-9115-65766800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6F87DED5-101A-4ECC-A6D3-FFA4552D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B62385B5-429A-40AF-A477-A6CB863C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上线前主动暴露脆弱点，同时保证两个模型版本面对完全相同的测试场景。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04 · 输出评测报告｜报告的职责不是打分，而是做上线决策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scoring.py + report.py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gate = FAIL if P0 or critical_flow_failed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report = decision + evidence + blind_spots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精妙：先做发布决策，再解释为什么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f752269df43fd"/>
          <a:srcRect xmlns:a="http://schemas.openxmlformats.org/drawingml/2006/main" l="0" t="8152" r="0" b="81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5">
            <a:extLst xmlns:a="http://schemas.openxmlformats.org/drawingml/2006/main">
              <a:ext uri="{FF2B5EF4-FFF2-40B4-BE49-F238E27FC236}">
                <a16:creationId xmlns:a16="http://schemas.microsoft.com/office/drawing/2014/main" id="{61C59CF2-0FFC-4D26-9350-735655E5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2a9b2d98098e4c29"/>
              </a:rPr>
              <a:t>▶ 在线 Demo</a:t>
            </a:r>
          </a:p>
        </p:txBody>
      </p:sp>
      <p:sp>
        <p:nvSpPr>
          <p:cNvPr id="21" name="public-demo-link-5">
            <a:extLst xmlns:a="http://schemas.openxmlformats.org/drawingml/2006/main">
              <a:ext uri="{FF2B5EF4-FFF2-40B4-BE49-F238E27FC236}">
                <a16:creationId xmlns:a16="http://schemas.microsoft.com/office/drawing/2014/main" id="{80808561-F100-49D4-BBA2-AE4D1C10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4514b347417642a8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60008BEC-F7DC-4519-A618-4EDB4D57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DE4AA2E2-8E8F-43A6-98BB-8D49DA21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B716AD63-7EF0-423A-AABC-476FD667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平均分会掩盖P0、隐私泄露和关键流程中断，无法直接回答能否上线。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DB3CEC12-E2FC-4BB5-AB6F-C138DE5C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ED7508C4-6A7B-4330-A3E6-32CAE403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43652FED-648B-4C1B-A264-E8643668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同时计算门禁、履约率、P0和关键失败，并把每个结论绑定到原始对话证据。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DD56CC73-95A7-4D84-92F8-5CBCF6FB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E7F89674-DA4D-4E05-8260-6DBFDCC3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217E7D7C-F967-401C-B7E7-D9009D49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报告直接支持发布决策；评委既能看到结论，也能追溯每一次打回的原因。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05 · 分析失败原因｜先分清责任，再决定优化谁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attribution.py / analyze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signals = block + P0 + fulfillment + severity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root = compare(model, instruction, judge, data)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精妙：多信号互证，拒绝单一失败率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6bd49b12848c7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6">
            <a:extLst xmlns:a="http://schemas.openxmlformats.org/drawingml/2006/main">
              <a:ext uri="{FF2B5EF4-FFF2-40B4-BE49-F238E27FC236}">
                <a16:creationId xmlns:a16="http://schemas.microsoft.com/office/drawing/2014/main" id="{5C046E7E-4FC9-4E41-9599-2D40A78B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c70b3bfbb9cf4f0b"/>
              </a:rPr>
              <a:t>▶ 在线 Demo</a:t>
            </a:r>
          </a:p>
        </p:txBody>
      </p:sp>
      <p:sp>
        <p:nvSpPr>
          <p:cNvPr id="21" name="public-demo-link-6">
            <a:extLst xmlns:a="http://schemas.openxmlformats.org/drawingml/2006/main">
              <a:ext uri="{FF2B5EF4-FFF2-40B4-BE49-F238E27FC236}">
                <a16:creationId xmlns:a16="http://schemas.microsoft.com/office/drawing/2014/main" id="{8B3A7256-100C-4B4A-9085-9FC1E248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f723d50c0ef74891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FF003637-F443-4258-9A8E-6444EEC9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63A1AE28-D302-4DB3-9398-055D1D63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ACA44B70-9636-492C-911F-26C12CCF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低分不一定来自模型，也可能是SOP、裁判或测试覆盖的问题。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4DC232C1-2542-4325-8696-B8A6C828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8653607E-AF75-49A1-AAA8-09B32C72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66779728-8EE9-4B86-8699-FA96AAED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综合打回率、履约率、P0、SOP健康度、NA率与裁判分歧率进行多信号归因。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1ACF809B-3EA1-4432-9935-E162FC5B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38DE4F6E-71F1-407C-AF57-9BF61E0B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B90A30B9-507E-449B-9AD7-D8387885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避免把系统问题错怪给模型，让优化资源真正投入责任对象。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06 · 优化与回归｜只改责任对象，用同一把尺重新证明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repair.py + diff.py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repair(root_cause); lock(SOP_HASH, CHECK_HASH)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return step_3(same_users, new_target)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精妙：变化只发生在责任对象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5162b325864c92"/>
          <a:srcRect xmlns:a="http://schemas.openxmlformats.org/drawingml/2006/main" l="0" t="8152" r="0" b="81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7">
            <a:extLst xmlns:a="http://schemas.openxmlformats.org/drawingml/2006/main">
              <a:ext uri="{FF2B5EF4-FFF2-40B4-BE49-F238E27FC236}">
                <a16:creationId xmlns:a16="http://schemas.microsoft.com/office/drawing/2014/main" id="{A146C632-4B71-4814-BD5D-B2693336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74b7230a8d954be4"/>
              </a:rPr>
              <a:t>▶ 在线 Demo</a:t>
            </a:r>
          </a:p>
        </p:txBody>
      </p:sp>
      <p:sp>
        <p:nvSpPr>
          <p:cNvPr id="21" name="public-demo-link-7">
            <a:extLst xmlns:a="http://schemas.openxmlformats.org/drawingml/2006/main">
              <a:ext uri="{FF2B5EF4-FFF2-40B4-BE49-F238E27FC236}">
                <a16:creationId xmlns:a16="http://schemas.microsoft.com/office/drawing/2014/main" id="{705C770E-3844-4808-B563-406B189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fe1196de1277461b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AA3DCD02-EAFA-4E89-8A1F-0DD4534D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69669314-CA30-4C29-B578-D48BA4B2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E003D782-C5C5-4E9E-96C5-D9A752DE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模型和评分尺同时变化时，无法证明性能提升究竟由谁造成。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A830DC0E-467C-44D8-B68F-C5A19D0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7EBFACBC-6322-4679-BF7C-85B66C2E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14B128BE-2C54-453E-A116-3A3EE8C9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只改根因对应对象，锁定SOP、Checklist、Judge与用户批次，再回到第3步回归。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177AB0A1-957C-4ED9-9664-6FAA9CDE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1F884E4C-31D9-44DE-9EB6-8BF20EC4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ECF459A0-177A-4772-A453-24B61FEE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形成单变量、同尺、可审计的改进证据，证明优化有效且没有偷换标准。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2026-07-14T19:53:59.8020000Z</dcterms:created>
  <dcterms:modified xsi:type="dcterms:W3CDTF">2026-07-14T19:53:59.8020000Z</dcterms:modified>
</coreProperties>
</file>