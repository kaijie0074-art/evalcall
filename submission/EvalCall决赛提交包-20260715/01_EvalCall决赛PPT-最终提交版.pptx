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d88052ed849e8" /><Relationship Type="http://schemas.openxmlformats.org/officeDocument/2006/relationships/extended-properties" Target="/docProps/app.xml" Id="R2b659214da834176" /><Relationship Type="http://schemas.openxmlformats.org/officeDocument/2006/relationships/officeDocument" Target="/ppt/presentation.xml" Id="Re8ca867373fa43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0627675b83420e"/>
  </p:sldMasterIdLst>
  <p:notesMasterIdLst>
    <p:notesMasterId xmlns:r="http://schemas.openxmlformats.org/officeDocument/2006/relationships" r:id="Rbda9cb0d8a8f4807"/>
  </p:notesMasterIdLst>
  <p:sldIdLst>
    <p:sldId xmlns:r="http://schemas.openxmlformats.org/officeDocument/2006/relationships" id="256" r:id="R02b8ab2037e9416e"/>
    <p:sldId xmlns:r="http://schemas.openxmlformats.org/officeDocument/2006/relationships" id="257" r:id="R19961b8e0e744c7c"/>
    <p:sldId xmlns:r="http://schemas.openxmlformats.org/officeDocument/2006/relationships" id="258" r:id="R8432e9d5364e4f93"/>
    <p:sldId xmlns:r="http://schemas.openxmlformats.org/officeDocument/2006/relationships" id="259" r:id="R2c9a2eb38e154143"/>
    <p:sldId xmlns:r="http://schemas.openxmlformats.org/officeDocument/2006/relationships" id="260" r:id="Rb6adecab27954998"/>
    <p:sldId xmlns:r="http://schemas.openxmlformats.org/officeDocument/2006/relationships" id="261" r:id="R1a5a7d249fc84401"/>
    <p:sldId xmlns:r="http://schemas.openxmlformats.org/officeDocument/2006/relationships" id="262" r:id="R4e15b107001b48fa"/>
    <p:sldId xmlns:r="http://schemas.openxmlformats.org/officeDocument/2006/relationships" id="263" r:id="R3917fcd3b0b141aa"/>
    <p:sldId xmlns:r="http://schemas.openxmlformats.org/officeDocument/2006/relationships" id="264" r:id="R4d433e1fab8e4e2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0c086d4c84460f" /><Relationship Type="http://schemas.openxmlformats.org/officeDocument/2006/relationships/slideMaster" Target="/ppt/slideMasters/slideMaster1.xml" Id="R5d0627675b83420e" /><Relationship Type="http://schemas.openxmlformats.org/officeDocument/2006/relationships/notesMaster" Target="/ppt/notesMasters/notesMaster1.xml" Id="Rbda9cb0d8a8f4807" /><Relationship Type="http://schemas.openxmlformats.org/officeDocument/2006/relationships/presProps" Target="/ppt/presProps.xml" Id="R105d625f03944537" /><Relationship Type="http://schemas.openxmlformats.org/officeDocument/2006/relationships/tableStyles" Target="/ppt/tableStyles.xml" Id="R1de043c2021e4c0c" /><Relationship Type="http://schemas.openxmlformats.org/officeDocument/2006/relationships/slide" Target="/ppt/slides/slide1.xml" Id="R02b8ab2037e9416e" /><Relationship Type="http://schemas.openxmlformats.org/officeDocument/2006/relationships/slide" Target="/ppt/slides/slide2.xml" Id="R19961b8e0e744c7c" /><Relationship Type="http://schemas.openxmlformats.org/officeDocument/2006/relationships/slide" Target="/ppt/slides/slide3.xml" Id="R8432e9d5364e4f93" /><Relationship Type="http://schemas.openxmlformats.org/officeDocument/2006/relationships/slide" Target="/ppt/slides/slide4.xml" Id="R2c9a2eb38e154143" /><Relationship Type="http://schemas.openxmlformats.org/officeDocument/2006/relationships/slide" Target="/ppt/slides/slide5.xml" Id="Rb6adecab27954998" /><Relationship Type="http://schemas.openxmlformats.org/officeDocument/2006/relationships/slide" Target="/ppt/slides/slide6.xml" Id="R1a5a7d249fc84401" /><Relationship Type="http://schemas.openxmlformats.org/officeDocument/2006/relationships/slide" Target="/ppt/slides/slide7.xml" Id="R4e15b107001b48fa" /><Relationship Type="http://schemas.openxmlformats.org/officeDocument/2006/relationships/slide" Target="/ppt/slides/slide8.xml" Id="R3917fcd3b0b141aa" /><Relationship Type="http://schemas.openxmlformats.org/officeDocument/2006/relationships/slide" Target="/ppt/slides/slide9.xml" Id="R4d433e1fab8e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21c6cfa0604f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3d190d2ab041b2" /><Relationship Type="http://schemas.openxmlformats.org/officeDocument/2006/relationships/notesMaster" Target="/ppt/notesMasters/notesMaster1.xml" Id="R89a1106e44744b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774bc773d4ec2" /><Relationship Type="http://schemas.openxmlformats.org/officeDocument/2006/relationships/notesMaster" Target="/ppt/notesMasters/notesMaster1.xml" Id="Rea5b81d7453248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41abd030ab45f3" /><Relationship Type="http://schemas.openxmlformats.org/officeDocument/2006/relationships/notesMaster" Target="/ppt/notesMasters/notesMaster1.xml" Id="Ra8d354e0bce144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c48b9e4e244c15" /><Relationship Type="http://schemas.openxmlformats.org/officeDocument/2006/relationships/notesMaster" Target="/ppt/notesMasters/notesMaster1.xml" Id="R702b26c4b98543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efd4cdf7f4e2c" /><Relationship Type="http://schemas.openxmlformats.org/officeDocument/2006/relationships/notesMaster" Target="/ppt/notesMasters/notesMaster1.xml" Id="Ra9605e8aa37e49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3bdf4293264300" /><Relationship Type="http://schemas.openxmlformats.org/officeDocument/2006/relationships/notesMaster" Target="/ppt/notesMasters/notesMaster1.xml" Id="R08a7b7e015fb47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3da597d3b04f4e" /><Relationship Type="http://schemas.openxmlformats.org/officeDocument/2006/relationships/notesMaster" Target="/ppt/notesMasters/notesMaster1.xml" Id="R703d66f0ea144b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a838eef66014a4a" /><Relationship Type="http://schemas.openxmlformats.org/officeDocument/2006/relationships/notesMaster" Target="/ppt/notesMasters/notesMaster1.xml" Id="R5869a27bcad848e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5aa3ef053f45a0" /><Relationship Type="http://schemas.openxmlformats.org/officeDocument/2006/relationships/notesMaster" Target="/ppt/notesMasters/notesMaster1.xml" Id="R41217ae59a2144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我是杨凯杰，团队名称是降临派。</a:t>
            </a:r>
          </a:p>
          <a:p xmlns:a="http://schemas.openxmlformats.org/drawingml/2006/main">
            <a:r>
              <a:t>我们的作品 EvalCall 面向美团黑客松赛道二：复杂指令下的多轮对话评测系统。</a:t>
            </a:r>
          </a:p>
          <a:p xmlns:a="http://schemas.openxmlformats.org/drawingml/2006/main">
            <a:r>
              <a:t>它把复杂任务指令变成可测试、可归责、可回归的模型上线标准。接下来我用六步解释为什么这样设计。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先不要急着讲方案，先把外呼模型真正难在哪里说清楚。</a:t>
            </a:r>
          </a:p>
          <a:p xmlns:a="http://schemas.openxmlformats.org/drawingml/2006/main">
            <a:r>
              <a:t>第一，复杂指令容易漏步骤；第二，隐私和合规存在一票否决；第三，低频高风险场景在历史日志里很难覆盖；第四，人工抽听跟不上通话量和模型迭代；第五，出错以后还可能把责任归错。</a:t>
            </a:r>
          </a:p>
          <a:p xmlns:a="http://schemas.openxmlformats.org/drawingml/2006/main">
            <a:r>
              <a:t>所以答案不是再做一次人工抽检，而是建立一套能够主动测试、统一判断、准确归因并持续回归的自动评测流程。下一页就是这套流程的六步总览。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开场只建立设计主线：六步依次解决不可比、不可执行、测不到、不能决策、错误归责和无法验证修复。</a:t>
            </a:r>
          </a:p>
          <a:p xmlns:a="http://schemas.openxmlformats.org/drawingml/2006/main">
            <a:r>
              <a:t>明确分工：PPT 解释为什么这样设计；Demo 证明真实运行；报告与产物供评委复核。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先讲风险：输入不冻结，模型对比就没有实验意义。</a:t>
            </a:r>
          </a:p>
          <a:p xmlns:a="http://schemas.openxmlformats.org/drawingml/2006/main">
            <a:r>
              <a:t>再讲机制：模拟测试和已有日志先归一成同一种任务包，冻结 SOP、模型、用户批次和哈希，六步只认这一个事实源。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先讲风险：直接把自然语言 SOP 塞给 Judge，每次理解可能不同。</a:t>
            </a:r>
          </a:p>
          <a:p xmlns:a="http://schemas.openxmlformats.org/drawingml/2006/main">
            <a:r>
              <a:t>再讲机制：LLM 只负责理解；确定性代码负责 L0/L1 分层、结构约束、严重度和来源校验，所以它是一份可执行合同。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先讲风险：历史日志只能覆盖已经发生过的情况。</a:t>
            </a:r>
          </a:p>
          <a:p xmlns:a="http://schemas.openxmlformats.org/drawingml/2006/main">
            <a:r>
              <a:t>再讲机制：Persona、对抗目标和固定 seed 主动制造边界，同时保证场景可复现；用户模拟器是官方测试工具，不是被评对象。</a:t>
            </a:r>
          </a:p>
          <a:p xmlns:a="http://schemas.openxmlformats.org/drawingml/2006/main">
            <a:r>
              <a:t>讲完点击“在线跑六步”。若实时通道异常，立即使用已验证结果，不在台上排障。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 PPT 后先讲风险：平均分会掩盖 P0 和关键流程中断。</a:t>
            </a:r>
          </a:p>
          <a:p xmlns:a="http://schemas.openxmlformats.org/drawingml/2006/main">
            <a:r>
              <a:t>再讲机制：门禁、履约和逐项证据分别回答能否上线、任务是否完成、为什么这样判断；第 4 步是核心交付终点。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先讲风险：低分可能来自模型、SOP、Judge 或测试数据。</a:t>
            </a:r>
          </a:p>
          <a:p xmlns:a="http://schemas.openxmlformats.org/drawingml/2006/main">
            <a:r>
              <a:t>再讲机制：把模型表现、SOP 健康、裁判状态和数据覆盖放在同一套确定性规则中互证，先分清责任，再谈优化。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先讲风险：模型和评分尺同时变化，回归变好也无法证明是谁起作用。</a:t>
            </a:r>
          </a:p>
          <a:p xmlns:a="http://schemas.openxmlformats.org/drawingml/2006/main">
            <a:r>
              <a:t>再讲机制：按根因只改责任对象，锁定 SOP、Checklist 和用户批次，返回第 3 步同尺重放。</a:t>
            </a:r>
          </a:p>
          <a:p xmlns:a="http://schemas.openxmlformats.org/drawingml/2006/main">
            <a:r>
              <a:t>收尾：EvalCall 交付的不是另一张排行榜，而是一套可测试、可归责、可回归的上线质量基础设施。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88a900881344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e508e65360485c" /><Relationship Type="http://schemas.openxmlformats.org/officeDocument/2006/relationships/slideLayout" Target="/ppt/slideLayouts/slideLayout1.xml" Id="R844a27c395bc4d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4a27c395bc4d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a01a1b614534" /><Relationship Type="http://schemas.openxmlformats.org/officeDocument/2006/relationships/image" Target="/ppt/media/image.png" Id="R8fde023e631849dd" /><Relationship Type="http://schemas.openxmlformats.org/officeDocument/2006/relationships/notesSlide" Target="/ppt/notesSlides/notesSlide1.xml" Id="Rb5aa47a3cc344a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8ab3a65404a13" /><Relationship Type="http://schemas.openxmlformats.org/officeDocument/2006/relationships/notesSlide" Target="/ppt/notesSlides/notesSlide2.xml" Id="R41ae5ad1ebe64a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99dc9ec8944a8" /><Relationship Type="http://schemas.openxmlformats.org/officeDocument/2006/relationships/hyperlink" Target="https://kaijie0074-art.github.io/evalcall/live.html?access=evalcall-final-20260716-4c9a7e2d8f1b6a03c5d7e9f2b4a6810d" TargetMode="External" Id="Rf667beebe14f4e5c" /><Relationship Type="http://schemas.openxmlformats.org/officeDocument/2006/relationships/hyperlink" Target="https://kaijie0074-art.github.io/evalcall/app.html" TargetMode="External" Id="Rf70e0b62d9364fc9" /><Relationship Type="http://schemas.openxmlformats.org/officeDocument/2006/relationships/notesSlide" Target="/ppt/notesSlides/notesSlide3.xml" Id="Ree153a9e534641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1009b24e3e4176" /><Relationship Type="http://schemas.openxmlformats.org/officeDocument/2006/relationships/image" Target="/ppt/media/image2.png" Id="R01cd5a33f4b94c95" /><Relationship Type="http://schemas.openxmlformats.org/officeDocument/2006/relationships/hyperlink" Target="https://kaijie0074-art.github.io/evalcall/live.html?access=evalcall-final-20260716-4c9a7e2d8f1b6a03c5d7e9f2b4a6810d" TargetMode="External" Id="Rfe1f8d2ad3664188" /><Relationship Type="http://schemas.openxmlformats.org/officeDocument/2006/relationships/hyperlink" Target="https://kaijie0074-art.github.io/evalcall/app.html" TargetMode="External" Id="Rdfd34c3ae79a4460" /><Relationship Type="http://schemas.openxmlformats.org/officeDocument/2006/relationships/notesSlide" Target="/ppt/notesSlides/notesSlide4.xml" Id="Re531638377bb4d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3a45321fa043c8" /><Relationship Type="http://schemas.openxmlformats.org/officeDocument/2006/relationships/image" Target="/ppt/media/image3.png" Id="R3fe1064bd83f4af7" /><Relationship Type="http://schemas.openxmlformats.org/officeDocument/2006/relationships/hyperlink" Target="https://kaijie0074-art.github.io/evalcall/live.html?access=evalcall-final-20260716-4c9a7e2d8f1b6a03c5d7e9f2b4a6810d" TargetMode="External" Id="R322533cfccbd4dce" /><Relationship Type="http://schemas.openxmlformats.org/officeDocument/2006/relationships/hyperlink" Target="https://kaijie0074-art.github.io/evalcall/app.html" TargetMode="External" Id="R21edcde5a4904598" /><Relationship Type="http://schemas.openxmlformats.org/officeDocument/2006/relationships/notesSlide" Target="/ppt/notesSlides/notesSlide5.xml" Id="Reb56fdcc66c64a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e6e8eed0542ba" /><Relationship Type="http://schemas.openxmlformats.org/officeDocument/2006/relationships/image" Target="/ppt/media/image4.png" Id="R4b21587e42904222" /><Relationship Type="http://schemas.openxmlformats.org/officeDocument/2006/relationships/hyperlink" Target="https://kaijie0074-art.github.io/evalcall/live.html?access=evalcall-final-20260716-4c9a7e2d8f1b6a03c5d7e9f2b4a6810d" TargetMode="External" Id="Rd6190458e5af44dc" /><Relationship Type="http://schemas.openxmlformats.org/officeDocument/2006/relationships/hyperlink" Target="https://kaijie0074-art.github.io/evalcall/app.html" TargetMode="External" Id="R0b305e3a67cf4b9b" /><Relationship Type="http://schemas.openxmlformats.org/officeDocument/2006/relationships/notesSlide" Target="/ppt/notesSlides/notesSlide6.xml" Id="R8ca340a2824641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382d5af84174" /><Relationship Type="http://schemas.openxmlformats.org/officeDocument/2006/relationships/image" Target="/ppt/media/image5.png" Id="R22d60cd08c5646aa" /><Relationship Type="http://schemas.openxmlformats.org/officeDocument/2006/relationships/hyperlink" Target="https://kaijie0074-art.github.io/evalcall/live.html?access=evalcall-final-20260716-4c9a7e2d8f1b6a03c5d7e9f2b4a6810d" TargetMode="External" Id="R03303ae739da4743" /><Relationship Type="http://schemas.openxmlformats.org/officeDocument/2006/relationships/hyperlink" Target="https://kaijie0074-art.github.io/evalcall/app.html" TargetMode="External" Id="R987213c3eae54a6f" /><Relationship Type="http://schemas.openxmlformats.org/officeDocument/2006/relationships/notesSlide" Target="/ppt/notesSlides/notesSlide7.xml" Id="Rf767b8a7d1d247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971fe9ccb48c7" /><Relationship Type="http://schemas.openxmlformats.org/officeDocument/2006/relationships/image" Target="/ppt/media/image6.png" Id="R93ee6c1fbc754254" /><Relationship Type="http://schemas.openxmlformats.org/officeDocument/2006/relationships/hyperlink" Target="https://kaijie0074-art.github.io/evalcall/live.html?access=evalcall-final-20260716-4c9a7e2d8f1b6a03c5d7e9f2b4a6810d" TargetMode="External" Id="R0aca70c6f8e34ec7" /><Relationship Type="http://schemas.openxmlformats.org/officeDocument/2006/relationships/hyperlink" Target="https://kaijie0074-art.github.io/evalcall/app.html" TargetMode="External" Id="R116f25c1455243fc" /><Relationship Type="http://schemas.openxmlformats.org/officeDocument/2006/relationships/notesSlide" Target="/ppt/notesSlides/notesSlide8.xml" Id="R2efa4947c4cd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c647221af499b" /><Relationship Type="http://schemas.openxmlformats.org/officeDocument/2006/relationships/image" Target="/ppt/media/image5.png" Id="R12d71c291de74625" /><Relationship Type="http://schemas.openxmlformats.org/officeDocument/2006/relationships/hyperlink" Target="https://kaijie0074-art.github.io/evalcall/live.html?access=evalcall-final-20260716-4c9a7e2d8f1b6a03c5d7e9f2b4a6810d" TargetMode="External" Id="Rd5ae7edf3fd4475d" /><Relationship Type="http://schemas.openxmlformats.org/officeDocument/2006/relationships/hyperlink" Target="https://kaijie0074-art.github.io/evalcall/app.html" TargetMode="External" Id="Ra5e6f9c5a8644988" /><Relationship Type="http://schemas.openxmlformats.org/officeDocument/2006/relationships/notesSlide" Target="/ppt/notesSlides/notesSlide9.xml" Id="Rbc19d73c924540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de023e631849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F4816FD2-B8C3-4D5A-970F-955CAB3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A90"/>
                </a:solidFill>
              </a:defRPr>
            </a:pPr>
            <a:r>
              <a:rPr sz="1050" b="1">
                <a:solidFill>
                  <a:srgbClr val="6E7A90"/>
                </a:solidFill>
              </a:rPr>
              <a:t>EVALCALL · 问题定义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0D877AD-E85C-4F42-9556-3A4596FD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11C31"/>
                </a:solidFill>
              </a:defRPr>
            </a:pPr>
            <a:r>
              <a:rPr sz="3000" b="1">
                <a:solidFill>
                  <a:srgbClr val="111C31"/>
                </a:solidFill>
              </a:rPr>
              <a:t>模型外呼的过程中，到底会遇到什么问题呢？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223B97-650A-4B60-8FA9-B62F895D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2397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ttention-prefix">
            <a:extLst xmlns:a="http://schemas.openxmlformats.org/drawingml/2006/main">
              <a:ext uri="{FF2B5EF4-FFF2-40B4-BE49-F238E27FC236}">
                <a16:creationId xmlns:a16="http://schemas.microsoft.com/office/drawing/2014/main" id="{CD6317AB-3534-431D-BD13-B67C356D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4382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D2B46"/>
                </a:solidFill>
              </a:defRPr>
            </a:pPr>
            <a:r>
              <a:rPr sz="1350" b="1">
                <a:solidFill>
                  <a:srgbClr val="1D2B46"/>
                </a:solidFill>
              </a:rPr>
              <a:t>一通外呼，居然同时面对</a:t>
            </a:r>
          </a:p>
        </p:txBody>
      </p:sp>
      <p:sp>
        <p:nvSpPr>
          <p:cNvPr id="5" name="attention-five">
            <a:extLst xmlns:a="http://schemas.openxmlformats.org/drawingml/2006/main">
              <a:ext uri="{FF2B5EF4-FFF2-40B4-BE49-F238E27FC236}">
                <a16:creationId xmlns:a16="http://schemas.microsoft.com/office/drawing/2014/main" id="{FD0764E3-298C-485C-93CF-D54FC47C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43025"/>
            <a:ext cx="45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C48800"/>
                </a:solidFill>
              </a:defRPr>
            </a:pPr>
            <a:r>
              <a:rPr sz="2850" b="1">
                <a:solidFill>
                  <a:srgbClr val="C48800"/>
                </a:solidFill>
              </a:rPr>
              <a:t>5</a:t>
            </a:r>
          </a:p>
        </p:txBody>
      </p:sp>
      <p:sp>
        <p:nvSpPr>
          <p:cNvPr id="6" name="attention-suffix">
            <a:extLst xmlns:a="http://schemas.openxmlformats.org/drawingml/2006/main">
              <a:ext uri="{FF2B5EF4-FFF2-40B4-BE49-F238E27FC236}">
                <a16:creationId xmlns:a16="http://schemas.microsoft.com/office/drawing/2014/main" id="{FE2C0260-9715-4B95-9738-AA7BE962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3827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2B46"/>
                </a:solidFill>
              </a:defRPr>
            </a:pPr>
            <a:r>
              <a:rPr sz="1350" b="1">
                <a:solidFill>
                  <a:srgbClr val="1D2B46"/>
                </a:solidFill>
              </a:rPr>
              <a:t>类问题</a:t>
            </a:r>
          </a:p>
        </p:txBody>
      </p:sp>
      <p:sp>
        <p:nvSpPr>
          <p:cNvPr id="7" name="attention-underline">
            <a:extLst xmlns:a="http://schemas.openxmlformats.org/drawingml/2006/main">
              <a:ext uri="{FF2B5EF4-FFF2-40B4-BE49-F238E27FC236}">
                <a16:creationId xmlns:a16="http://schemas.microsoft.com/office/drawing/2014/main" id="{A3C42C4C-9F16-46BA-9FF5-509140D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90700"/>
            <a:ext cx="12382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shadow-01">
            <a:extLst xmlns:a="http://schemas.openxmlformats.org/drawingml/2006/main">
              <a:ext uri="{FF2B5EF4-FFF2-40B4-BE49-F238E27FC236}">
                <a16:creationId xmlns:a16="http://schemas.microsoft.com/office/drawing/2014/main" id="{D913C4E8-4066-4289-86C6-5E6730DA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383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01">
            <a:extLst xmlns:a="http://schemas.openxmlformats.org/drawingml/2006/main">
              <a:ext uri="{FF2B5EF4-FFF2-40B4-BE49-F238E27FC236}">
                <a16:creationId xmlns:a16="http://schemas.microsoft.com/office/drawing/2014/main" id="{8DFB3E88-3A1C-441C-85C3-82E89A47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bg-01">
            <a:extLst xmlns:a="http://schemas.openxmlformats.org/drawingml/2006/main">
              <a:ext uri="{FF2B5EF4-FFF2-40B4-BE49-F238E27FC236}">
                <a16:creationId xmlns:a16="http://schemas.microsoft.com/office/drawing/2014/main" id="{D2442FE0-F2EE-4E84-BC54-33BBA050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095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number-01">
            <a:extLst xmlns:a="http://schemas.openxmlformats.org/drawingml/2006/main">
              <a:ext uri="{FF2B5EF4-FFF2-40B4-BE49-F238E27FC236}">
                <a16:creationId xmlns:a16="http://schemas.microsoft.com/office/drawing/2014/main" id="{1B9E8D55-3102-40B4-B3BB-38DD174E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card-title-01">
            <a:extLst xmlns:a="http://schemas.openxmlformats.org/drawingml/2006/main">
              <a:ext uri="{FF2B5EF4-FFF2-40B4-BE49-F238E27FC236}">
                <a16:creationId xmlns:a16="http://schemas.microsoft.com/office/drawing/2014/main" id="{D10C6C7C-ED9B-49B8-863C-42D1F216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14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C31"/>
                </a:solidFill>
              </a:defRPr>
            </a:pPr>
            <a:r>
              <a:rPr sz="1275" b="1">
                <a:solidFill>
                  <a:srgbClr val="111C31"/>
                </a:solidFill>
              </a:rPr>
              <a:t>指令太复杂，模型容易漏步骤</a:t>
            </a:r>
          </a:p>
        </p:txBody>
      </p:sp>
      <p:sp>
        <p:nvSpPr>
          <p:cNvPr id="13" name="card-divider-01">
            <a:extLst xmlns:a="http://schemas.openxmlformats.org/drawingml/2006/main">
              <a:ext uri="{FF2B5EF4-FFF2-40B4-BE49-F238E27FC236}">
                <a16:creationId xmlns:a16="http://schemas.microsoft.com/office/drawing/2014/main" id="{67BC3786-D93A-40C0-B09A-65C137F1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body-01">
            <a:extLst xmlns:a="http://schemas.openxmlformats.org/drawingml/2006/main">
              <a:ext uri="{FF2B5EF4-FFF2-40B4-BE49-F238E27FC236}">
                <a16:creationId xmlns:a16="http://schemas.microsoft.com/office/drawing/2014/main" id="{7C30EEAD-C2C6-42E3-95C6-C420F310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308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D2B46"/>
                </a:solidFill>
              </a:defRPr>
            </a:pPr>
            <a:r>
              <a:rPr sz="1013" b="0">
                <a:solidFill>
                  <a:srgbClr val="1D2B46"/>
                </a:solidFill>
              </a:rPr>
              <a:t>多流程、多约束、多分支同时存在</a:t>
            </a:r>
          </a:p>
        </p:txBody>
      </p:sp>
      <p:sp>
        <p:nvSpPr>
          <p:cNvPr id="15" name="card-shadow-02">
            <a:extLst xmlns:a="http://schemas.openxmlformats.org/drawingml/2006/main">
              <a:ext uri="{FF2B5EF4-FFF2-40B4-BE49-F238E27FC236}">
                <a16:creationId xmlns:a16="http://schemas.microsoft.com/office/drawing/2014/main" id="{BD636BEE-D50E-444B-BD28-63CF7112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383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ard-02">
            <a:extLst xmlns:a="http://schemas.openxmlformats.org/drawingml/2006/main">
              <a:ext uri="{FF2B5EF4-FFF2-40B4-BE49-F238E27FC236}">
                <a16:creationId xmlns:a16="http://schemas.microsoft.com/office/drawing/2014/main" id="{4AE5D099-E9E3-46F3-889B-08F2318D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71675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number-bg-02">
            <a:extLst xmlns:a="http://schemas.openxmlformats.org/drawingml/2006/main">
              <a:ext uri="{FF2B5EF4-FFF2-40B4-BE49-F238E27FC236}">
                <a16:creationId xmlns:a16="http://schemas.microsoft.com/office/drawing/2014/main" id="{E9118604-08B1-4544-BD42-76C4C5CF5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4095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02">
            <a:extLst xmlns:a="http://schemas.openxmlformats.org/drawingml/2006/main">
              <a:ext uri="{FF2B5EF4-FFF2-40B4-BE49-F238E27FC236}">
                <a16:creationId xmlns:a16="http://schemas.microsoft.com/office/drawing/2014/main" id="{8DFBC85C-D4A6-4CDD-97A3-5821581A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336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9" name="card-title-02">
            <a:extLst xmlns:a="http://schemas.openxmlformats.org/drawingml/2006/main">
              <a:ext uri="{FF2B5EF4-FFF2-40B4-BE49-F238E27FC236}">
                <a16:creationId xmlns:a16="http://schemas.microsoft.com/office/drawing/2014/main" id="{32C3BD0C-7429-4D79-9AC3-8BF4BDB0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C31"/>
                </a:solidFill>
              </a:defRPr>
            </a:pPr>
            <a:r>
              <a:rPr sz="1275" b="1">
                <a:solidFill>
                  <a:srgbClr val="111C31"/>
                </a:solidFill>
              </a:rPr>
              <a:t>隐私与合规存在一票否决红线</a:t>
            </a:r>
          </a:p>
        </p:txBody>
      </p:sp>
      <p:sp>
        <p:nvSpPr>
          <p:cNvPr id="20" name="card-divider-02">
            <a:extLst xmlns:a="http://schemas.openxmlformats.org/drawingml/2006/main">
              <a:ext uri="{FF2B5EF4-FFF2-40B4-BE49-F238E27FC236}">
                <a16:creationId xmlns:a16="http://schemas.microsoft.com/office/drawing/2014/main" id="{5623FCB2-FB7A-4AE6-B8AC-E647BAF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95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body-02">
            <a:extLst xmlns:a="http://schemas.openxmlformats.org/drawingml/2006/main">
              <a:ext uri="{FF2B5EF4-FFF2-40B4-BE49-F238E27FC236}">
                <a16:creationId xmlns:a16="http://schemas.microsoft.com/office/drawing/2014/main" id="{7C054AA8-43D1-498B-A558-FC77FBD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81275"/>
            <a:ext cx="308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D2B46"/>
                </a:solidFill>
              </a:defRPr>
            </a:pPr>
            <a:r>
              <a:rPr sz="1013" b="0">
                <a:solidFill>
                  <a:srgbClr val="1D2B46"/>
                </a:solidFill>
              </a:rPr>
              <a:t>一次敏感信息或承诺错误，版本就不能上线</a:t>
            </a:r>
          </a:p>
        </p:txBody>
      </p:sp>
      <p:sp>
        <p:nvSpPr>
          <p:cNvPr id="22" name="card-shadow-03">
            <a:extLst xmlns:a="http://schemas.openxmlformats.org/drawingml/2006/main">
              <a:ext uri="{FF2B5EF4-FFF2-40B4-BE49-F238E27FC236}">
                <a16:creationId xmlns:a16="http://schemas.microsoft.com/office/drawing/2014/main" id="{C6B698AC-8EFE-4095-8BC0-84D71CF2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0383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ard-03">
            <a:extLst xmlns:a="http://schemas.openxmlformats.org/drawingml/2006/main">
              <a:ext uri="{FF2B5EF4-FFF2-40B4-BE49-F238E27FC236}">
                <a16:creationId xmlns:a16="http://schemas.microsoft.com/office/drawing/2014/main" id="{A442D49A-E427-40E1-81D3-C9507FDC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ard-number-bg-03">
            <a:extLst xmlns:a="http://schemas.openxmlformats.org/drawingml/2006/main">
              <a:ext uri="{FF2B5EF4-FFF2-40B4-BE49-F238E27FC236}">
                <a16:creationId xmlns:a16="http://schemas.microsoft.com/office/drawing/2014/main" id="{C399F0CE-5FA3-4733-A8C8-A5E174AB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4095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number-03">
            <a:extLst xmlns:a="http://schemas.openxmlformats.org/drawingml/2006/main">
              <a:ext uri="{FF2B5EF4-FFF2-40B4-BE49-F238E27FC236}">
                <a16:creationId xmlns:a16="http://schemas.microsoft.com/office/drawing/2014/main" id="{FB9DC75F-5D02-4369-B203-366F86AA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33600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card-title-03">
            <a:extLst xmlns:a="http://schemas.openxmlformats.org/drawingml/2006/main">
              <a:ext uri="{FF2B5EF4-FFF2-40B4-BE49-F238E27FC236}">
                <a16:creationId xmlns:a16="http://schemas.microsoft.com/office/drawing/2014/main" id="{C85E9C0A-C6AB-49C7-9210-A68170D2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145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C31"/>
                </a:solidFill>
              </a:defRPr>
            </a:pPr>
            <a:r>
              <a:rPr sz="1275" b="1">
                <a:solidFill>
                  <a:srgbClr val="111C31"/>
                </a:solidFill>
              </a:rPr>
              <a:t>特定场景样本太少，风险测不到</a:t>
            </a:r>
          </a:p>
        </p:txBody>
      </p:sp>
      <p:sp>
        <p:nvSpPr>
          <p:cNvPr id="27" name="card-divider-03">
            <a:extLst xmlns:a="http://schemas.openxmlformats.org/drawingml/2006/main">
              <a:ext uri="{FF2B5EF4-FFF2-40B4-BE49-F238E27FC236}">
                <a16:creationId xmlns:a16="http://schemas.microsoft.com/office/drawing/2014/main" id="{AC323259-4CC9-4452-B236-1A531F54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95550"/>
            <a:ext cx="308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ard-body-03">
            <a:extLst xmlns:a="http://schemas.openxmlformats.org/drawingml/2006/main">
              <a:ext uri="{FF2B5EF4-FFF2-40B4-BE49-F238E27FC236}">
                <a16:creationId xmlns:a16="http://schemas.microsoft.com/office/drawing/2014/main" id="{D789FA31-6B06-47F7-A020-3FFD8F3B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30861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D2B46"/>
                </a:solidFill>
              </a:defRPr>
            </a:pPr>
            <a:r>
              <a:rPr sz="1013" b="0">
                <a:solidFill>
                  <a:srgbClr val="1D2B46"/>
                </a:solidFill>
              </a:rPr>
              <a:t>拒绝、打断、质疑等危险分支很难覆盖</a:t>
            </a:r>
          </a:p>
        </p:txBody>
      </p:sp>
      <p:sp>
        <p:nvSpPr>
          <p:cNvPr id="29" name="card-shadow-04">
            <a:extLst xmlns:a="http://schemas.openxmlformats.org/drawingml/2006/main">
              <a:ext uri="{FF2B5EF4-FFF2-40B4-BE49-F238E27FC236}">
                <a16:creationId xmlns:a16="http://schemas.microsoft.com/office/drawing/2014/main" id="{87DAAB3C-F297-4BDE-9DF1-AFE597EB1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305175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04">
            <a:extLst xmlns:a="http://schemas.openxmlformats.org/drawingml/2006/main">
              <a:ext uri="{FF2B5EF4-FFF2-40B4-BE49-F238E27FC236}">
                <a16:creationId xmlns:a16="http://schemas.microsoft.com/office/drawing/2014/main" id="{8EC24B3F-8614-4B75-8869-19E2A3C9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ard-number-bg-04">
            <a:extLst xmlns:a="http://schemas.openxmlformats.org/drawingml/2006/main">
              <a:ext uri="{FF2B5EF4-FFF2-40B4-BE49-F238E27FC236}">
                <a16:creationId xmlns:a16="http://schemas.microsoft.com/office/drawing/2014/main" id="{D929FF38-BE97-4E3E-B5CA-CDD0F10D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0425"/>
            <a:ext cx="4095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ard-number-04">
            <a:extLst xmlns:a="http://schemas.openxmlformats.org/drawingml/2006/main">
              <a:ext uri="{FF2B5EF4-FFF2-40B4-BE49-F238E27FC236}">
                <a16:creationId xmlns:a16="http://schemas.microsoft.com/office/drawing/2014/main" id="{1B03EADF-078C-4B7A-A3FE-09124B25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00425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3" name="card-title-04">
            <a:extLst xmlns:a="http://schemas.openxmlformats.org/drawingml/2006/main">
              <a:ext uri="{FF2B5EF4-FFF2-40B4-BE49-F238E27FC236}">
                <a16:creationId xmlns:a16="http://schemas.microsoft.com/office/drawing/2014/main" id="{8570E9E5-A3E2-4652-8FBE-8DD5669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81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C31"/>
                </a:solidFill>
              </a:defRPr>
            </a:pPr>
            <a:r>
              <a:rPr sz="1275" b="1">
                <a:solidFill>
                  <a:srgbClr val="111C31"/>
                </a:solidFill>
              </a:rPr>
              <a:t>人工质检成本高，无法规模化</a:t>
            </a:r>
          </a:p>
        </p:txBody>
      </p:sp>
      <p:sp>
        <p:nvSpPr>
          <p:cNvPr id="34" name="card-divider-04">
            <a:extLst xmlns:a="http://schemas.openxmlformats.org/drawingml/2006/main">
              <a:ext uri="{FF2B5EF4-FFF2-40B4-BE49-F238E27FC236}">
                <a16:creationId xmlns:a16="http://schemas.microsoft.com/office/drawing/2014/main" id="{63BFE156-96EC-42CA-BAA5-B1AEACBA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76237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ard-body-04">
            <a:extLst xmlns:a="http://schemas.openxmlformats.org/drawingml/2006/main">
              <a:ext uri="{FF2B5EF4-FFF2-40B4-BE49-F238E27FC236}">
                <a16:creationId xmlns:a16="http://schemas.microsoft.com/office/drawing/2014/main" id="{8AAF60F1-47ED-4CA1-AC52-88D06892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48100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D2B46"/>
                </a:solidFill>
              </a:defRPr>
            </a:pPr>
            <a:r>
              <a:rPr sz="1013" b="0">
                <a:solidFill>
                  <a:srgbClr val="1D2B46"/>
                </a:solidFill>
              </a:rPr>
              <a:t>抽听慢、标准不一，跟不上模型快速迭代</a:t>
            </a:r>
          </a:p>
        </p:txBody>
      </p:sp>
      <p:sp>
        <p:nvSpPr>
          <p:cNvPr id="36" name="card-shadow-05">
            <a:extLst xmlns:a="http://schemas.openxmlformats.org/drawingml/2006/main">
              <a:ext uri="{FF2B5EF4-FFF2-40B4-BE49-F238E27FC236}">
                <a16:creationId xmlns:a16="http://schemas.microsoft.com/office/drawing/2014/main" id="{0CCB4E24-7DDC-4BA7-BD67-C751187B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05175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ard-05">
            <a:extLst xmlns:a="http://schemas.openxmlformats.org/drawingml/2006/main">
              <a:ext uri="{FF2B5EF4-FFF2-40B4-BE49-F238E27FC236}">
                <a16:creationId xmlns:a16="http://schemas.microsoft.com/office/drawing/2014/main" id="{6346097A-5949-4987-84DE-40795262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35242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bg-05">
            <a:extLst xmlns:a="http://schemas.openxmlformats.org/drawingml/2006/main">
              <a:ext uri="{FF2B5EF4-FFF2-40B4-BE49-F238E27FC236}">
                <a16:creationId xmlns:a16="http://schemas.microsoft.com/office/drawing/2014/main" id="{9E654997-C641-4AFC-A08B-7E5B680A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409575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ard-number-05">
            <a:extLst xmlns:a="http://schemas.openxmlformats.org/drawingml/2006/main">
              <a:ext uri="{FF2B5EF4-FFF2-40B4-BE49-F238E27FC236}">
                <a16:creationId xmlns:a16="http://schemas.microsoft.com/office/drawing/2014/main" id="{3C9ED50C-30AD-49FA-9937-78CEAAFA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4095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0" name="card-title-05">
            <a:extLst xmlns:a="http://schemas.openxmlformats.org/drawingml/2006/main">
              <a:ext uri="{FF2B5EF4-FFF2-40B4-BE49-F238E27FC236}">
                <a16:creationId xmlns:a16="http://schemas.microsoft.com/office/drawing/2014/main" id="{D3640DAA-7FFD-4957-9FE3-09AC9561C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8137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11C31"/>
                </a:solidFill>
              </a:defRPr>
            </a:pPr>
            <a:r>
              <a:rPr sz="1275" b="1">
                <a:solidFill>
                  <a:srgbClr val="111C31"/>
                </a:solidFill>
              </a:rPr>
              <a:t>出错后无法正确归因</a:t>
            </a:r>
          </a:p>
        </p:txBody>
      </p:sp>
      <p:sp>
        <p:nvSpPr>
          <p:cNvPr id="41" name="card-divider-05">
            <a:extLst xmlns:a="http://schemas.openxmlformats.org/drawingml/2006/main">
              <a:ext uri="{FF2B5EF4-FFF2-40B4-BE49-F238E27FC236}">
                <a16:creationId xmlns:a16="http://schemas.microsoft.com/office/drawing/2014/main" id="{4A1A3DCD-692A-41B5-A987-C16ACE28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62375"/>
            <a:ext cx="3181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F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ard-body-05">
            <a:extLst xmlns:a="http://schemas.openxmlformats.org/drawingml/2006/main">
              <a:ext uri="{FF2B5EF4-FFF2-40B4-BE49-F238E27FC236}">
                <a16:creationId xmlns:a16="http://schemas.microsoft.com/office/drawing/2014/main" id="{2DAF6F93-3EB8-4BDA-BFB7-6CE11B6B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1D2B46"/>
                </a:solidFill>
              </a:defRPr>
            </a:pPr>
            <a:r>
              <a:rPr sz="1013" b="0">
                <a:solidFill>
                  <a:srgbClr val="1D2B46"/>
                </a:solidFill>
              </a:rPr>
              <a:t>问题可能来自模型、SOP、裁判或测试数据</a:t>
            </a:r>
          </a:p>
        </p:txBody>
      </p:sp>
      <p:sp>
        <p:nvSpPr>
          <p:cNvPr id="43" name="bottom-rule">
            <a:extLst xmlns:a="http://schemas.openxmlformats.org/drawingml/2006/main">
              <a:ext uri="{FF2B5EF4-FFF2-40B4-BE49-F238E27FC236}">
                <a16:creationId xmlns:a16="http://schemas.microsoft.com/office/drawing/2014/main" id="{ABDECBF0-361C-42B8-B1ED-C8323CF8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olution-question">
            <a:extLst xmlns:a="http://schemas.openxmlformats.org/drawingml/2006/main">
              <a:ext uri="{FF2B5EF4-FFF2-40B4-BE49-F238E27FC236}">
                <a16:creationId xmlns:a16="http://schemas.microsoft.com/office/drawing/2014/main" id="{D40B7995-D5E7-4BBB-9D7B-ADC727234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C31"/>
                </a:solidFill>
              </a:defRPr>
            </a:pPr>
            <a:r>
              <a:rPr sz="2325" b="1">
                <a:solidFill>
                  <a:srgbClr val="111C31"/>
                </a:solidFill>
              </a:rPr>
              <a:t>那，该怎么解决呢？</a:t>
            </a:r>
          </a:p>
        </p:txBody>
      </p:sp>
      <p:sp>
        <p:nvSpPr>
          <p:cNvPr id="45" name="answer-accent">
            <a:extLst xmlns:a="http://schemas.openxmlformats.org/drawingml/2006/main">
              <a:ext uri="{FF2B5EF4-FFF2-40B4-BE49-F238E27FC236}">
                <a16:creationId xmlns:a16="http://schemas.microsoft.com/office/drawing/2014/main" id="{F9C57A2B-380A-4D23-8033-EDD2D3FE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762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olution-answer">
            <a:extLst xmlns:a="http://schemas.openxmlformats.org/drawingml/2006/main">
              <a:ext uri="{FF2B5EF4-FFF2-40B4-BE49-F238E27FC236}">
                <a16:creationId xmlns:a16="http://schemas.microsoft.com/office/drawing/2014/main" id="{EEC27566-8669-41A2-A510-1921F92E9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877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C48800"/>
                </a:solidFill>
              </a:defRPr>
            </a:pPr>
            <a:r>
              <a:rPr sz="2025" b="1">
                <a:solidFill>
                  <a:srgbClr val="C48800"/>
                </a:solidFill>
              </a:rPr>
              <a:t>答案是：建立一套能够主动测试、统一判断、准确归因并持续回归的自动评测流程。</a:t>
            </a:r>
          </a:p>
        </p:txBody>
      </p:sp>
      <p:sp>
        <p:nvSpPr>
          <p:cNvPr id="47" name="answer-underline">
            <a:extLst xmlns:a="http://schemas.openxmlformats.org/drawingml/2006/main">
              <a:ext uri="{FF2B5EF4-FFF2-40B4-BE49-F238E27FC236}">
                <a16:creationId xmlns:a16="http://schemas.microsoft.com/office/drawing/2014/main" id="{14E5AB82-30BB-4AC3-9FB5-4404062A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38825"/>
            <a:ext cx="60960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age">
            <a:extLst xmlns:a="http://schemas.openxmlformats.org/drawingml/2006/main">
              <a:ext uri="{FF2B5EF4-FFF2-40B4-BE49-F238E27FC236}">
                <a16:creationId xmlns:a16="http://schemas.microsoft.com/office/drawing/2014/main" id="{74E667C8-970F-494D-9C4A-8D9A9831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A90"/>
                </a:solidFill>
              </a:defRPr>
            </a:pPr>
            <a:r>
              <a:rPr sz="750" b="0">
                <a:solidFill>
                  <a:srgbClr val="6E7A9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live-demo-link-1">
            <a:extLst xmlns:a="http://schemas.openxmlformats.org/drawingml/2006/main">
              <a:ext uri="{FF2B5EF4-FFF2-40B4-BE49-F238E27FC236}">
                <a16:creationId xmlns:a16="http://schemas.microsoft.com/office/drawing/2014/main" id="{40AEA778-D098-42AA-9C4B-6F7D4059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667beebe14f4e5c"/>
              </a:rPr>
              <a:t>▶ 在线 Demo</a:t>
            </a:r>
          </a:p>
        </p:txBody>
      </p:sp>
      <p:sp>
        <p:nvSpPr>
          <p:cNvPr id="34" name="public-demo-link-1">
            <a:extLst xmlns:a="http://schemas.openxmlformats.org/drawingml/2006/main">
              <a:ext uri="{FF2B5EF4-FFF2-40B4-BE49-F238E27FC236}">
                <a16:creationId xmlns:a16="http://schemas.microsoft.com/office/drawing/2014/main" id="{00C861CC-9BCF-4D46-AB6E-57BFA80C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70e0b62d9364fc9"/>
              </a:rPr>
              <a:t>结果备份 ↗</a:t>
            </a:r>
          </a:p>
        </p:txBody>
      </p:sp>
      <p:sp>
        <p:nvSpPr>
          <p:cNvPr id="35" name="kicker">
            <a:extLst xmlns:a="http://schemas.openxmlformats.org/drawingml/2006/main">
              <a:ext uri="{FF2B5EF4-FFF2-40B4-BE49-F238E27FC236}">
                <a16:creationId xmlns:a16="http://schemas.microsoft.com/office/drawing/2014/main" id="{E4EA4601-0682-4B94-A3C5-0C99A0C7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6E7A90"/>
                </a:solidFill>
              </a:defRPr>
            </a:pPr>
            <a:r>
              <a:rPr sz="1050" b="1">
                <a:solidFill>
                  <a:srgbClr val="6E7A90"/>
                </a:solidFill>
              </a:rPr>
              <a:t>EVALCALL · 六步自我评测迭代系统</a:t>
            </a:r>
          </a:p>
        </p:txBody>
      </p:sp>
      <p:sp>
        <p:nvSpPr>
          <p:cNvPr id="36" name="title">
            <a:extLst xmlns:a="http://schemas.openxmlformats.org/drawingml/2006/main">
              <a:ext uri="{FF2B5EF4-FFF2-40B4-BE49-F238E27FC236}">
                <a16:creationId xmlns:a16="http://schemas.microsoft.com/office/drawing/2014/main" id="{974D7CE7-BF20-4DD4-97A9-44721BC7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C31"/>
                </a:solidFill>
              </a:defRPr>
            </a:pPr>
            <a:r>
              <a:rPr sz="2850" b="1">
                <a:solidFill>
                  <a:srgbClr val="111C31"/>
                </a:solidFill>
              </a:rPr>
              <a:t>为了解决刚刚出现的问题，设计的六步自我评测迭代系统</a:t>
            </a:r>
          </a:p>
        </p:txBody>
      </p:sp>
      <p:sp>
        <p:nvSpPr>
          <p:cNvPr id="37" name="title-rule">
            <a:extLst xmlns:a="http://schemas.openxmlformats.org/drawingml/2006/main">
              <a:ext uri="{FF2B5EF4-FFF2-40B4-BE49-F238E27FC236}">
                <a16:creationId xmlns:a16="http://schemas.microsoft.com/office/drawing/2014/main" id="{98E0F8BE-E8DF-45A7-B8AB-B7C7F2D9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arrow-1-2">
            <a:extLst xmlns:a="http://schemas.openxmlformats.org/drawingml/2006/main">
              <a:ext uri="{FF2B5EF4-FFF2-40B4-BE49-F238E27FC236}">
                <a16:creationId xmlns:a16="http://schemas.microsoft.com/office/drawing/2014/main" id="{E1D9927E-5286-4280-B4D5-F405C26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43150"/>
            <a:ext cx="2457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arrow-2-3">
            <a:extLst xmlns:a="http://schemas.openxmlformats.org/drawingml/2006/main">
              <a:ext uri="{FF2B5EF4-FFF2-40B4-BE49-F238E27FC236}">
                <a16:creationId xmlns:a16="http://schemas.microsoft.com/office/drawing/2014/main" id="{8AC199E6-39C1-4A20-B37E-692666FE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43150"/>
            <a:ext cx="2457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arrow-3-4">
            <a:extLst xmlns:a="http://schemas.openxmlformats.org/drawingml/2006/main">
              <a:ext uri="{FF2B5EF4-FFF2-40B4-BE49-F238E27FC236}">
                <a16:creationId xmlns:a16="http://schemas.microsoft.com/office/drawing/2014/main" id="{DFA1DE85-0313-496F-AA0D-57A4477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086100"/>
            <a:ext cx="228600" cy="5905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rrow-4-5">
            <a:extLst xmlns:a="http://schemas.openxmlformats.org/drawingml/2006/main">
              <a:ext uri="{FF2B5EF4-FFF2-40B4-BE49-F238E27FC236}">
                <a16:creationId xmlns:a16="http://schemas.microsoft.com/office/drawing/2014/main" id="{3501520E-4E46-4E67-B560-77F095EE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86250"/>
            <a:ext cx="24574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rrow-5-6">
            <a:extLst xmlns:a="http://schemas.openxmlformats.org/drawingml/2006/main">
              <a:ext uri="{FF2B5EF4-FFF2-40B4-BE49-F238E27FC236}">
                <a16:creationId xmlns:a16="http://schemas.microsoft.com/office/drawing/2014/main" id="{7D0EB317-95CE-419F-BBD8-98F655EE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86250"/>
            <a:ext cx="2457450" cy="1714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label-1-2">
            <a:extLst xmlns:a="http://schemas.openxmlformats.org/drawingml/2006/main">
              <a:ext uri="{FF2B5EF4-FFF2-40B4-BE49-F238E27FC236}">
                <a16:creationId xmlns:a16="http://schemas.microsoft.com/office/drawing/2014/main" id="{01C69AAF-2342-4C4D-A361-FB6E16CA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E7A90"/>
                </a:solidFill>
              </a:defRPr>
            </a:pPr>
            <a:r>
              <a:rPr sz="975" b="1">
                <a:solidFill>
                  <a:srgbClr val="6E7A90"/>
                </a:solidFill>
              </a:rPr>
              <a:t>冻结输入与版本</a:t>
            </a:r>
          </a:p>
        </p:txBody>
      </p:sp>
      <p:sp>
        <p:nvSpPr>
          <p:cNvPr id="44" name="label-2-3">
            <a:extLst xmlns:a="http://schemas.openxmlformats.org/drawingml/2006/main">
              <a:ext uri="{FF2B5EF4-FFF2-40B4-BE49-F238E27FC236}">
                <a16:creationId xmlns:a16="http://schemas.microsoft.com/office/drawing/2014/main" id="{602ACFEE-7594-43A0-8850-CEE34E2F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57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E7A90"/>
                </a:solidFill>
              </a:defRPr>
            </a:pPr>
            <a:r>
              <a:rPr sz="975" b="1">
                <a:solidFill>
                  <a:srgbClr val="6E7A90"/>
                </a:solidFill>
              </a:rPr>
              <a:t>编译成统一评分尺</a:t>
            </a:r>
          </a:p>
        </p:txBody>
      </p:sp>
      <p:sp>
        <p:nvSpPr>
          <p:cNvPr id="45" name="label-3-4">
            <a:extLst xmlns:a="http://schemas.openxmlformats.org/drawingml/2006/main">
              <a:ext uri="{FF2B5EF4-FFF2-40B4-BE49-F238E27FC236}">
                <a16:creationId xmlns:a16="http://schemas.microsoft.com/office/drawing/2014/main" id="{923FFD88-016C-4C7E-A581-3A49DC3E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219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E7A90"/>
                </a:solidFill>
              </a:defRPr>
            </a:pPr>
            <a:r>
              <a:rPr sz="975" b="1">
                <a:solidFill>
                  <a:srgbClr val="6E7A90"/>
                </a:solidFill>
              </a:rPr>
              <a:t>生成 / 导入对话</a:t>
            </a:r>
          </a:p>
        </p:txBody>
      </p:sp>
      <p:sp>
        <p:nvSpPr>
          <p:cNvPr id="46" name="label-4-5">
            <a:extLst xmlns:a="http://schemas.openxmlformats.org/drawingml/2006/main">
              <a:ext uri="{FF2B5EF4-FFF2-40B4-BE49-F238E27FC236}">
                <a16:creationId xmlns:a16="http://schemas.microsoft.com/office/drawing/2014/main" id="{BC28B85B-EDD5-4CDC-93B3-5AC2FDEF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529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E7A90"/>
                </a:solidFill>
              </a:defRPr>
            </a:pPr>
            <a:r>
              <a:rPr sz="975" b="1">
                <a:solidFill>
                  <a:srgbClr val="6E7A90"/>
                </a:solidFill>
              </a:rPr>
              <a:t>汇总门禁与证据</a:t>
            </a:r>
          </a:p>
        </p:txBody>
      </p:sp>
      <p:sp>
        <p:nvSpPr>
          <p:cNvPr id="47" name="label-5-6">
            <a:extLst xmlns:a="http://schemas.openxmlformats.org/drawingml/2006/main">
              <a:ext uri="{FF2B5EF4-FFF2-40B4-BE49-F238E27FC236}">
                <a16:creationId xmlns:a16="http://schemas.microsoft.com/office/drawing/2014/main" id="{F6E88536-54A3-4B0E-89D8-D1C7E91E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5529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6E7A90"/>
                </a:solidFill>
              </a:defRPr>
            </a:pPr>
            <a:r>
              <a:rPr sz="975" b="1">
                <a:solidFill>
                  <a:srgbClr val="6E7A90"/>
                </a:solidFill>
              </a:rPr>
              <a:t>比较信号，定位责任</a:t>
            </a:r>
          </a:p>
        </p:txBody>
      </p:sp>
      <p:sp>
        <p:nvSpPr>
          <p:cNvPr id="48" name="node-1">
            <a:extLst xmlns:a="http://schemas.openxmlformats.org/drawingml/2006/main">
              <a:ext uri="{FF2B5EF4-FFF2-40B4-BE49-F238E27FC236}">
                <a16:creationId xmlns:a16="http://schemas.microsoft.com/office/drawing/2014/main" id="{02382F0B-0C88-4EED-A2BD-FA6EE535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36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node-number-1">
            <a:extLst xmlns:a="http://schemas.openxmlformats.org/drawingml/2006/main">
              <a:ext uri="{FF2B5EF4-FFF2-40B4-BE49-F238E27FC236}">
                <a16:creationId xmlns:a16="http://schemas.microsoft.com/office/drawing/2014/main" id="{DD2D366C-3862-4AE8-9D66-FB892F55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33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0" name="node-title-1">
            <a:extLst xmlns:a="http://schemas.openxmlformats.org/drawingml/2006/main">
              <a:ext uri="{FF2B5EF4-FFF2-40B4-BE49-F238E27FC236}">
                <a16:creationId xmlns:a16="http://schemas.microsoft.com/office/drawing/2014/main" id="{11CF5C54-AB5E-4306-AAF8-F464B1A8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配置测试任务</a:t>
            </a:r>
          </a:p>
        </p:txBody>
      </p:sp>
      <p:sp>
        <p:nvSpPr>
          <p:cNvPr id="51" name="node-2">
            <a:extLst xmlns:a="http://schemas.openxmlformats.org/drawingml/2006/main">
              <a:ext uri="{FF2B5EF4-FFF2-40B4-BE49-F238E27FC236}">
                <a16:creationId xmlns:a16="http://schemas.microsoft.com/office/drawing/2014/main" id="{7FD16E6E-FFAB-4B64-8024-291C3229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336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node-number-2">
            <a:extLst xmlns:a="http://schemas.openxmlformats.org/drawingml/2006/main">
              <a:ext uri="{FF2B5EF4-FFF2-40B4-BE49-F238E27FC236}">
                <a16:creationId xmlns:a16="http://schemas.microsoft.com/office/drawing/2014/main" id="{353FAA51-7E37-40A5-92A5-C1DB9A55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33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53" name="node-title-2">
            <a:extLst xmlns:a="http://schemas.openxmlformats.org/drawingml/2006/main">
              <a:ext uri="{FF2B5EF4-FFF2-40B4-BE49-F238E27FC236}">
                <a16:creationId xmlns:a16="http://schemas.microsoft.com/office/drawing/2014/main" id="{CF81628D-7607-41B7-AD09-1B4E96E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19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建立评分标准</a:t>
            </a:r>
          </a:p>
        </p:txBody>
      </p:sp>
      <p:sp>
        <p:nvSpPr>
          <p:cNvPr id="54" name="node-3">
            <a:extLst xmlns:a="http://schemas.openxmlformats.org/drawingml/2006/main">
              <a:ext uri="{FF2B5EF4-FFF2-40B4-BE49-F238E27FC236}">
                <a16:creationId xmlns:a16="http://schemas.microsoft.com/office/drawing/2014/main" id="{DD1A01E4-A1F0-488A-B348-CE820547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node-number-3">
            <a:extLst xmlns:a="http://schemas.openxmlformats.org/drawingml/2006/main">
              <a:ext uri="{FF2B5EF4-FFF2-40B4-BE49-F238E27FC236}">
                <a16:creationId xmlns:a16="http://schemas.microsoft.com/office/drawing/2014/main" id="{C6AAF6E3-895F-476E-AF6B-84FEC995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6" name="node-title-3">
            <a:extLst xmlns:a="http://schemas.openxmlformats.org/drawingml/2006/main">
              <a:ext uri="{FF2B5EF4-FFF2-40B4-BE49-F238E27FC236}">
                <a16:creationId xmlns:a16="http://schemas.microsoft.com/office/drawing/2014/main" id="{A7F9E758-2EDC-4F10-A1E6-AE90FFA2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测试外呼模型</a:t>
            </a:r>
          </a:p>
        </p:txBody>
      </p:sp>
      <p:sp>
        <p:nvSpPr>
          <p:cNvPr id="57" name="node-4">
            <a:extLst xmlns:a="http://schemas.openxmlformats.org/drawingml/2006/main">
              <a:ext uri="{FF2B5EF4-FFF2-40B4-BE49-F238E27FC236}">
                <a16:creationId xmlns:a16="http://schemas.microsoft.com/office/drawing/2014/main" id="{E0D91AC4-85F2-4D9A-95AD-0C1CF784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node-number-4">
            <a:extLst xmlns:a="http://schemas.openxmlformats.org/drawingml/2006/main">
              <a:ext uri="{FF2B5EF4-FFF2-40B4-BE49-F238E27FC236}">
                <a16:creationId xmlns:a16="http://schemas.microsoft.com/office/drawing/2014/main" id="{63258A44-D205-4F25-A715-FB61F496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000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C31"/>
                </a:solidFill>
              </a:defRPr>
            </a:pPr>
            <a:r>
              <a:rPr sz="1950" b="1">
                <a:solidFill>
                  <a:srgbClr val="111C31"/>
                </a:solidFill>
              </a:rPr>
              <a:t>4</a:t>
            </a:r>
          </a:p>
        </p:txBody>
      </p:sp>
      <p:sp>
        <p:nvSpPr>
          <p:cNvPr id="59" name="node-title-4">
            <a:extLst xmlns:a="http://schemas.openxmlformats.org/drawingml/2006/main">
              <a:ext uri="{FF2B5EF4-FFF2-40B4-BE49-F238E27FC236}">
                <a16:creationId xmlns:a16="http://schemas.microsoft.com/office/drawing/2014/main" id="{F86759BB-574D-43F9-9C8E-C7044D49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863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输出模型评测报告</a:t>
            </a:r>
          </a:p>
        </p:txBody>
      </p:sp>
      <p:sp>
        <p:nvSpPr>
          <p:cNvPr id="60" name="node-5">
            <a:extLst xmlns:a="http://schemas.openxmlformats.org/drawingml/2006/main">
              <a:ext uri="{FF2B5EF4-FFF2-40B4-BE49-F238E27FC236}">
                <a16:creationId xmlns:a16="http://schemas.microsoft.com/office/drawing/2014/main" id="{F3B769D1-2794-4A05-9920-BF6D55EC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111C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node-number-5">
            <a:extLst xmlns:a="http://schemas.openxmlformats.org/drawingml/2006/main">
              <a:ext uri="{FF2B5EF4-FFF2-40B4-BE49-F238E27FC236}">
                <a16:creationId xmlns:a16="http://schemas.microsoft.com/office/drawing/2014/main" id="{882FA535-9930-4F88-8F68-FA0EBDCE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00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2" name="node-title-5">
            <a:extLst xmlns:a="http://schemas.openxmlformats.org/drawingml/2006/main">
              <a:ext uri="{FF2B5EF4-FFF2-40B4-BE49-F238E27FC236}">
                <a16:creationId xmlns:a16="http://schemas.microsoft.com/office/drawing/2014/main" id="{6B0D4D68-414E-4138-9E0F-331EB0A0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863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分析失败原因</a:t>
            </a:r>
          </a:p>
        </p:txBody>
      </p:sp>
      <p:sp>
        <p:nvSpPr>
          <p:cNvPr id="63" name="node-6">
            <a:extLst xmlns:a="http://schemas.openxmlformats.org/drawingml/2006/main">
              <a:ext uri="{FF2B5EF4-FFF2-40B4-BE49-F238E27FC236}">
                <a16:creationId xmlns:a16="http://schemas.microsoft.com/office/drawing/2014/main" id="{8BB69760-1426-4F04-8FAE-AD54F5C6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60960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node-number-6">
            <a:extLst xmlns:a="http://schemas.openxmlformats.org/drawingml/2006/main">
              <a:ext uri="{FF2B5EF4-FFF2-40B4-BE49-F238E27FC236}">
                <a16:creationId xmlns:a16="http://schemas.microsoft.com/office/drawing/2014/main" id="{7DC90F89-3B5D-4A9E-BBF9-C5682D3B3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C31"/>
                </a:solidFill>
              </a:defRPr>
            </a:pPr>
            <a:r>
              <a:rPr sz="1950" b="1">
                <a:solidFill>
                  <a:srgbClr val="111C31"/>
                </a:solidFill>
              </a:rPr>
              <a:t>6</a:t>
            </a:r>
          </a:p>
        </p:txBody>
      </p:sp>
      <p:sp>
        <p:nvSpPr>
          <p:cNvPr id="65" name="node-title-6">
            <a:extLst xmlns:a="http://schemas.openxmlformats.org/drawingml/2006/main">
              <a:ext uri="{FF2B5EF4-FFF2-40B4-BE49-F238E27FC236}">
                <a16:creationId xmlns:a16="http://schemas.microsoft.com/office/drawing/2014/main" id="{1B5CCFE9-2A14-4046-9297-2D0A2033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86300"/>
            <a:ext cx="2133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C31"/>
                </a:solidFill>
              </a:defRPr>
            </a:pPr>
            <a:r>
              <a:rPr sz="1500" b="1">
                <a:solidFill>
                  <a:srgbClr val="111C31"/>
                </a:solidFill>
              </a:rPr>
              <a:t>优化与同尺回归</a:t>
            </a:r>
          </a:p>
        </p:txBody>
      </p:sp>
      <p:sp>
        <p:nvSpPr>
          <p:cNvPr id="66" name="loop-band">
            <a:extLst xmlns:a="http://schemas.openxmlformats.org/drawingml/2006/main">
              <a:ext uri="{FF2B5EF4-FFF2-40B4-BE49-F238E27FC236}">
                <a16:creationId xmlns:a16="http://schemas.microsoft.com/office/drawing/2014/main" id="{A5606C01-E9B1-4C95-A1D4-5B640CC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10200"/>
            <a:ext cx="6858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FFF4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loop-copy">
            <a:extLst xmlns:a="http://schemas.openxmlformats.org/drawingml/2006/main">
              <a:ext uri="{FF2B5EF4-FFF2-40B4-BE49-F238E27FC236}">
                <a16:creationId xmlns:a16="http://schemas.microsoft.com/office/drawing/2014/main" id="{B288B09B-9034-40A3-A71A-E90FE0FC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647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C31"/>
                </a:solidFill>
              </a:defRPr>
            </a:pPr>
            <a:r>
              <a:rPr sz="1350" b="1">
                <a:solidFill>
                  <a:srgbClr val="111C31"/>
                </a:solidFill>
              </a:rPr>
              <a:t>↻  只改责任对象 · 锁定同一把尺 · 返回第3步重新测试</a:t>
            </a:r>
          </a:p>
        </p:txBody>
      </p:sp>
      <p:sp>
        <p:nvSpPr>
          <p:cNvPr id="68" name="loop-in">
            <a:extLst xmlns:a="http://schemas.openxmlformats.org/drawingml/2006/main">
              <a:ext uri="{FF2B5EF4-FFF2-40B4-BE49-F238E27FC236}">
                <a16:creationId xmlns:a16="http://schemas.microsoft.com/office/drawing/2014/main" id="{4E47B5C4-E282-44C4-B4FD-6E9D79E0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62600"/>
            <a:ext cx="7239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loop-out">
            <a:extLst xmlns:a="http://schemas.openxmlformats.org/drawingml/2006/main">
              <a:ext uri="{FF2B5EF4-FFF2-40B4-BE49-F238E27FC236}">
                <a16:creationId xmlns:a16="http://schemas.microsoft.com/office/drawing/2014/main" id="{9E116495-D445-4126-9464-A8BF26AF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933950"/>
            <a:ext cx="228600" cy="6858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page">
            <a:extLst xmlns:a="http://schemas.openxmlformats.org/drawingml/2006/main">
              <a:ext uri="{FF2B5EF4-FFF2-40B4-BE49-F238E27FC236}">
                <a16:creationId xmlns:a16="http://schemas.microsoft.com/office/drawing/2014/main" id="{2EF8497E-5FE8-4075-AB08-3ECB10EF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6E7A90"/>
                </a:solidFill>
              </a:defRPr>
            </a:pPr>
            <a:r>
              <a:rPr sz="750" b="0">
                <a:solidFill>
                  <a:srgbClr val="6E7A9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704497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01 · 冻结测试任务｜先把评测变成一次可复现的实验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demo_server.py + provenance.py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task = freeze(sop, model, users, batch)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manifest = hash_every_input(task)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精妙：双入口先归一，后续六步不再偷换输入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d5a33f4b94c95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2">
            <a:extLst xmlns:a="http://schemas.openxmlformats.org/drawingml/2006/main">
              <a:ext uri="{FF2B5EF4-FFF2-40B4-BE49-F238E27FC236}">
                <a16:creationId xmlns:a16="http://schemas.microsoft.com/office/drawing/2014/main" id="{756737C3-9C64-4C8A-AD93-12198F6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fe1f8d2ad3664188"/>
              </a:rPr>
              <a:t>▶ 在线 Demo</a:t>
            </a:r>
          </a:p>
        </p:txBody>
      </p:sp>
      <p:sp>
        <p:nvSpPr>
          <p:cNvPr id="21" name="public-demo-link-2">
            <a:extLst xmlns:a="http://schemas.openxmlformats.org/drawingml/2006/main">
              <a:ext uri="{FF2B5EF4-FFF2-40B4-BE49-F238E27FC236}">
                <a16:creationId xmlns:a16="http://schemas.microsoft.com/office/drawing/2014/main" id="{CD853EDC-9D98-4FD5-A535-FCA37C30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fd34c3ae79a4460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1EBF3C19-F77A-45BC-92BA-1E6B0205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313B6E8A-2629-4A12-AB80-3971BCC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629D5F89-DE93-49E9-AA15-277D70BF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不同模型缺少统一测试条件，无法判断版本是否真正提升。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C32C0133-DA5B-43AC-8221-4439382C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F7014716-44B5-4783-BB5D-02EFFBCD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3BDA0EF0-B623-4C8E-93C6-C60A3A38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编排器统一封装模型、SOP、Persona和测试批次，并生成版本哈希。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3051020D-AF5E-401A-9944-5ED1F465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F1134C0B-E974-455D-A1AD-BF08FDA8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F78796D2-59C5-4D3A-B887-5E08EB3E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控制测试变量，让不同模型能够公平比较、复现和追踪。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02 · 建立评分标准｜评分标准不是提示词，而是可执行合同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compiler.py / compile_task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L0 = safety_policy(); L1 = compile(sop)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checkpoint = verify(source, severity, condition)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精妙：生成能力与可审计约束解耦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1064bd83f4af7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3">
            <a:extLst xmlns:a="http://schemas.openxmlformats.org/drawingml/2006/main">
              <a:ext uri="{FF2B5EF4-FFF2-40B4-BE49-F238E27FC236}">
                <a16:creationId xmlns:a16="http://schemas.microsoft.com/office/drawing/2014/main" id="{3D4617B6-4996-4E84-AA48-B191C1E96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322533cfccbd4dce"/>
              </a:rPr>
              <a:t>▶ 在线 Demo</a:t>
            </a:r>
          </a:p>
        </p:txBody>
      </p:sp>
      <p:sp>
        <p:nvSpPr>
          <p:cNvPr id="21" name="public-demo-link-3">
            <a:extLst xmlns:a="http://schemas.openxmlformats.org/drawingml/2006/main">
              <a:ext uri="{FF2B5EF4-FFF2-40B4-BE49-F238E27FC236}">
                <a16:creationId xmlns:a16="http://schemas.microsoft.com/office/drawing/2014/main" id="{02F4CC26-4408-4620-95DF-C345C0C51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21edcde5a4904598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3B9485B1-617A-482B-AD8F-6B1BBAA0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CD95CBE7-CBE0-4F8A-A748-33AEC0A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079EF836-5F99-4886-9D40-D2633B7F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自然语言指令无法直接用于规模化判断模型是否逐条遵循。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0C6C29B1-DD49-4628-8F76-F83422B8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EC37DCB2-9C1B-42A9-B571-3945FBAE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306037A7-E046-4BAD-86F5-B4AF9ED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Checklist Agent将SOP编译成L0安全规则与L1业务检查点。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4487EA6B-2914-4057-A998-3CEB5C82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37CE9FFD-DD4A-4BAB-B4AC-652894AF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9FE45EED-D1AA-4926-851B-28968ABF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把模糊要求变成统一、可执行、可追溯的评分契约。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03 · 测试外呼模型｜用户模拟器主动制造真实边界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simulator.py + arena.py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test = persona × adversarial_target × seed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transcript = run(target_model, test)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精妙：主动覆盖边界，同时保持场景可复现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1587e42904222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4">
            <a:extLst xmlns:a="http://schemas.openxmlformats.org/drawingml/2006/main">
              <a:ext uri="{FF2B5EF4-FFF2-40B4-BE49-F238E27FC236}">
                <a16:creationId xmlns:a16="http://schemas.microsoft.com/office/drawing/2014/main" id="{AF2CDF5B-3B98-43BB-A50C-8C60C460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6190458e5af44dc"/>
              </a:rPr>
              <a:t>▶ 在线跑六步</a:t>
            </a:r>
          </a:p>
        </p:txBody>
      </p:sp>
      <p:sp>
        <p:nvSpPr>
          <p:cNvPr id="21" name="public-demo-link-4">
            <a:extLst xmlns:a="http://schemas.openxmlformats.org/drawingml/2006/main">
              <a:ext uri="{FF2B5EF4-FFF2-40B4-BE49-F238E27FC236}">
                <a16:creationId xmlns:a16="http://schemas.microsoft.com/office/drawing/2014/main" id="{1F7E4DBE-0D2D-439C-84E3-670AF506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b305e3a67cf4b9b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B222B827-C6BE-4046-AD95-978466C4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BA914AF9-9C70-4A1E-BC61-6B2FC08A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B0A20B1F-3A6C-4F7F-B84A-CD504F99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历史日志覆盖不足，难以提前暴露高风险对话缺陷。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C184AFA4-EA83-4A6F-83EA-68DDA243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FCC8BE34-7A5F-46E7-A312-EA04A5DA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D114048F-A66C-4A16-9847-894AA99E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用户模拟器根据Persona生成多轮对话，并追踪检查点覆盖率。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3F2BEE25-1A17-4FB3-9115-6576680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6F87DED5-101A-4ECC-A6D3-FFA4552D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B62385B5-429A-40AF-A477-A6CB863C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从被动抽查升级为主动测试，同时兼容已有日志质检。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04 · 输出评测报告｜报告的职责不是打分，而是做上线决策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scoring.py + report.py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gate = FAIL if P0 or critical_flow_failed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report = decision + evidence + blind_spots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精妙：先做发布决策，再解释为什么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60cd08c5646aa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5">
            <a:extLst xmlns:a="http://schemas.openxmlformats.org/drawingml/2006/main">
              <a:ext uri="{FF2B5EF4-FFF2-40B4-BE49-F238E27FC236}">
                <a16:creationId xmlns:a16="http://schemas.microsoft.com/office/drawing/2014/main" id="{61C59CF2-0FFC-4D26-9350-735655E5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3303ae739da4743"/>
              </a:rPr>
              <a:t>▶ 在线 Demo</a:t>
            </a:r>
          </a:p>
        </p:txBody>
      </p:sp>
      <p:sp>
        <p:nvSpPr>
          <p:cNvPr id="21" name="public-demo-link-5">
            <a:extLst xmlns:a="http://schemas.openxmlformats.org/drawingml/2006/main">
              <a:ext uri="{FF2B5EF4-FFF2-40B4-BE49-F238E27FC236}">
                <a16:creationId xmlns:a16="http://schemas.microsoft.com/office/drawing/2014/main" id="{80808561-F100-49D4-BBA2-AE4D1C10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987213c3eae54a6f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60008BEC-F7DC-4519-A618-4EDB4D57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DE4AA2E2-8E8F-43A6-98BB-8D49DA21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B716AD63-7EF0-423A-AABC-476FD667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平均分无法反映P0风险，也无法直接支持上线决策。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DB3CEC12-E2FC-4BB5-AB6F-C138DE5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ED7508C4-6A7B-4330-A3E6-32CAE403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43652FED-648B-4C1B-A264-E8643668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Judge逐项引用证据判定，程序汇总履约、P0、覆盖率和门禁。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DD56CC73-95A7-4D84-92F8-5CBCF6FB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E7F89674-DA4D-4E05-8260-6DBFDCC3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217E7D7C-F967-401C-B7E7-D9009D49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直接回答能否上线、失败在哪里，以及对应证据是什么。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05 · 分析失败原因｜先分清责任，再决定优化谁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attribution.py / analyze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signals = block + P0 + fulfillment + severity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root = compare(model, instruction, judge, data)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精妙：多信号互证，拒绝单一失败率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ee6c1fbc754254"/>
          <a:srcRect xmlns:a="http://schemas.openxmlformats.org/drawingml/2006/main" l="0" t="2174" r="0" b="21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6">
            <a:extLst xmlns:a="http://schemas.openxmlformats.org/drawingml/2006/main">
              <a:ext uri="{FF2B5EF4-FFF2-40B4-BE49-F238E27FC236}">
                <a16:creationId xmlns:a16="http://schemas.microsoft.com/office/drawing/2014/main" id="{5C046E7E-4FC9-4E41-9599-2D40A78B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0aca70c6f8e34ec7"/>
              </a:rPr>
              <a:t>▶ 在线 Demo</a:t>
            </a:r>
          </a:p>
        </p:txBody>
      </p:sp>
      <p:sp>
        <p:nvSpPr>
          <p:cNvPr id="21" name="public-demo-link-6">
            <a:extLst xmlns:a="http://schemas.openxmlformats.org/drawingml/2006/main">
              <a:ext uri="{FF2B5EF4-FFF2-40B4-BE49-F238E27FC236}">
                <a16:creationId xmlns:a16="http://schemas.microsoft.com/office/drawing/2014/main" id="{8B3A7256-100C-4B4A-9085-9FC1E248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116f25c1455243fc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FF003637-F443-4258-9A8E-6444EEC92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63A1AE28-D302-4DB3-9398-055D1D63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ACA44B70-9636-492C-911F-26C12CCF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低分不一定来自模型，错误归因会导致修改错误对象。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4DC232C1-2542-4325-8696-B8A6C828B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8653607E-AF75-49A1-AAA8-09B32C72D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66779728-8EE9-4B86-8699-FA96AAE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综合模型表现、SOP健康度、裁判分歧和测试覆盖进行归因。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1ACF809B-3EA1-4432-9935-E162FC5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38DE4F6E-71F1-407C-AF57-9BF61E0B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B90A30B9-507E-449B-9AD7-D8387885E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区分模型、SOP、裁判与测试数据，避免错误归责。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A63DD76-1990-4A69-A305-BA7BBF31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EVALCALL · 方案设计 × 真实代码 × 现场 DEMO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BDA9E13-8D05-482B-8301-91B1971D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06 · 优化与回归｜只改责任对象，用同一把尺重新证明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6D2A277-CC84-415C-BE90-8C413B67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573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9765DDC-5CD1-4278-B827-7CD571C9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13" name="root-panel">
            <a:extLst xmlns:a="http://schemas.openxmlformats.org/drawingml/2006/main">
              <a:ext uri="{FF2B5EF4-FFF2-40B4-BE49-F238E27FC236}">
                <a16:creationId xmlns:a16="http://schemas.microsoft.com/office/drawing/2014/main" id="{CAA56415-BABF-4003-B77E-E5860BAC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29150"/>
            <a:ext cx="5695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  <p:txBody>
          <a:bodyPr xmlns:a="http://schemas.openxmlformats.org/drawingml/2006/main" lIns="152400" tIns="57150" rIns="15240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C00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CC00"/>
                </a:solidFill>
                <a:latin typeface="Menlo"/>
                <a:ea typeface="Menlo"/>
                <a:cs typeface="Menlo"/>
              </a:rPr>
              <a:t>CODE · repair.py + diff.py</a:t>
            </a:r>
          </a:p>
        </p:txBody>
      </p:sp>
      <p:sp>
        <p:nvSpPr>
          <p:cNvPr id="14" name="root-label">
            <a:extLst xmlns:a="http://schemas.openxmlformats.org/drawingml/2006/main">
              <a:ext uri="{FF2B5EF4-FFF2-40B4-BE49-F238E27FC236}">
                <a16:creationId xmlns:a16="http://schemas.microsoft.com/office/drawing/2014/main" id="{CB8A20C8-D447-4D75-88E4-5A8123FA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67275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repair(root_cause); lock(SOP_HASH, CHECK_HASH)</a:t>
            </a:r>
          </a:p>
        </p:txBody>
      </p:sp>
      <p:sp>
        <p:nvSpPr>
          <p:cNvPr id="15" name="root-score">
            <a:extLst xmlns:a="http://schemas.openxmlformats.org/drawingml/2006/main">
              <a:ext uri="{FF2B5EF4-FFF2-40B4-BE49-F238E27FC236}">
                <a16:creationId xmlns:a16="http://schemas.microsoft.com/office/drawing/2014/main" id="{DFF2F96A-E78A-4FED-A089-DA174A86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535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return step_3(same_users, new_target)</a:t>
            </a:r>
          </a:p>
        </p:txBody>
      </p:sp>
      <p:sp>
        <p:nvSpPr>
          <p:cNvPr id="16" name="root-proof">
            <a:extLst xmlns:a="http://schemas.openxmlformats.org/drawingml/2006/main">
              <a:ext uri="{FF2B5EF4-FFF2-40B4-BE49-F238E27FC236}">
                <a16:creationId xmlns:a16="http://schemas.microsoft.com/office/drawing/2014/main" id="{E470F79D-9B62-4B8C-9A83-08E4D38B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29225"/>
            <a:ext cx="5353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4A3B8"/>
                </a:solidFill>
                <a:latin typeface="Menlo"/>
                <a:ea typeface="Menlo"/>
                <a:cs typeface="Menlo"/>
              </a:defRPr>
            </a:pPr>
            <a:r>
              <a:rPr sz="750" b="0">
                <a:solidFill>
                  <a:srgbClr val="94A3B8"/>
                </a:solidFill>
                <a:latin typeface="Menlo"/>
                <a:ea typeface="Menlo"/>
                <a:cs typeface="Menlo"/>
              </a:rPr>
              <a:t>精妙：变化只发生在责任对象</a:t>
            </a:r>
          </a:p>
        </p:txBody>
      </p:sp>
      <p:sp>
        <p:nvSpPr>
          <p:cNvPr id="17" name="root-action">
            <a:extLst xmlns:a="http://schemas.openxmlformats.org/drawingml/2006/main">
              <a:ext uri="{FF2B5EF4-FFF2-40B4-BE49-F238E27FC236}">
                <a16:creationId xmlns:a16="http://schemas.microsoft.com/office/drawing/2014/main" id="{1387F70C-2CD6-458C-A590-287E0D4B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149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87F5B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71c291de74625"/>
          <a:srcRect xmlns:a="http://schemas.openxmlformats.org/drawingml/2006/main" l="0" t="8152" r="0" b="81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62650" y="1809750"/>
            <a:ext cx="5695950" cy="2724150"/>
          </a:xfrm>
          <a:prstGeom xmlns:a="http://schemas.openxmlformats.org/drawingml/2006/main" prst="roundRect">
            <a:avLst>
              <a:gd name="adj" fmla="val 4196"/>
            </a:avLst>
          </a:prstGeom>
        </p:spPr>
      </p:pic>
      <p:sp>
        <p:nvSpPr>
          <p:cNvPr id="20" name="live-demo-link-7">
            <a:extLst xmlns:a="http://schemas.openxmlformats.org/drawingml/2006/main">
              <a:ext uri="{FF2B5EF4-FFF2-40B4-BE49-F238E27FC236}">
                <a16:creationId xmlns:a16="http://schemas.microsoft.com/office/drawing/2014/main" id="{A146C632-4B71-4814-BD5D-B2693336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6700"/>
            <a:ext cx="15049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C800"/>
          </a:solidFill>
          <a:ln xmlns:a="http://schemas.openxmlformats.org/drawingml/2006/main" w="9525">
            <a:solidFill>
              <a:srgbClr val="E6B400"/>
            </a:solidFill>
            <a:prstDash val="solid"/>
          </a:ln>
        </p:spPr>
        <p:txBody>
          <a:bodyPr xmlns:a="http://schemas.openxmlformats.org/drawingml/2006/main" anchor="ctr">
            <a:normAutofit fontScale="90472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111827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d5ae7edf3fd4475d"/>
              </a:rPr>
              <a:t>▶ 在线 Demo</a:t>
            </a:r>
          </a:p>
        </p:txBody>
      </p:sp>
      <p:sp>
        <p:nvSpPr>
          <p:cNvPr id="21" name="public-demo-link-7">
            <a:extLst xmlns:a="http://schemas.openxmlformats.org/drawingml/2006/main">
              <a:ext uri="{FF2B5EF4-FFF2-40B4-BE49-F238E27FC236}">
                <a16:creationId xmlns:a16="http://schemas.microsoft.com/office/drawing/2014/main" id="{705C770E-3844-4808-B563-406B1893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6700"/>
            <a:ext cx="87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 u="sng">
                <a:solidFill>
                  <a:srgbClr val="667085"/>
                </a:solidFill>
                <a:latin typeface="PingFang SC"/>
                <a:ea typeface="PingFang SC"/>
                <a:cs typeface="PingFang SC"/>
                <a:hlinkClick xmlns:r="http://schemas.openxmlformats.org/officeDocument/2006/relationships" r:id="Ra5e6f9c5a8644988"/>
              </a:rPr>
              <a:t>结果备份 ↗</a:t>
            </a:r>
          </a:p>
        </p:txBody>
      </p:sp>
      <p:sp>
        <p:nvSpPr>
          <p:cNvPr id="23" name="problem-accent">
            <a:extLst xmlns:a="http://schemas.openxmlformats.org/drawingml/2006/main">
              <a:ext uri="{FF2B5EF4-FFF2-40B4-BE49-F238E27FC236}">
                <a16:creationId xmlns:a16="http://schemas.microsoft.com/office/drawing/2014/main" id="{AA3DCD02-EAFA-4E89-8A1F-0DD4534D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roblem-heading">
            <a:extLst xmlns:a="http://schemas.openxmlformats.org/drawingml/2006/main">
              <a:ext uri="{FF2B5EF4-FFF2-40B4-BE49-F238E27FC236}">
                <a16:creationId xmlns:a16="http://schemas.microsoft.com/office/drawing/2014/main" id="{69669314-CA30-4C29-B578-D48BA4B2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解决了什么问题</a:t>
            </a:r>
          </a:p>
        </p:txBody>
      </p:sp>
      <p:sp>
        <p:nvSpPr>
          <p:cNvPr id="25" name="problem-body">
            <a:extLst xmlns:a="http://schemas.openxmlformats.org/drawingml/2006/main">
              <a:ext uri="{FF2B5EF4-FFF2-40B4-BE49-F238E27FC236}">
                <a16:creationId xmlns:a16="http://schemas.microsoft.com/office/drawing/2014/main" id="{E003D782-C5C5-4E9E-96C5-D9A752DEA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同时改变多个变量，无法证明优化是否真正有效。</a:t>
            </a:r>
          </a:p>
        </p:txBody>
      </p:sp>
      <p:sp>
        <p:nvSpPr>
          <p:cNvPr id="26" name="implementation-accent">
            <a:extLst xmlns:a="http://schemas.openxmlformats.org/drawingml/2006/main">
              <a:ext uri="{FF2B5EF4-FFF2-40B4-BE49-F238E27FC236}">
                <a16:creationId xmlns:a16="http://schemas.microsoft.com/office/drawing/2014/main" id="{A830DC0E-467C-44D8-B68F-C5A19D00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implementation-heading">
            <a:extLst xmlns:a="http://schemas.openxmlformats.org/drawingml/2006/main">
              <a:ext uri="{FF2B5EF4-FFF2-40B4-BE49-F238E27FC236}">
                <a16:creationId xmlns:a16="http://schemas.microsoft.com/office/drawing/2014/main" id="{7EBFACBC-6322-4679-BF7C-85B66C2E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怎么实现</a:t>
            </a:r>
          </a:p>
        </p:txBody>
      </p:sp>
      <p:sp>
        <p:nvSpPr>
          <p:cNvPr id="28" name="implementation-body">
            <a:extLst xmlns:a="http://schemas.openxmlformats.org/drawingml/2006/main">
              <a:ext uri="{FF2B5EF4-FFF2-40B4-BE49-F238E27FC236}">
                <a16:creationId xmlns:a16="http://schemas.microsoft.com/office/drawing/2014/main" id="{14B128BE-2C54-453E-A116-3A3EE8C9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956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只修改首要责任对象，并锁定其余版本返回对应步骤回归。</a:t>
            </a:r>
          </a:p>
        </p:txBody>
      </p:sp>
      <p:sp>
        <p:nvSpPr>
          <p:cNvPr id="29" name="advantage-accent">
            <a:extLst xmlns:a="http://schemas.openxmlformats.org/drawingml/2006/main">
              <a:ext uri="{FF2B5EF4-FFF2-40B4-BE49-F238E27FC236}">
                <a16:creationId xmlns:a16="http://schemas.microsoft.com/office/drawing/2014/main" id="{177AB0A1-957C-4ED9-9664-6FAA9CDE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19600"/>
            <a:ext cx="6667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3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dvantage-heading">
            <a:extLst xmlns:a="http://schemas.openxmlformats.org/drawingml/2006/main">
              <a:ext uri="{FF2B5EF4-FFF2-40B4-BE49-F238E27FC236}">
                <a16:creationId xmlns:a16="http://schemas.microsoft.com/office/drawing/2014/main" id="{1F884E4C-31D9-44DE-9EB6-8BF20EC4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C31"/>
                </a:solidFill>
              </a:defRPr>
            </a:pPr>
            <a:r>
              <a:rPr sz="1725" b="1">
                <a:solidFill>
                  <a:srgbClr val="111C31"/>
                </a:solidFill>
              </a:rPr>
              <a:t>设计优势</a:t>
            </a:r>
          </a:p>
        </p:txBody>
      </p:sp>
      <p:sp>
        <p:nvSpPr>
          <p:cNvPr id="31" name="advantage-body">
            <a:extLst xmlns:a="http://schemas.openxmlformats.org/drawingml/2006/main">
              <a:ext uri="{FF2B5EF4-FFF2-40B4-BE49-F238E27FC236}">
                <a16:creationId xmlns:a16="http://schemas.microsoft.com/office/drawing/2014/main" id="{ECF459A0-177A-4772-A453-24B61FEE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6E7A90"/>
                </a:solidFill>
              </a:defRPr>
            </a:pPr>
            <a:r>
              <a:rPr sz="1238" b="0">
                <a:solidFill>
                  <a:srgbClr val="6E7A90"/>
                </a:solidFill>
              </a:rPr>
              <a:t>形成“定位—修改—验证”闭环，准确证明版本提升。</a:t>
            </a:r>
          </a:p>
        </p:txBody>
      </p:sp>
    </p:spTree>
    <p:extLst>
      <p:ext uri="{BB962C8B-B14F-4D97-AF65-F5344CB8AC3E}">
        <p14:creationId xmlns:p14="http://schemas.microsoft.com/office/powerpoint/2010/main" val="14488610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2026-07-14T20:26:51.3150000Z</dcterms:created>
  <dcterms:modified xsi:type="dcterms:W3CDTF">2026-07-14T20:26:51.3150000Z</dcterms:modified>
</coreProperties>
</file>