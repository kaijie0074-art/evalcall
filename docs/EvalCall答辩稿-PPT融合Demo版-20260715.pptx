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2f0f3eb1574ad0" /><Relationship Type="http://schemas.openxmlformats.org/officeDocument/2006/relationships/extended-properties" Target="/docProps/app.xml" Id="Rba60eda3a61d4b44" /><Relationship Type="http://schemas.openxmlformats.org/officeDocument/2006/relationships/officeDocument" Target="/ppt/presentation.xml" Id="R1e150dbdf09c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9e56bd245140a0"/>
  </p:sldMasterIdLst>
  <p:notesMasterIdLst>
    <p:notesMasterId xmlns:r="http://schemas.openxmlformats.org/officeDocument/2006/relationships" r:id="R75429b1ae53d47bf"/>
  </p:notesMasterIdLst>
  <p:sldIdLst>
    <p:sldId xmlns:r="http://schemas.openxmlformats.org/officeDocument/2006/relationships" id="256" r:id="Rf2e67929d7eb464d"/>
    <p:sldId xmlns:r="http://schemas.openxmlformats.org/officeDocument/2006/relationships" id="257" r:id="Rc69531b6c85f463e"/>
    <p:sldId xmlns:r="http://schemas.openxmlformats.org/officeDocument/2006/relationships" id="258" r:id="R4e99141e0a3649da"/>
    <p:sldId xmlns:r="http://schemas.openxmlformats.org/officeDocument/2006/relationships" id="259" r:id="Rf4329234fe7d470e"/>
    <p:sldId xmlns:r="http://schemas.openxmlformats.org/officeDocument/2006/relationships" id="260" r:id="Rba0c8f0204644bf5"/>
    <p:sldId xmlns:r="http://schemas.openxmlformats.org/officeDocument/2006/relationships" id="261" r:id="Red48d3916f3248b5"/>
    <p:sldId xmlns:r="http://schemas.openxmlformats.org/officeDocument/2006/relationships" id="262" r:id="Rc9b512ab114b4b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9b237a6aab41c4" /><Relationship Type="http://schemas.openxmlformats.org/officeDocument/2006/relationships/slideMaster" Target="/ppt/slideMasters/slideMaster1.xml" Id="R779e56bd245140a0" /><Relationship Type="http://schemas.openxmlformats.org/officeDocument/2006/relationships/notesMaster" Target="/ppt/notesMasters/notesMaster1.xml" Id="R75429b1ae53d47bf" /><Relationship Type="http://schemas.openxmlformats.org/officeDocument/2006/relationships/presProps" Target="/ppt/presProps.xml" Id="R4e23c4a8df3b48b4" /><Relationship Type="http://schemas.openxmlformats.org/officeDocument/2006/relationships/tableStyles" Target="/ppt/tableStyles.xml" Id="R297edfda289d42b8" /><Relationship Type="http://schemas.openxmlformats.org/officeDocument/2006/relationships/slide" Target="/ppt/slides/slide1.xml" Id="Rf2e67929d7eb464d" /><Relationship Type="http://schemas.openxmlformats.org/officeDocument/2006/relationships/slide" Target="/ppt/slides/slide2.xml" Id="Rc69531b6c85f463e" /><Relationship Type="http://schemas.openxmlformats.org/officeDocument/2006/relationships/slide" Target="/ppt/slides/slide3.xml" Id="R4e99141e0a3649da" /><Relationship Type="http://schemas.openxmlformats.org/officeDocument/2006/relationships/slide" Target="/ppt/slides/slide4.xml" Id="Rf4329234fe7d470e" /><Relationship Type="http://schemas.openxmlformats.org/officeDocument/2006/relationships/slide" Target="/ppt/slides/slide5.xml" Id="Rba0c8f0204644bf5" /><Relationship Type="http://schemas.openxmlformats.org/officeDocument/2006/relationships/slide" Target="/ppt/slides/slide6.xml" Id="Red48d3916f3248b5" /><Relationship Type="http://schemas.openxmlformats.org/officeDocument/2006/relationships/slide" Target="/ppt/slides/slide7.xml" Id="Rc9b512ab114b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f75ca5dc5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571a190064e1a" /><Relationship Type="http://schemas.openxmlformats.org/officeDocument/2006/relationships/notesMaster" Target="/ppt/notesMasters/notesMaster1.xml" Id="R349abab0f2d0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69252aaae4ca8" /><Relationship Type="http://schemas.openxmlformats.org/officeDocument/2006/relationships/notesMaster" Target="/ppt/notesMasters/notesMaster1.xml" Id="Rbd0a43847566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2bc50f76842bf" /><Relationship Type="http://schemas.openxmlformats.org/officeDocument/2006/relationships/notesMaster" Target="/ppt/notesMasters/notesMaster1.xml" Id="R0ebabe9f878b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bf0bb53d574209" /><Relationship Type="http://schemas.openxmlformats.org/officeDocument/2006/relationships/notesMaster" Target="/ppt/notesMasters/notesMaster1.xml" Id="R141e67c11f08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48be297c1745a5" /><Relationship Type="http://schemas.openxmlformats.org/officeDocument/2006/relationships/notesMaster" Target="/ppt/notesMasters/notesMaster1.xml" Id="R49bf21799867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9c5730e9b4a5d" /><Relationship Type="http://schemas.openxmlformats.org/officeDocument/2006/relationships/notesMaster" Target="/ppt/notesMasters/notesMaster1.xml" Id="Radad649367ab47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0f2e9f2c9f4f04" /><Relationship Type="http://schemas.openxmlformats.org/officeDocument/2006/relationships/notesMaster" Target="/ppt/notesMasters/notesMaster1.xml" Id="R164e80e7cd9a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开场先说结论：EvalCall 不是 SOP 检查器，而是外呼模型上线前的指令遵循评测系统。</a:t>
            </a:r>
          </a:p>
          <a:p xmlns:a="http://schemas.openxmlformats.org/drawingml/2006/main">
            <a:r>
              <a:t>本页只建立六步全景，不点击按钮。现场只做两次窗口切换：PPT→Demo→PPT。</a:t>
            </a:r>
          </a:p>
          <a:p xmlns:a="http://schemas.openxmlformats.org/drawingml/2006/main">
            <a:r>
              <a:t>黄色按钮打开本地实时工作台；公网备份只展示已验证结果，不宣称实时推理。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01：先冻结 SOP、模型版本、测试数量和输入哈希，否则任何模型对比都不可复现。</a:t>
            </a:r>
          </a:p>
          <a:p xmlns:a="http://schemas.openxmlformats.org/drawingml/2006/main">
            <a:r>
              <a:t>只讲设计逻辑和两类入口：模拟测试 / 已有日志质检。暂不切 Demo。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02：把自然语言 SOP 编译成 L0 通用安全规则 + L1 业务规则，让评分依据可执行、可追溯。</a:t>
            </a:r>
          </a:p>
          <a:p xmlns:a="http://schemas.openxmlformats.org/drawingml/2006/main">
            <a:r>
              <a:t>强调每条检查点都保留原文来源和版本，不把模型失败误判成 SOP 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03：用户模拟器不是装饰，而是主动制造高压分支；外呼模型真实响应，Judge 逐项判定。</a:t>
            </a:r>
          </a:p>
          <a:p xmlns:a="http://schemas.openxmlformats.org/drawingml/2006/main">
            <a:r>
              <a:t>说完后点击右上角“现场 Demo”，进入本地工作台。先跑 20 秒现场探针证明真实计算，再切“完整结果（已验证）”展示正式 10 通批次。</a:t>
            </a:r>
          </a:p>
          <a:p xmlns:a="http://schemas.openxmlformats.org/drawingml/2006/main">
            <a:r>
              <a:t>Demo 跑到第 6 步后 Command+Tab 回到 PPT 第 5 页。不要每页来回切换。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后讲 04：这是核心交付终点。只指门禁、履约率、P0、覆盖率和关键失败证据。</a:t>
            </a:r>
          </a:p>
          <a:p xmlns:a="http://schemas.openxmlformats.org/drawingml/2006/main">
            <a:r>
              <a:t>明确边界：刚才的一通是现场探针；本页数字来自同一版本、同一 Checklist 下已审计的完整批次。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05：失败后先判断责任对象——模型、SOP、Judge 或测试数据。</a:t>
            </a:r>
          </a:p>
          <a:p xmlns:a="http://schemas.openxmlformats.org/drawingml/2006/main">
            <a:r>
              <a:t>使用配送时间改约的 target_model 案例与真实招聘的 instruction 案例形成对照，证明系统不会把所有问题推给模型。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06：根因不同，修复动作不同；模型问题保持 SOP 和 Checklist 哈希不变，返回第 3 步同尺回归。</a:t>
            </a:r>
          </a:p>
          <a:p xmlns:a="http://schemas.openxmlformats.org/drawingml/2006/main">
            <a:r>
              <a:t>收尾句：EvalCall 交付的不是另一张模型排行榜，而是一套可测试、可归责、可回归的上线质量基础设施。</a:t>
            </a:r>
          </a:p>
          <a:p xmlns:a="http://schemas.openxmlformats.org/drawingml/2006/main">
            <a:r>
              <a:t>问答时可随时点击右上角按钮回到真实证据。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64638e4cf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20402a8fc5497b" /><Relationship Type="http://schemas.openxmlformats.org/officeDocument/2006/relationships/slideLayout" Target="/ppt/slideLayouts/slideLayout1.xml" Id="R6b22d52aba48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22d52aba48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050fb254d4775" /><Relationship Type="http://schemas.openxmlformats.org/officeDocument/2006/relationships/hyperlink" Target="http://127.0.0.1:8765/" TargetMode="External" Id="R4583f51ef3364c84" /><Relationship Type="http://schemas.openxmlformats.org/officeDocument/2006/relationships/hyperlink" Target="https://kaijie0074-art.github.io/evalcall/app.html" TargetMode="External" Id="R1605b0fc484a49ec" /><Relationship Type="http://schemas.openxmlformats.org/officeDocument/2006/relationships/notesSlide" Target="/ppt/notesSlides/notesSlide1.xml" Id="R8943256b5159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0fbb96ab645c2" /><Relationship Type="http://schemas.openxmlformats.org/officeDocument/2006/relationships/image" Target="/ppt/media/image.png" Id="R3a5f5d6732b14101" /><Relationship Type="http://schemas.openxmlformats.org/officeDocument/2006/relationships/hyperlink" Target="http://127.0.0.1:8765/" TargetMode="External" Id="Rbf5cb304bee148d9" /><Relationship Type="http://schemas.openxmlformats.org/officeDocument/2006/relationships/hyperlink" Target="https://kaijie0074-art.github.io/evalcall/app.html" TargetMode="External" Id="Rc77ff44ebe164637" /><Relationship Type="http://schemas.openxmlformats.org/officeDocument/2006/relationships/notesSlide" Target="/ppt/notesSlides/notesSlide2.xml" Id="R920e9a652b47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b7645f30c4c95" /><Relationship Type="http://schemas.openxmlformats.org/officeDocument/2006/relationships/image" Target="/ppt/media/image2.png" Id="R65ed5159cf934f22" /><Relationship Type="http://schemas.openxmlformats.org/officeDocument/2006/relationships/hyperlink" Target="http://127.0.0.1:8765/" TargetMode="External" Id="Rd7ce0762aeb44398" /><Relationship Type="http://schemas.openxmlformats.org/officeDocument/2006/relationships/hyperlink" Target="https://kaijie0074-art.github.io/evalcall/app.html" TargetMode="External" Id="Rade50a4f794c4592" /><Relationship Type="http://schemas.openxmlformats.org/officeDocument/2006/relationships/notesSlide" Target="/ppt/notesSlides/notesSlide3.xml" Id="Ra18fb69f9b5241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2bfb14fb049ba" /><Relationship Type="http://schemas.openxmlformats.org/officeDocument/2006/relationships/image" Target="/ppt/media/image3.png" Id="R763557b8f33d44c0" /><Relationship Type="http://schemas.openxmlformats.org/officeDocument/2006/relationships/hyperlink" Target="http://127.0.0.1:8765/" TargetMode="External" Id="R3da1de52e08947d0" /><Relationship Type="http://schemas.openxmlformats.org/officeDocument/2006/relationships/hyperlink" Target="https://kaijie0074-art.github.io/evalcall/app.html" TargetMode="External" Id="R92af52f463224200" /><Relationship Type="http://schemas.openxmlformats.org/officeDocument/2006/relationships/notesSlide" Target="/ppt/notesSlides/notesSlide4.xml" Id="R65c607c0c4f2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5e3eae23c4dae" /><Relationship Type="http://schemas.openxmlformats.org/officeDocument/2006/relationships/image" Target="/ppt/media/image4.png" Id="R109cdbba2e9b4e1d" /><Relationship Type="http://schemas.openxmlformats.org/officeDocument/2006/relationships/hyperlink" Target="http://127.0.0.1:8765/" TargetMode="External" Id="R7df3eccbe0ba4e37" /><Relationship Type="http://schemas.openxmlformats.org/officeDocument/2006/relationships/hyperlink" Target="https://kaijie0074-art.github.io/evalcall/app.html" TargetMode="External" Id="R2167eb3e9491463c" /><Relationship Type="http://schemas.openxmlformats.org/officeDocument/2006/relationships/notesSlide" Target="/ppt/notesSlides/notesSlide5.xml" Id="R8ca218177c9d49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c7942c43c4c10" /><Relationship Type="http://schemas.openxmlformats.org/officeDocument/2006/relationships/image" Target="/ppt/media/image5.png" Id="R6abfb633c45845a2" /><Relationship Type="http://schemas.openxmlformats.org/officeDocument/2006/relationships/hyperlink" Target="http://127.0.0.1:8765/" TargetMode="External" Id="R047010d0f9504f28" /><Relationship Type="http://schemas.openxmlformats.org/officeDocument/2006/relationships/hyperlink" Target="https://kaijie0074-art.github.io/evalcall/app.html" TargetMode="External" Id="R9523324c0a3642ad" /><Relationship Type="http://schemas.openxmlformats.org/officeDocument/2006/relationships/notesSlide" Target="/ppt/notesSlides/notesSlide6.xml" Id="R5f97b999bb9a42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5f462f284ca0" /><Relationship Type="http://schemas.openxmlformats.org/officeDocument/2006/relationships/image" Target="/ppt/media/image4.png" Id="Rdfab740a6a584a60" /><Relationship Type="http://schemas.openxmlformats.org/officeDocument/2006/relationships/hyperlink" Target="http://127.0.0.1:8765/" TargetMode="External" Id="Rfc645873ba5649f1" /><Relationship Type="http://schemas.openxmlformats.org/officeDocument/2006/relationships/hyperlink" Target="https://kaijie0074-art.github.io/evalcall/app.html" TargetMode="External" Id="R30d5483a6e5c442d" /><Relationship Type="http://schemas.openxmlformats.org/officeDocument/2006/relationships/notesSlide" Target="/ppt/notesSlides/notesSlide7.xml" Id="R9a23ced4c97b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真实主演示：10 通 × 21 项 = 210 次逐项判定｜裁判校准：指定黄金集 153/165；P0 11/11（不外推线上）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583f51ef3364c84"/>
              </a:rPr>
              <a:t>▶ 现场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605b0fc484a49ec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冻结测试任务｜不先锁输入，任何模型对比都是伪命题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同一次评测，只有一个版本事实源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为什么：模拟测试与已有日志是双入口，但最终都生成同一种任务包。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测试入口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固定用户输入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类版本指纹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cli.py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manifest["transcript_source_hash"] = sha256(transcripts)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target = {"backend": backend, "model": version}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解决：结果可复现，版本比较不再偷换样本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设计：任务、用户输入、SOP、Checklist、模型全部可追溯；后续六步沿用同一批次。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5d6732b14101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f5cb304bee148d9"/>
              </a:rPr>
              <a:t>▶ 现场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77ff44ebe164637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编译评分标准｜把自然语言 SOP 变成可执行合同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自然语言不能直接拿来做上线门禁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为什么：必须拆成原子检查项，并保留原文、层级与严重度。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原子检查项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L1 业务规则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raw = llm.chat_json(messages, schema_hint=SCHEMA)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cp = _coerce_checkpoint(raw, source_body)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精妙：生成能力与可审计性解耦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设计：LLM 负责理解，确定性代码负责结构约束、枚举归一和来源校验。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d5159cf934f22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7ce0762aeb44398"/>
              </a:rPr>
              <a:t>▶ 现场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de50a4f794c4592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测试外呼模型｜不是等日志，而是主动寻找脆弱分支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用户模拟器是测试工具，不是装饰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为什么：Persona、对抗目标与固定 seed 让边界分支可控、可复现。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 Persona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正式测试通话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91%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检查点覆盖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sim = UserSimulator(persona, targets, seed)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run_batch(..., adversarial=True, base_seed=20260713)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输出：对话、覆盖率、未触达检查点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设计：模拟测试与已有日志质检共用同一 Checklist、Judge 和报告链。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557b8f33d44c0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da1de52e08947d0"/>
              </a:rPr>
              <a:t>▶ 现场跑六步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2af52f463224200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模型评测报告｜平均分不能替代上线门禁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 4 步就是核心交付终点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为什么：P0、履约、关键流程与逐项证据共同决定能否上线。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3/10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通话被打回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业务履约率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"打回" if critical_failed else score_gate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evidence → checkpoint → source_quote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价值：把抽象分数转成可执行发布决策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设计：一页同时给门禁、失败证据、覆盖盲区、复核队列和可下载报告。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cdbba2e9b4e1d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df3eccbe0ba4e37"/>
              </a:rPr>
              <a:t>▶ 现场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167eb3e9491463c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分析失败原因｜低分之后，先判断到底该改谁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低分，不等于外呼模型差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为什么：把模型、SOP、裁判、测试数据四类混杂信号同时纳入。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模型根因得分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对照得分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主演示裁判分歧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score = block + fulfillment_gap + P0 + key_fail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if strong_instruction: downgrade(target_model)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精妙：确定性多信号归因，拒绝单一失败率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配送样例首要根因=模型；招聘样例首要根因=SOP，证明系统不会把所有低分都甩给模型。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fb633c45845a2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47010d0f9504f28"/>
              </a:rPr>
              <a:t>▶ 现场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523324c0a3642ad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优化与回归｜只改模型策略，保持评分尺不动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→ 可上线，证据链闭环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为什么：同一批用户输入正常重放；SOP 与 Checklist hash 完全一致。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3→0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40→40%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62.5→91.4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平均分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AUDIT · fixed-user regression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USER 72af813c3169… · unchanged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SOP 69a1b9a7a2… · CHECK e4aab7c172…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JUDGE edecdd05c1… · judgments_modified=false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原生 diff：6 项改善、1 项 style 退化待复测；商业落点是机器批量判定 + 异常复核，并可嵌入发布 CI/CD。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b740a6a584a60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c645873ba5649f1"/>
              </a:rPr>
              <a:t>▶ 现场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0d5483a6e5c442d"/>
              </a:rPr>
              <a:t>公网备份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2026-07-14T16:36:08.0040000Z</dcterms:created>
  <dcterms:modified xsi:type="dcterms:W3CDTF">2026-07-14T16:36:08.0040000Z</dcterms:modified>
</coreProperties>
</file>