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64cd96bee64c1f" /><Relationship Type="http://schemas.openxmlformats.org/officeDocument/2006/relationships/extended-properties" Target="/docProps/app.xml" Id="R94c5a0c6115449fd" /><Relationship Type="http://schemas.openxmlformats.org/officeDocument/2006/relationships/officeDocument" Target="/ppt/presentation.xml" Id="Rf33df236581c4b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e89b7a7f884bcb"/>
  </p:sldMasterIdLst>
  <p:notesMasterIdLst>
    <p:notesMasterId xmlns:r="http://schemas.openxmlformats.org/officeDocument/2006/relationships" r:id="R7b041d1f8f0e449d"/>
  </p:notesMasterIdLst>
  <p:sldIdLst>
    <p:sldId xmlns:r="http://schemas.openxmlformats.org/officeDocument/2006/relationships" id="256" r:id="R26b074c55aa24a89"/>
    <p:sldId xmlns:r="http://schemas.openxmlformats.org/officeDocument/2006/relationships" id="257" r:id="R428a9de5c3874741"/>
    <p:sldId xmlns:r="http://schemas.openxmlformats.org/officeDocument/2006/relationships" id="258" r:id="Rf609a879a2074e15"/>
    <p:sldId xmlns:r="http://schemas.openxmlformats.org/officeDocument/2006/relationships" id="259" r:id="R75927b5b9be94868"/>
    <p:sldId xmlns:r="http://schemas.openxmlformats.org/officeDocument/2006/relationships" id="260" r:id="Rf2ae822d42224944"/>
    <p:sldId xmlns:r="http://schemas.openxmlformats.org/officeDocument/2006/relationships" id="261" r:id="Rfd2d714279d64389"/>
    <p:sldId xmlns:r="http://schemas.openxmlformats.org/officeDocument/2006/relationships" id="262" r:id="R2b58518e5ab84f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0e1b2bf7304d41" /><Relationship Type="http://schemas.openxmlformats.org/officeDocument/2006/relationships/slideMaster" Target="/ppt/slideMasters/slideMaster1.xml" Id="R71e89b7a7f884bcb" /><Relationship Type="http://schemas.openxmlformats.org/officeDocument/2006/relationships/notesMaster" Target="/ppt/notesMasters/notesMaster1.xml" Id="R7b041d1f8f0e449d" /><Relationship Type="http://schemas.openxmlformats.org/officeDocument/2006/relationships/presProps" Target="/ppt/presProps.xml" Id="Rb139b586139947ef" /><Relationship Type="http://schemas.openxmlformats.org/officeDocument/2006/relationships/tableStyles" Target="/ppt/tableStyles.xml" Id="R97aaa738d3a149ac" /><Relationship Type="http://schemas.openxmlformats.org/officeDocument/2006/relationships/slide" Target="/ppt/slides/slide1.xml" Id="R26b074c55aa24a89" /><Relationship Type="http://schemas.openxmlformats.org/officeDocument/2006/relationships/slide" Target="/ppt/slides/slide2.xml" Id="R428a9de5c3874741" /><Relationship Type="http://schemas.openxmlformats.org/officeDocument/2006/relationships/slide" Target="/ppt/slides/slide3.xml" Id="Rf609a879a2074e15" /><Relationship Type="http://schemas.openxmlformats.org/officeDocument/2006/relationships/slide" Target="/ppt/slides/slide4.xml" Id="R75927b5b9be94868" /><Relationship Type="http://schemas.openxmlformats.org/officeDocument/2006/relationships/slide" Target="/ppt/slides/slide5.xml" Id="Rf2ae822d42224944" /><Relationship Type="http://schemas.openxmlformats.org/officeDocument/2006/relationships/slide" Target="/ppt/slides/slide6.xml" Id="Rfd2d714279d64389" /><Relationship Type="http://schemas.openxmlformats.org/officeDocument/2006/relationships/slide" Target="/ppt/slides/slide7.xml" Id="R2b58518e5ab84f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c65febdee946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c983eb55dc4395" /><Relationship Type="http://schemas.openxmlformats.org/officeDocument/2006/relationships/notesMaster" Target="/ppt/notesMasters/notesMaster1.xml" Id="Rb3a60d573d1947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e4b04057c34f62" /><Relationship Type="http://schemas.openxmlformats.org/officeDocument/2006/relationships/notesMaster" Target="/ppt/notesMasters/notesMaster1.xml" Id="R9220a45291b144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07e27cd2364a3f" /><Relationship Type="http://schemas.openxmlformats.org/officeDocument/2006/relationships/notesMaster" Target="/ppt/notesMasters/notesMaster1.xml" Id="R529fb2844d4f4e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5ef2610b234f41" /><Relationship Type="http://schemas.openxmlformats.org/officeDocument/2006/relationships/notesMaster" Target="/ppt/notesMasters/notesMaster1.xml" Id="R33070b7ce8914b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c545281e2743a7" /><Relationship Type="http://schemas.openxmlformats.org/officeDocument/2006/relationships/notesMaster" Target="/ppt/notesMasters/notesMaster1.xml" Id="R78ed8482641a45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e533d028ea458a" /><Relationship Type="http://schemas.openxmlformats.org/officeDocument/2006/relationships/notesMaster" Target="/ppt/notesMasters/notesMaster1.xml" Id="Rf94a38ed764940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b27ce470aa4a6d" /><Relationship Type="http://schemas.openxmlformats.org/officeDocument/2006/relationships/notesMaster" Target="/ppt/notesMasters/notesMaster1.xml" Id="R3e376bf652f24c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开场只建立设计主线：六步依次解决不可比、不可执行、测不到、不能决策、错误归责和无法验证修复。</a:t>
            </a:r>
          </a:p>
          <a:p xmlns:a="http://schemas.openxmlformats.org/drawingml/2006/main">
            <a:r>
              <a:t>明确分工：PPT 解释为什么这样设计；Demo 证明真实运行；报告与产物供评委复核。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先讲风险：输入不冻结，模型对比就没有实验意义。</a:t>
            </a:r>
          </a:p>
          <a:p xmlns:a="http://schemas.openxmlformats.org/drawingml/2006/main">
            <a:r>
              <a:t>再讲机制：模拟测试和已有日志先归一成同一种任务包，冻结 SOP、模型、用户批次和哈希，六步只认这一个事实源。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先讲风险：直接把自然语言 SOP 塞给 Judge，每次理解可能不同。</a:t>
            </a:r>
          </a:p>
          <a:p xmlns:a="http://schemas.openxmlformats.org/drawingml/2006/main">
            <a:r>
              <a:t>再讲机制：LLM 只负责理解；确定性代码负责 L0/L1 分层、结构约束、严重度和来源校验，所以它是一份可执行合同。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先讲风险：历史日志只能覆盖已经发生过的情况。</a:t>
            </a:r>
          </a:p>
          <a:p xmlns:a="http://schemas.openxmlformats.org/drawingml/2006/main">
            <a:r>
              <a:t>再讲机制：Persona、对抗目标和固定 seed 主动制造边界，同时保证场景可复现；用户模拟器是官方测试工具，不是被评对象。</a:t>
            </a:r>
          </a:p>
          <a:p xmlns:a="http://schemas.openxmlformats.org/drawingml/2006/main">
            <a:r>
              <a:t>讲完点击“在线跑六步”。若实时通道异常，立即使用已验证结果，不在台上排障。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 PPT 后先讲风险：平均分会掩盖 P0 和关键流程中断。</a:t>
            </a:r>
          </a:p>
          <a:p xmlns:a="http://schemas.openxmlformats.org/drawingml/2006/main">
            <a:r>
              <a:t>再讲机制：门禁、履约和逐项证据分别回答能否上线、任务是否完成、为什么这样判断；第 4 步是核心交付终点。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先讲风险：低分可能来自模型、SOP、Judge 或测试数据。</a:t>
            </a:r>
          </a:p>
          <a:p xmlns:a="http://schemas.openxmlformats.org/drawingml/2006/main">
            <a:r>
              <a:t>再讲机制：把模型表现、SOP 健康、裁判状态和数据覆盖放在同一套确定性规则中互证，先分清责任，再谈优化。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先讲风险：模型和评分尺同时变化，回归变好也无法证明是谁起作用。</a:t>
            </a:r>
          </a:p>
          <a:p xmlns:a="http://schemas.openxmlformats.org/drawingml/2006/main">
            <a:r>
              <a:t>再讲机制：按根因只改责任对象，锁定 SOP、Checklist 和用户批次，返回第 3 步同尺重放。</a:t>
            </a:r>
          </a:p>
          <a:p xmlns:a="http://schemas.openxmlformats.org/drawingml/2006/main">
            <a:r>
              <a:t>收尾：EvalCall 交付的不是另一张排行榜，而是一套可测试、可归责、可回归的上线质量基础设施。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92adb99b64f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62663612b44423" /><Relationship Type="http://schemas.openxmlformats.org/officeDocument/2006/relationships/slideLayout" Target="/ppt/slideLayouts/slideLayout1.xml" Id="Rf5e2a05fbae44f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e2a05fbae44f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a4c5cd8214d43" /><Relationship Type="http://schemas.openxmlformats.org/officeDocument/2006/relationships/hyperlink" Target="https://kaijie0074-art.github.io/evalcall/live.html?access=evalcall-final-20260716-4c9a7e2d8f1b6a03c5d7e9f2b4a6810d" TargetMode="External" Id="Re9e899bf46eb4eca" /><Relationship Type="http://schemas.openxmlformats.org/officeDocument/2006/relationships/hyperlink" Target="https://kaijie0074-art.github.io/evalcall/app.html" TargetMode="External" Id="R98c1cc0263e04ec7" /><Relationship Type="http://schemas.openxmlformats.org/officeDocument/2006/relationships/notesSlide" Target="/ppt/notesSlides/notesSlide1.xml" Id="Ra977210856704a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e539dd8254cf4" /><Relationship Type="http://schemas.openxmlformats.org/officeDocument/2006/relationships/image" Target="/ppt/media/image.png" Id="Rda7ab4f19799435e" /><Relationship Type="http://schemas.openxmlformats.org/officeDocument/2006/relationships/hyperlink" Target="https://kaijie0074-art.github.io/evalcall/live.html?access=evalcall-final-20260716-4c9a7e2d8f1b6a03c5d7e9f2b4a6810d" TargetMode="External" Id="R4a8305e9e2d04cef" /><Relationship Type="http://schemas.openxmlformats.org/officeDocument/2006/relationships/hyperlink" Target="https://kaijie0074-art.github.io/evalcall/app.html" TargetMode="External" Id="Rb804a99b1a684795" /><Relationship Type="http://schemas.openxmlformats.org/officeDocument/2006/relationships/notesSlide" Target="/ppt/notesSlides/notesSlide2.xml" Id="R7273efa4218041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115591a894709" /><Relationship Type="http://schemas.openxmlformats.org/officeDocument/2006/relationships/image" Target="/ppt/media/image2.png" Id="Rf0e0c2bb2f2043a4" /><Relationship Type="http://schemas.openxmlformats.org/officeDocument/2006/relationships/hyperlink" Target="https://kaijie0074-art.github.io/evalcall/live.html?access=evalcall-final-20260716-4c9a7e2d8f1b6a03c5d7e9f2b4a6810d" TargetMode="External" Id="R36f46dbee3eb4cd3" /><Relationship Type="http://schemas.openxmlformats.org/officeDocument/2006/relationships/hyperlink" Target="https://kaijie0074-art.github.io/evalcall/app.html" TargetMode="External" Id="R6e57b9ce82bb499d" /><Relationship Type="http://schemas.openxmlformats.org/officeDocument/2006/relationships/notesSlide" Target="/ppt/notesSlides/notesSlide3.xml" Id="Rb4ad7dec36c045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d07fa920842ff" /><Relationship Type="http://schemas.openxmlformats.org/officeDocument/2006/relationships/image" Target="/ppt/media/image3.png" Id="R403110b4058e42fc" /><Relationship Type="http://schemas.openxmlformats.org/officeDocument/2006/relationships/hyperlink" Target="https://kaijie0074-art.github.io/evalcall/live.html?access=evalcall-final-20260716-4c9a7e2d8f1b6a03c5d7e9f2b4a6810d" TargetMode="External" Id="R91215ae985574fb5" /><Relationship Type="http://schemas.openxmlformats.org/officeDocument/2006/relationships/hyperlink" Target="https://kaijie0074-art.github.io/evalcall/app.html" TargetMode="External" Id="R08c989b1b5334c8f" /><Relationship Type="http://schemas.openxmlformats.org/officeDocument/2006/relationships/notesSlide" Target="/ppt/notesSlides/notesSlide4.xml" Id="R4d0ae08c349c42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0d7623fe4425a" /><Relationship Type="http://schemas.openxmlformats.org/officeDocument/2006/relationships/image" Target="/ppt/media/image4.png" Id="Rc92bf87687ba4880" /><Relationship Type="http://schemas.openxmlformats.org/officeDocument/2006/relationships/hyperlink" Target="https://kaijie0074-art.github.io/evalcall/live.html?access=evalcall-final-20260716-4c9a7e2d8f1b6a03c5d7e9f2b4a6810d" TargetMode="External" Id="Rf0212fea91d143e1" /><Relationship Type="http://schemas.openxmlformats.org/officeDocument/2006/relationships/hyperlink" Target="https://kaijie0074-art.github.io/evalcall/app.html" TargetMode="External" Id="R1d1debc559f24e91" /><Relationship Type="http://schemas.openxmlformats.org/officeDocument/2006/relationships/notesSlide" Target="/ppt/notesSlides/notesSlide5.xml" Id="R027d9f9c4a904b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13549f02e4769" /><Relationship Type="http://schemas.openxmlformats.org/officeDocument/2006/relationships/image" Target="/ppt/media/image5.png" Id="R8ceb17da15a348d3" /><Relationship Type="http://schemas.openxmlformats.org/officeDocument/2006/relationships/hyperlink" Target="https://kaijie0074-art.github.io/evalcall/live.html?access=evalcall-final-20260716-4c9a7e2d8f1b6a03c5d7e9f2b4a6810d" TargetMode="External" Id="R4e2ddda562334111" /><Relationship Type="http://schemas.openxmlformats.org/officeDocument/2006/relationships/hyperlink" Target="https://kaijie0074-art.github.io/evalcall/app.html" TargetMode="External" Id="Re182c87bd2d14183" /><Relationship Type="http://schemas.openxmlformats.org/officeDocument/2006/relationships/notesSlide" Target="/ppt/notesSlides/notesSlide6.xml" Id="R80e5b2ead3b940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0c463108e40f1" /><Relationship Type="http://schemas.openxmlformats.org/officeDocument/2006/relationships/image" Target="/ppt/media/image4.png" Id="Rce852d461a38430a" /><Relationship Type="http://schemas.openxmlformats.org/officeDocument/2006/relationships/hyperlink" Target="https://kaijie0074-art.github.io/evalcall/live.html?access=evalcall-final-20260716-4c9a7e2d8f1b6a03c5d7e9f2b4a6810d" TargetMode="External" Id="R07893fefc0334c3d" /><Relationship Type="http://schemas.openxmlformats.org/officeDocument/2006/relationships/hyperlink" Target="https://kaijie0074-art.github.io/evalcall/app.html" TargetMode="External" Id="R1a5b05a526df4f4b" /><Relationship Type="http://schemas.openxmlformats.org/officeDocument/2006/relationships/notesSlide" Target="/ppt/notesSlides/notesSlide7.xml" Id="Rb07d5fef9c6241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EFFADB3-C24B-464A-A482-53E431F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外呼模型上线前的自动化指令遵循评测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5D2154-B96E-43F0-B2E9-7CEAA53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让外呼模型在上线前，先失败十次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66D9FB-778F-4E38-BBD2-5560C3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9DC85EB-6A27-49A6-A6DB-FF60299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flow-line">
            <a:extLst xmlns:a="http://schemas.openxmlformats.org/drawingml/2006/main">
              <a:ext uri="{FF2B5EF4-FFF2-40B4-BE49-F238E27FC236}">
                <a16:creationId xmlns:a16="http://schemas.microsoft.com/office/drawing/2014/main" id="{A7B0684F-3DE1-469F-B089-30FA9B4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2887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dot-0">
            <a:extLst xmlns:a="http://schemas.openxmlformats.org/drawingml/2006/main">
              <a:ext uri="{FF2B5EF4-FFF2-40B4-BE49-F238E27FC236}">
                <a16:creationId xmlns:a16="http://schemas.microsoft.com/office/drawing/2014/main" id="{3727BDF2-CC2A-4F3C-AA91-4F0E6BF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-0">
            <a:extLst xmlns:a="http://schemas.openxmlformats.org/drawingml/2006/main">
              <a:ext uri="{FF2B5EF4-FFF2-40B4-BE49-F238E27FC236}">
                <a16:creationId xmlns:a16="http://schemas.microsoft.com/office/drawing/2014/main" id="{20F518E8-7FC6-4EAD-A44E-6E969E7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1765322-5A09-483C-A66A-C48341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冻结测试任务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1D68444-C300-41DA-957D-0CADF61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 / 输入 / SOP / hash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C1DF2A64-EBDD-4012-8140-CB091C1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9020754C-4655-4B67-93A1-D6945B1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C15ABA-AF5B-4574-A693-1AE5E7C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编译评分合同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C81D6D1-3A42-4375-A2DB-05B84F3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安全 + L1 业务</a:t>
            </a:r>
          </a:p>
        </p:txBody>
      </p:sp>
      <p:sp>
        <p:nvSpPr>
          <p:cNvPr id="14" name="step-dot-2">
            <a:extLst xmlns:a="http://schemas.openxmlformats.org/drawingml/2006/main">
              <a:ext uri="{FF2B5EF4-FFF2-40B4-BE49-F238E27FC236}">
                <a16:creationId xmlns:a16="http://schemas.microsoft.com/office/drawing/2014/main" id="{8B21AB0A-0540-4BED-B85C-74B3C3C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-2">
            <a:extLst xmlns:a="http://schemas.openxmlformats.org/drawingml/2006/main">
              <a:ext uri="{FF2B5EF4-FFF2-40B4-BE49-F238E27FC236}">
                <a16:creationId xmlns:a16="http://schemas.microsoft.com/office/drawing/2014/main" id="{BE7D4578-4A77-4ECD-A191-6C6D728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5412980-B5B8-41C5-BBC7-CC881B8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主动测试模型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72E68F-8D8B-4A37-AF40-5384BD0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Persona × 对抗分支</a:t>
            </a:r>
          </a:p>
        </p:txBody>
      </p:sp>
      <p:sp>
        <p:nvSpPr>
          <p:cNvPr id="18" name="step-dot-3">
            <a:extLst xmlns:a="http://schemas.openxmlformats.org/drawingml/2006/main">
              <a:ext uri="{FF2B5EF4-FFF2-40B4-BE49-F238E27FC236}">
                <a16:creationId xmlns:a16="http://schemas.microsoft.com/office/drawing/2014/main" id="{4F4ED39A-5F4D-4827-A0E0-05B192C4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-3">
            <a:extLst xmlns:a="http://schemas.openxmlformats.org/drawingml/2006/main">
              <a:ext uri="{FF2B5EF4-FFF2-40B4-BE49-F238E27FC236}">
                <a16:creationId xmlns:a16="http://schemas.microsoft.com/office/drawing/2014/main" id="{F52B6353-AD90-4D20-ADD2-6BAE145C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97F5F26-12C6-452C-A2DF-1949CF7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决定是否上线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8E3E6EE-C136-46CD-9B40-5D5E42A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门禁 / 履约 / P0 / 证据</a:t>
            </a:r>
          </a:p>
        </p:txBody>
      </p:sp>
      <p:sp>
        <p:nvSpPr>
          <p:cNvPr id="22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85B92780-0A54-4176-AE54-80AED4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跑完六步，精确回答三个问题：能不能上线？失败在哪里？到底该改谁？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648FF3C-1484-417E-9F5E-498A0B7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PPT 解释为什么这样设计 · Demo 证明真实运行 · 报告与产物负责结果复核</a:t>
            </a:r>
          </a:p>
        </p:txBody>
      </p:sp>
      <p:sp>
        <p:nvSpPr>
          <p:cNvPr id="24" name="flow-line-row-2">
            <a:extLst xmlns:a="http://schemas.openxmlformats.org/drawingml/2006/main">
              <a:ext uri="{FF2B5EF4-FFF2-40B4-BE49-F238E27FC236}">
                <a16:creationId xmlns:a16="http://schemas.microsoft.com/office/drawing/2014/main" id="{9FF7EABC-BEE2-4BDE-96F0-2075FF5D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9102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dot-5">
            <a:extLst xmlns:a="http://schemas.openxmlformats.org/drawingml/2006/main">
              <a:ext uri="{FF2B5EF4-FFF2-40B4-BE49-F238E27FC236}">
                <a16:creationId xmlns:a16="http://schemas.microsoft.com/office/drawing/2014/main" id="{F9E6E76D-3B64-4136-83D1-EDAB2A48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step-n-5">
            <a:extLst xmlns:a="http://schemas.openxmlformats.org/drawingml/2006/main">
              <a:ext uri="{FF2B5EF4-FFF2-40B4-BE49-F238E27FC236}">
                <a16:creationId xmlns:a16="http://schemas.microsoft.com/office/drawing/2014/main" id="{A480B850-43FF-4E9C-8036-9539608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4879BEE7-933F-434D-9BC8-9F5EF41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分离真实根因</a:t>
            </a:r>
          </a:p>
        </p:txBody>
      </p:sp>
      <p:sp>
        <p:nvSpPr>
          <p:cNvPr id="28" name="step-body-5">
            <a:extLst xmlns:a="http://schemas.openxmlformats.org/drawingml/2006/main">
              <a:ext uri="{FF2B5EF4-FFF2-40B4-BE49-F238E27FC236}">
                <a16:creationId xmlns:a16="http://schemas.microsoft.com/office/drawing/2014/main" id="{6A2887F8-74C4-4104-8D6A-242A585D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模型 / SOP / 裁判 / 数据</a:t>
            </a:r>
          </a:p>
        </p:txBody>
      </p:sp>
      <p:sp>
        <p:nvSpPr>
          <p:cNvPr id="29" name="step-dot-6">
            <a:extLst xmlns:a="http://schemas.openxmlformats.org/drawingml/2006/main">
              <a:ext uri="{FF2B5EF4-FFF2-40B4-BE49-F238E27FC236}">
                <a16:creationId xmlns:a16="http://schemas.microsoft.com/office/drawing/2014/main" id="{23E73DBE-3366-4643-901F-4A27567D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9525">
            <a:solidFill>
              <a:srgbClr val="FFCC00"/>
            </a:solidFill>
            <a:prstDash val="solid"/>
          </a:ln>
        </p:spPr>
      </p:sp>
      <p:sp>
        <p:nvSpPr>
          <p:cNvPr id="30" name="step-n-6">
            <a:extLst xmlns:a="http://schemas.openxmlformats.org/drawingml/2006/main">
              <a:ext uri="{FF2B5EF4-FFF2-40B4-BE49-F238E27FC236}">
                <a16:creationId xmlns:a16="http://schemas.microsoft.com/office/drawing/2014/main" id="{0AF895B3-0C7D-4F4A-AD53-77115BE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31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52A093D1-21A9-4D21-AA78-5E4C7BF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同尺回归闭环</a:t>
            </a:r>
          </a:p>
        </p:txBody>
      </p:sp>
      <p:sp>
        <p:nvSpPr>
          <p:cNvPr id="32" name="step-body-6">
            <a:extLst xmlns:a="http://schemas.openxmlformats.org/drawingml/2006/main">
              <a:ext uri="{FF2B5EF4-FFF2-40B4-BE49-F238E27FC236}">
                <a16:creationId xmlns:a16="http://schemas.microsoft.com/office/drawing/2014/main" id="{230A79F8-88BC-4067-BD59-AED39F7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只改责任对象，再测一次</a:t>
            </a:r>
          </a:p>
        </p:txBody>
      </p:sp>
      <p:sp>
        <p:nvSpPr>
          <p:cNvPr id="33" name="live-demo-link-1">
            <a:extLst xmlns:a="http://schemas.openxmlformats.org/drawingml/2006/main">
              <a:ext uri="{FF2B5EF4-FFF2-40B4-BE49-F238E27FC236}">
                <a16:creationId xmlns:a16="http://schemas.microsoft.com/office/drawing/2014/main" id="{40AEA778-D098-42AA-9C4B-6F7D4059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9e899bf46eb4eca"/>
              </a:rPr>
              <a:t>▶ 在线 Demo</a:t>
            </a:r>
          </a:p>
        </p:txBody>
      </p:sp>
      <p:sp>
        <p:nvSpPr>
          <p:cNvPr id="34" name="public-demo-link-1">
            <a:extLst xmlns:a="http://schemas.openxmlformats.org/drawingml/2006/main">
              <a:ext uri="{FF2B5EF4-FFF2-40B4-BE49-F238E27FC236}">
                <a16:creationId xmlns:a16="http://schemas.microsoft.com/office/drawing/2014/main" id="{00C861CC-9BCF-4D46-AB6E-57BFA80C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8c1cc0263e04ec7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 · 冻结测试任务｜先把评测变成一次可复现的实验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先冻结变量，再评价模型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不做这一步：用户、SOP 或模型版本一变，任何好坏对比都失去意义。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双轨输入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模拟 / 日志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版本冻结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SOP·模型·用户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同批贯穿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六步共用任务包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demo_server.py + provenance.py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task = freeze(sop, model, users, batch)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manifest = hash_every_input(task)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精妙：双入口先归一，后续六步不再偷换输入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设计闭环：双轨输入 → 统一任务包 → 哈希冻结；整个评测只认一个版本事实源。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ab4f19799435e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2">
            <a:extLst xmlns:a="http://schemas.openxmlformats.org/drawingml/2006/main">
              <a:ext uri="{FF2B5EF4-FFF2-40B4-BE49-F238E27FC236}">
                <a16:creationId xmlns:a16="http://schemas.microsoft.com/office/drawing/2014/main" id="{756737C3-9C64-4C8A-AD93-12198F6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4a8305e9e2d04cef"/>
              </a:rPr>
              <a:t>▶ 在线 Demo</a:t>
            </a:r>
          </a:p>
        </p:txBody>
      </p:sp>
      <p:sp>
        <p:nvSpPr>
          <p:cNvPr id="21" name="public-demo-link-2">
            <a:extLst xmlns:a="http://schemas.openxmlformats.org/drawingml/2006/main">
              <a:ext uri="{FF2B5EF4-FFF2-40B4-BE49-F238E27FC236}">
                <a16:creationId xmlns:a16="http://schemas.microsoft.com/office/drawing/2014/main" id="{CD853EDC-9D98-4FD5-A535-FCA37C3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b804a99b1a684795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02 · 建立评分标准｜评分标准不是提示词，而是可执行合同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LLM 理解规则，代码守住边界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4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不做这一步：自然语言有歧义，Judge 每次都可能理解成不同标准。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L0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通用安全红线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L1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任务业务规则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溯源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原文·严重度·条件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compiler.py / compile_task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L0 = safety_policy(); L1 = compile(sop)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checkpoint = verify(source, severity, condition)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精妙：生成能力与可审计约束解耦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设计闭环：SOP → 原子检查点 → 来源校验 → Checklist hash；评分标准由提示词变成合同。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0c2bb2f2043a4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3">
            <a:extLst xmlns:a="http://schemas.openxmlformats.org/drawingml/2006/main">
              <a:ext uri="{FF2B5EF4-FFF2-40B4-BE49-F238E27FC236}">
                <a16:creationId xmlns:a16="http://schemas.microsoft.com/office/drawing/2014/main" id="{3D4617B6-4996-4E84-AA48-B191C1E9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6f46dbee3eb4cd3"/>
              </a:rPr>
              <a:t>▶ 在线 Demo</a:t>
            </a:r>
          </a:p>
        </p:txBody>
      </p:sp>
      <p:sp>
        <p:nvSpPr>
          <p:cNvPr id="21" name="public-demo-link-3">
            <a:extLst xmlns:a="http://schemas.openxmlformats.org/drawingml/2006/main">
              <a:ext uri="{FF2B5EF4-FFF2-40B4-BE49-F238E27FC236}">
                <a16:creationId xmlns:a16="http://schemas.microsoft.com/office/drawing/2014/main" id="{02F4CC26-4408-4620-95DF-C345C0C5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6e57b9ce82bb499d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03 · 测试外呼模型｜用户模拟器主动制造真实边界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不是等线上出事，而是上线前主动撞边界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不做这一步：历史日志只覆盖已发生情况，危险分支可能漏掉。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03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Persona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用户行为边界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对抗目标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主动撞脆弱点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133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固定 Seed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同场景可复现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simulator.py + arena.py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test = persona × adversarial_target × seed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transcript = run(target_model, test)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精妙：主动覆盖边界，同时保持场景可复现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设计闭环：Persona × 对抗目标 × 固定 seed → 测试对话；两种入口共用后半条评测链。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110b4058e42fc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4">
            <a:extLst xmlns:a="http://schemas.openxmlformats.org/drawingml/2006/main">
              <a:ext uri="{FF2B5EF4-FFF2-40B4-BE49-F238E27FC236}">
                <a16:creationId xmlns:a16="http://schemas.microsoft.com/office/drawing/2014/main" id="{AF2CDF5B-3B98-43BB-A50C-8C60C460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1215ae985574fb5"/>
              </a:rPr>
              <a:t>▶ 在线跑六步</a:t>
            </a:r>
          </a:p>
        </p:txBody>
      </p:sp>
      <p:sp>
        <p:nvSpPr>
          <p:cNvPr id="21" name="public-demo-link-4">
            <a:extLst xmlns:a="http://schemas.openxmlformats.org/drawingml/2006/main">
              <a:ext uri="{FF2B5EF4-FFF2-40B4-BE49-F238E27FC236}">
                <a16:creationId xmlns:a16="http://schemas.microsoft.com/office/drawing/2014/main" id="{1F7E4DBE-0D2D-439C-84E3-670AF50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8c989b1b5334c8f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04 · 输出评测报告｜报告的职责不是打分，而是做上线决策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平均分回答表现，门禁回答能不能上线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不做这一步：高平均分可能掩盖隐私泄露、P0 和关键流程中断。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门禁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 一票否决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履约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任务是否完成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逐项引用原话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scoring.py + report.py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gate = FAIL if P0 or critical_flow_failed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report = decision + evidence + blind_spots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精妙：先做发布决策，再解释为什么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设计闭环：P0 / 关键流程 / 履约 → 上线门禁；证据、盲区和复核队列回答“为什么”。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bf87687ba4880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5">
            <a:extLst xmlns:a="http://schemas.openxmlformats.org/drawingml/2006/main">
              <a:ext uri="{FF2B5EF4-FFF2-40B4-BE49-F238E27FC236}">
                <a16:creationId xmlns:a16="http://schemas.microsoft.com/office/drawing/2014/main" id="{61C59CF2-0FFC-4D26-9350-735655E5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0212fea91d143e1"/>
              </a:rPr>
              <a:t>▶ 在线 Demo</a:t>
            </a:r>
          </a:p>
        </p:txBody>
      </p:sp>
      <p:sp>
        <p:nvSpPr>
          <p:cNvPr id="21" name="public-demo-link-5">
            <a:extLst xmlns:a="http://schemas.openxmlformats.org/drawingml/2006/main">
              <a:ext uri="{FF2B5EF4-FFF2-40B4-BE49-F238E27FC236}">
                <a16:creationId xmlns:a16="http://schemas.microsoft.com/office/drawing/2014/main" id="{80808561-F100-49D4-BBA2-AE4D1C10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d1debc559f24e91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05 · 分析失败原因｜先分清责任，再决定优化谁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先分清责任，再决定改谁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不做这一步：SOP、Judge 或覆盖问题，都会被误判成模型能力差。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能力与策略问题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SOP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指令可执行性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裁判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Judge / 测试数据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attribution.py / analyze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signals = block + P0 + fulfillment + severity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root = compare(model, instruction, judge, data)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精妙：多信号互证，拒绝单一失败率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设计闭环：模型表现 × SOP 健康 × Judge 状态 × 数据覆盖 → 可解释根因，而不是默认怪模型。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b17da15a348d3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6">
            <a:extLst xmlns:a="http://schemas.openxmlformats.org/drawingml/2006/main">
              <a:ext uri="{FF2B5EF4-FFF2-40B4-BE49-F238E27FC236}">
                <a16:creationId xmlns:a16="http://schemas.microsoft.com/office/drawing/2014/main" id="{5C046E7E-4FC9-4E41-9599-2D40A78B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4e2ddda562334111"/>
              </a:rPr>
              <a:t>▶ 在线 Demo</a:t>
            </a:r>
          </a:p>
        </p:txBody>
      </p:sp>
      <p:sp>
        <p:nvSpPr>
          <p:cNvPr id="21" name="public-demo-link-6">
            <a:extLst xmlns:a="http://schemas.openxmlformats.org/drawingml/2006/main">
              <a:ext uri="{FF2B5EF4-FFF2-40B4-BE49-F238E27FC236}">
                <a16:creationId xmlns:a16="http://schemas.microsoft.com/office/drawing/2014/main" id="{8B3A7256-100C-4B4A-9085-9FC1E248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182c87bd2d14183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06 · 优化与回归｜只改责任对象，用同一把尺重新证明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只改责任对象，评分尺不变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不做这一步：模型和评分尺同时变化，无法证明谁起作用。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只改对象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按根因路由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锁定尺子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SOP·Checklist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Step 3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同批用户重放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repair.py + diff.py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repair(root_cause); lock(SOP_HASH, CHECK_HASH)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return step_3(same_users, new_target)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精妙：变化只发生在责任对象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设计闭环：根因路由 → 单变量修复 → 同尺回归 → 原生 diff；形成可证伪的优化闭环。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52d461a38430a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7">
            <a:extLst xmlns:a="http://schemas.openxmlformats.org/drawingml/2006/main">
              <a:ext uri="{FF2B5EF4-FFF2-40B4-BE49-F238E27FC236}">
                <a16:creationId xmlns:a16="http://schemas.microsoft.com/office/drawing/2014/main" id="{A146C632-4B71-4814-BD5D-B2693336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7893fefc0334c3d"/>
              </a:rPr>
              <a:t>▶ 在线 Demo</a:t>
            </a:r>
          </a:p>
        </p:txBody>
      </p:sp>
      <p:sp>
        <p:nvSpPr>
          <p:cNvPr id="21" name="public-demo-link-7">
            <a:extLst xmlns:a="http://schemas.openxmlformats.org/drawingml/2006/main">
              <a:ext uri="{FF2B5EF4-FFF2-40B4-BE49-F238E27FC236}">
                <a16:creationId xmlns:a16="http://schemas.microsoft.com/office/drawing/2014/main" id="{705C770E-3844-4808-B563-406B189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a5b05a526df4f4b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2026-07-14T18:00:56.6760000Z</dcterms:created>
  <dcterms:modified xsi:type="dcterms:W3CDTF">2026-07-14T18:00:56.6760000Z</dcterms:modified>
</coreProperties>
</file>