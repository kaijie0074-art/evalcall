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1278ba66024ba4" /><Relationship Type="http://schemas.openxmlformats.org/officeDocument/2006/relationships/extended-properties" Target="/docProps/app.xml" Id="R874673e02667433b" /><Relationship Type="http://schemas.openxmlformats.org/officeDocument/2006/relationships/officeDocument" Target="/ppt/presentation.xml" Id="R9f7532018e954c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88df2bce34096"/>
  </p:sldMasterIdLst>
  <p:notesMasterIdLst>
    <p:notesMasterId xmlns:r="http://schemas.openxmlformats.org/officeDocument/2006/relationships" r:id="R77d1e153b0934ac6"/>
  </p:notesMasterIdLst>
  <p:sldIdLst>
    <p:sldId xmlns:r="http://schemas.openxmlformats.org/officeDocument/2006/relationships" id="256" r:id="R6068db8dbe124af4"/>
    <p:sldId xmlns:r="http://schemas.openxmlformats.org/officeDocument/2006/relationships" id="257" r:id="R6139fa2bcd804a2b"/>
    <p:sldId xmlns:r="http://schemas.openxmlformats.org/officeDocument/2006/relationships" id="258" r:id="R070974fae401430f"/>
    <p:sldId xmlns:r="http://schemas.openxmlformats.org/officeDocument/2006/relationships" id="259" r:id="Rba1e5c0bf0f945a8"/>
    <p:sldId xmlns:r="http://schemas.openxmlformats.org/officeDocument/2006/relationships" id="260" r:id="R6fa2811f7b2841ae"/>
    <p:sldId xmlns:r="http://schemas.openxmlformats.org/officeDocument/2006/relationships" id="261" r:id="R7957b62e682f4d4e"/>
    <p:sldId xmlns:r="http://schemas.openxmlformats.org/officeDocument/2006/relationships" id="262" r:id="R8c00c889ac2d44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487027b5114c37" /><Relationship Type="http://schemas.openxmlformats.org/officeDocument/2006/relationships/slideMaster" Target="/ppt/slideMasters/slideMaster1.xml" Id="R7b788df2bce34096" /><Relationship Type="http://schemas.openxmlformats.org/officeDocument/2006/relationships/notesMaster" Target="/ppt/notesMasters/notesMaster1.xml" Id="R77d1e153b0934ac6" /><Relationship Type="http://schemas.openxmlformats.org/officeDocument/2006/relationships/presProps" Target="/ppt/presProps.xml" Id="Rcc7d3e4cc2a34a73" /><Relationship Type="http://schemas.openxmlformats.org/officeDocument/2006/relationships/tableStyles" Target="/ppt/tableStyles.xml" Id="R5ac85b9ef2d34db1" /><Relationship Type="http://schemas.openxmlformats.org/officeDocument/2006/relationships/slide" Target="/ppt/slides/slide1.xml" Id="R6068db8dbe124af4" /><Relationship Type="http://schemas.openxmlformats.org/officeDocument/2006/relationships/slide" Target="/ppt/slides/slide2.xml" Id="R6139fa2bcd804a2b" /><Relationship Type="http://schemas.openxmlformats.org/officeDocument/2006/relationships/slide" Target="/ppt/slides/slide3.xml" Id="R070974fae401430f" /><Relationship Type="http://schemas.openxmlformats.org/officeDocument/2006/relationships/slide" Target="/ppt/slides/slide4.xml" Id="Rba1e5c0bf0f945a8" /><Relationship Type="http://schemas.openxmlformats.org/officeDocument/2006/relationships/slide" Target="/ppt/slides/slide5.xml" Id="R6fa2811f7b2841ae" /><Relationship Type="http://schemas.openxmlformats.org/officeDocument/2006/relationships/slide" Target="/ppt/slides/slide6.xml" Id="R7957b62e682f4d4e" /><Relationship Type="http://schemas.openxmlformats.org/officeDocument/2006/relationships/slide" Target="/ppt/slides/slide7.xml" Id="R8c00c889ac2d44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cb8bbf342340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ba52129a341af" /><Relationship Type="http://schemas.openxmlformats.org/officeDocument/2006/relationships/notesMaster" Target="/ppt/notesMasters/notesMaster1.xml" Id="R2fb635090a2e4f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a36a029e946fd" /><Relationship Type="http://schemas.openxmlformats.org/officeDocument/2006/relationships/notesMaster" Target="/ppt/notesMasters/notesMaster1.xml" Id="Rfb951481bc42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9fd06f416b4f7e" /><Relationship Type="http://schemas.openxmlformats.org/officeDocument/2006/relationships/notesMaster" Target="/ppt/notesMasters/notesMaster1.xml" Id="Rc1004c8ee8fe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573871b36c44e7" /><Relationship Type="http://schemas.openxmlformats.org/officeDocument/2006/relationships/notesMaster" Target="/ppt/notesMasters/notesMaster1.xml" Id="Reff70ce373f0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7e5a1f1a3140b6" /><Relationship Type="http://schemas.openxmlformats.org/officeDocument/2006/relationships/notesMaster" Target="/ppt/notesMasters/notesMaster1.xml" Id="R92e6e29aff9e48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3900507dbb44c9" /><Relationship Type="http://schemas.openxmlformats.org/officeDocument/2006/relationships/notesMaster" Target="/ppt/notesMasters/notesMaster1.xml" Id="R9a795937764944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7d0e033dc94e92" /><Relationship Type="http://schemas.openxmlformats.org/officeDocument/2006/relationships/notesMaster" Target="/ppt/notesMasters/notesMaster1.xml" Id="R86afce255e5149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6918bf97f42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c41c4a83d642b0" /><Relationship Type="http://schemas.openxmlformats.org/officeDocument/2006/relationships/slideLayout" Target="/ppt/slideLayouts/slideLayout1.xml" Id="R540b706bafab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0b706bafab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244ed644c4e6d" /><Relationship Type="http://schemas.openxmlformats.org/officeDocument/2006/relationships/notesSlide" Target="/ppt/notesSlides/notesSlide1.xml" Id="R9980e965eff146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735ffcab04566" /><Relationship Type="http://schemas.openxmlformats.org/officeDocument/2006/relationships/image" Target="/ppt/media/image.png" Id="R2ec576bfed864a59" /><Relationship Type="http://schemas.openxmlformats.org/officeDocument/2006/relationships/notesSlide" Target="/ppt/notesSlides/notesSlide2.xml" Id="Rd2cd3664236e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2475715494d59" /><Relationship Type="http://schemas.openxmlformats.org/officeDocument/2006/relationships/image" Target="/ppt/media/image2.png" Id="R56fd2504420846d1" /><Relationship Type="http://schemas.openxmlformats.org/officeDocument/2006/relationships/notesSlide" Target="/ppt/notesSlides/notesSlide3.xml" Id="R79b896bb883149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07da99f22493b" /><Relationship Type="http://schemas.openxmlformats.org/officeDocument/2006/relationships/image" Target="/ppt/media/image3.png" Id="R69bec489f1804597" /><Relationship Type="http://schemas.openxmlformats.org/officeDocument/2006/relationships/notesSlide" Target="/ppt/notesSlides/notesSlide4.xml" Id="R5d7b16a18adb45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cbc395f8a402e" /><Relationship Type="http://schemas.openxmlformats.org/officeDocument/2006/relationships/image" Target="/ppt/media/image4.png" Id="R6351202a8b9c46dc" /><Relationship Type="http://schemas.openxmlformats.org/officeDocument/2006/relationships/notesSlide" Target="/ppt/notesSlides/notesSlide5.xml" Id="R9e9cb8e615c544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23a16afc44430" /><Relationship Type="http://schemas.openxmlformats.org/officeDocument/2006/relationships/image" Target="/ppt/media/image5.png" Id="Rae086ac3614e4809" /><Relationship Type="http://schemas.openxmlformats.org/officeDocument/2006/relationships/notesSlide" Target="/ppt/notesSlides/notesSlide6.xml" Id="R1683acd3f88a49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cd32aabc84f60" /><Relationship Type="http://schemas.openxmlformats.org/officeDocument/2006/relationships/image" Target="/ppt/media/image6.png" Id="Rba2d199ccbee4879" /><Relationship Type="http://schemas.openxmlformats.org/officeDocument/2006/relationships/notesSlide" Target="/ppt/notesSlides/notesSlide7.xml" Id="Ra58d6569813a46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EFFADB3-C24B-464A-A482-53E431F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整体项目安排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5D2154-B96E-43F0-B2E9-7CEAA53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六步把一个问题说清：模型是否守指令，失败该改哪里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66D9FB-778F-4E38-BBD2-5560C32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DC85EB-6A27-49A6-A6DB-FF60299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A7B0684F-3DE1-469F-B089-30FA9B4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2887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0">
            <a:extLst xmlns:a="http://schemas.openxmlformats.org/drawingml/2006/main">
              <a:ext uri="{FF2B5EF4-FFF2-40B4-BE49-F238E27FC236}">
                <a16:creationId xmlns:a16="http://schemas.microsoft.com/office/drawing/2014/main" id="{3727BDF2-CC2A-4F3C-AA91-4F0E6BF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-0">
            <a:extLst xmlns:a="http://schemas.openxmlformats.org/drawingml/2006/main">
              <a:ext uri="{FF2B5EF4-FFF2-40B4-BE49-F238E27FC236}">
                <a16:creationId xmlns:a16="http://schemas.microsoft.com/office/drawing/2014/main" id="{20F518E8-7FC6-4EAD-A44E-6E969E7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51765322-5A09-483C-A66A-C483413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配置测试任务</a:t>
            </a:r>
          </a:p>
        </p:txBody>
      </p:sp>
      <p:sp>
        <p:nvSpPr>
          <p:cNvPr id="9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1D68444-C300-41DA-957D-0CADF61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任务 / 模型 / 批次 hash</a:t>
            </a:r>
          </a:p>
        </p:txBody>
      </p:sp>
      <p:sp>
        <p:nvSpPr>
          <p:cNvPr id="10" name="step-dot-1">
            <a:extLst xmlns:a="http://schemas.openxmlformats.org/drawingml/2006/main">
              <a:ext uri="{FF2B5EF4-FFF2-40B4-BE49-F238E27FC236}">
                <a16:creationId xmlns:a16="http://schemas.microsoft.com/office/drawing/2014/main" id="{C1DF2A64-EBDD-4012-8140-CB091C1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-1">
            <a:extLst xmlns:a="http://schemas.openxmlformats.org/drawingml/2006/main">
              <a:ext uri="{FF2B5EF4-FFF2-40B4-BE49-F238E27FC236}">
                <a16:creationId xmlns:a16="http://schemas.microsoft.com/office/drawing/2014/main" id="{9020754C-4655-4B67-93A1-D6945B15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2C15ABA-AF5B-4574-A693-1AE5E7C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建立评分标准</a:t>
            </a:r>
          </a:p>
        </p:txBody>
      </p:sp>
      <p:sp>
        <p:nvSpPr>
          <p:cNvPr id="1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C81D6D1-3A42-4375-A2DB-05B84F3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安全 + L1 业务</a:t>
            </a:r>
          </a:p>
        </p:txBody>
      </p:sp>
      <p:sp>
        <p:nvSpPr>
          <p:cNvPr id="14" name="step-dot-2">
            <a:extLst xmlns:a="http://schemas.openxmlformats.org/drawingml/2006/main">
              <a:ext uri="{FF2B5EF4-FFF2-40B4-BE49-F238E27FC236}">
                <a16:creationId xmlns:a16="http://schemas.microsoft.com/office/drawing/2014/main" id="{8B21AB0A-0540-4BED-B85C-74B3C3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336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-2">
            <a:extLst xmlns:a="http://schemas.openxmlformats.org/drawingml/2006/main">
              <a:ext uri="{FF2B5EF4-FFF2-40B4-BE49-F238E27FC236}">
                <a16:creationId xmlns:a16="http://schemas.microsoft.com/office/drawing/2014/main" id="{BE7D4578-4A77-4ECD-A191-6C6D728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5412980-B5B8-41C5-BBC7-CC881B8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测试外呼模型</a:t>
            </a:r>
          </a:p>
        </p:txBody>
      </p:sp>
      <p:sp>
        <p:nvSpPr>
          <p:cNvPr id="1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472E68F-8D8B-4A37-AF40-5384BD0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 / 日志 / 覆盖</a:t>
            </a:r>
          </a:p>
        </p:txBody>
      </p:sp>
      <p:sp>
        <p:nvSpPr>
          <p:cNvPr id="18" name="step-dot-3">
            <a:extLst xmlns:a="http://schemas.openxmlformats.org/drawingml/2006/main">
              <a:ext uri="{FF2B5EF4-FFF2-40B4-BE49-F238E27FC236}">
                <a16:creationId xmlns:a16="http://schemas.microsoft.com/office/drawing/2014/main" id="{4F4ED39A-5F4D-4827-A0E0-05B192C4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-3">
            <a:extLst xmlns:a="http://schemas.openxmlformats.org/drawingml/2006/main">
              <a:ext uri="{FF2B5EF4-FFF2-40B4-BE49-F238E27FC236}">
                <a16:creationId xmlns:a16="http://schemas.microsoft.com/office/drawing/2014/main" id="{F52B6353-AD90-4D20-ADD2-6BAE145C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97F5F26-12C6-452C-A2DF-1949CF7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输出评测报告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8E3E6EE-C136-46CD-9B40-5D5E42A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门禁 / 履约 / P0 / 证据</a:t>
            </a:r>
          </a:p>
        </p:txBody>
      </p:sp>
      <p:sp>
        <p:nvSpPr>
          <p:cNvPr id="22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85B92780-0A54-4176-AE54-80AED4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跑完这一套，精确输出：上线门禁、关键失败、首要根因与同尺回归计划。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E648FF3C-1484-417E-9F5E-498A0B7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接下来 6 页：真实代码 × 真实 Demo × 每一步的设计逻辑与精妙点</a:t>
            </a:r>
          </a:p>
        </p:txBody>
      </p:sp>
      <p:sp>
        <p:nvSpPr>
          <p:cNvPr id="24" name="flow-line-row-2">
            <a:extLst xmlns:a="http://schemas.openxmlformats.org/drawingml/2006/main">
              <a:ext uri="{FF2B5EF4-FFF2-40B4-BE49-F238E27FC236}">
                <a16:creationId xmlns:a16="http://schemas.microsoft.com/office/drawing/2014/main" id="{9FF7EABC-BEE2-4BDE-96F0-2075FF5D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91025"/>
            <a:ext cx="760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-dot-5">
            <a:extLst xmlns:a="http://schemas.openxmlformats.org/drawingml/2006/main">
              <a:ext uri="{FF2B5EF4-FFF2-40B4-BE49-F238E27FC236}">
                <a16:creationId xmlns:a16="http://schemas.microsoft.com/office/drawing/2014/main" id="{F9E6E76D-3B64-4136-83D1-EDAB2A4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step-n-5">
            <a:extLst xmlns:a="http://schemas.openxmlformats.org/drawingml/2006/main">
              <a:ext uri="{FF2B5EF4-FFF2-40B4-BE49-F238E27FC236}">
                <a16:creationId xmlns:a16="http://schemas.microsoft.com/office/drawing/2014/main" id="{A480B850-43FF-4E9C-8036-9539608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4879BEE7-933F-434D-9BC8-9F5EF41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分析失败原因</a:t>
            </a:r>
          </a:p>
        </p:txBody>
      </p:sp>
      <p:sp>
        <p:nvSpPr>
          <p:cNvPr id="28" name="step-body-5">
            <a:extLst xmlns:a="http://schemas.openxmlformats.org/drawingml/2006/main">
              <a:ext uri="{FF2B5EF4-FFF2-40B4-BE49-F238E27FC236}">
                <a16:creationId xmlns:a16="http://schemas.microsoft.com/office/drawing/2014/main" id="{6A2887F8-74C4-4104-8D6A-242A585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模型 / SOP / 裁判 / 数据</a:t>
            </a:r>
          </a:p>
        </p:txBody>
      </p:sp>
      <p:sp>
        <p:nvSpPr>
          <p:cNvPr id="29" name="step-dot-6">
            <a:extLst xmlns:a="http://schemas.openxmlformats.org/drawingml/2006/main">
              <a:ext uri="{FF2B5EF4-FFF2-40B4-BE49-F238E27FC236}">
                <a16:creationId xmlns:a16="http://schemas.microsoft.com/office/drawing/2014/main" id="{23E73DBE-3366-4643-901F-4A27567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957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9525">
            <a:solidFill>
              <a:srgbClr val="FFCC00"/>
            </a:solidFill>
            <a:prstDash val="solid"/>
          </a:ln>
        </p:spPr>
      </p:sp>
      <p:sp>
        <p:nvSpPr>
          <p:cNvPr id="30" name="step-n-6">
            <a:extLst xmlns:a="http://schemas.openxmlformats.org/drawingml/2006/main">
              <a:ext uri="{FF2B5EF4-FFF2-40B4-BE49-F238E27FC236}">
                <a16:creationId xmlns:a16="http://schemas.microsoft.com/office/drawing/2014/main" id="{0AF895B3-0C7D-4F4A-AD53-77115B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5290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1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52A093D1-21A9-4D21-AA78-5E4C7BF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优化与回归</a:t>
            </a:r>
          </a:p>
        </p:txBody>
      </p:sp>
      <p:sp>
        <p:nvSpPr>
          <p:cNvPr id="32" name="step-body-6">
            <a:extLst xmlns:a="http://schemas.openxmlformats.org/drawingml/2006/main">
              <a:ext uri="{FF2B5EF4-FFF2-40B4-BE49-F238E27FC236}">
                <a16:creationId xmlns:a16="http://schemas.microsoft.com/office/drawing/2014/main" id="{230A79F8-88BC-4067-BD59-AED39F7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7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对应优化 / 同尺回归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六步方案设计与代码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配置任务：锁定被评对象与同一批输入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先锁定输入，才有资格比较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为什么：否则批次、模型和口径会漂移，结果无法复现。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模拟 / 日志双入口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本次测试数量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HASH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/ 对话 / 模型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demo_server.py / _create_intake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test_mode = requested or ("logs" if transcripts else "simulation")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hashes = {"sop": task_hash, "transcripts": transcript_hash}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输出 task_package.json · 同批次版本化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精妙：入口不同，但统一产出版本化任务包；后续每一步都沿用同一批输入与 hash。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576bfed864a59"/>
          <a:srcRect xmlns:a="http://schemas.openxmlformats.org/drawingml/2006/main" l="0" t="6719" r="0" b="6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六步方案设计与代码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建立标准：把 SOP 编译成 L0 + L1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自然语言 SOP，不能直接拿来评分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为什么：每条规则必须原子化，并带着来源引文和严重度。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83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原子检查点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L0 通用安全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78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L1 业务规则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raw = llm.chat_json(messages, schema_hint=CHECKPOINT_SCHEMA)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cp = _coerce_checkpoint(raw, source_body)  # 溯源校验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L0 safety + L1 business · needs_review 门禁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精妙：LLM 负责抽取，确定性代码负责枚举归一与来源校验；生成评分尺但不让模型自说自话。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d2504420846d1"/>
          <a:srcRect xmlns:a="http://schemas.openxmlformats.org/drawingml/2006/main" l="0" t="6719" r="0" b="6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六步方案设计与代码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测试模型：模拟器主动覆盖真实分支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没有现成日志，也能主动制造测试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为什么：Persona × 对抗策略 × 固定 seed，让覆盖可控且可复现。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Persona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测试对话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60%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检查点覆盖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sim = UserSimulator(persona, task, targets, seed)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run_batch(..., base_seed=20260713, adversarial=True)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同一 Checklist · 双入口共用判定链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精妙：模拟测试与已有日志共用同一 Checklist 和判定链；未触达检查点会显式暴露。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ec489f1804597"/>
          <a:srcRect xmlns:a="http://schemas.openxmlformats.org/drawingml/2006/main" l="0" t="6719" r="0" b="6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六步方案设计与代码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评测报告：把总分变成上线门禁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业务需要的是门禁，不是一个平均分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为什么：P0、履约、覆盖和逐项证据共同决定能否上线。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打回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最终门禁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P0 触发通话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demo_server.py / _decision_payload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summary["gate"]; fulfillment = summary["fulfillment_rate"]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problems.sort(key=(failure_rate, severity))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report.html + decision.json · 可下载审计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精妙：第 4 步就是核心交付终点；报告同时给结论、证据、盲区和可下载产物。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1202a8b9c46dc"/>
          <a:srcRect xmlns:a="http://schemas.openxmlformats.org/drawingml/2006/main" l="0" t="6719" r="0" b="6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六步方案设计与代码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根因分析：区分模型、SOP、裁判与数据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低分不等于模型差，先排除混杂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为什么：同时检查四类信号，避免错误团队承担修复成本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通话打回率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履约率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95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模型归因分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score = block*35 + gap*25 + p0*30 + key_fail*20 + ...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if strong_instruction or strong_judge: confidence = "low"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确定性多信号归因 · 不调用 LLM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精妙：先识别强 SOP / 裁判 / 数据故障，再综合打回、履约、P0、关键失败和严重度归因。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86ac3614e4809"/>
          <a:srcRect xmlns:a="http://schemas.openxmlformats.org/drawingml/2006/main" l="0" t="6719" r="0" b="6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六步方案设计与代码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优化回归：按根因回到正确步骤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0CE3BC9-D8B1-4041-B5E5-CD8D9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诊断必须回到正确步骤闭环</a:t>
            </a:r>
          </a:p>
        </p:txBody>
      </p:sp>
      <p:sp>
        <p:nvSpPr>
          <p:cNvPr id="6" name="decision-sub">
            <a:extLst xmlns:a="http://schemas.openxmlformats.org/drawingml/2006/main">
              <a:ext uri="{FF2B5EF4-FFF2-40B4-BE49-F238E27FC236}">
                <a16:creationId xmlns:a16="http://schemas.microsoft.com/office/drawing/2014/main" id="{C81463E1-CB7C-4B7A-8684-3880325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为什么：模型问题不能顺手改评分尺，否则回归结果失去可比性。</a:t>
            </a:r>
          </a:p>
        </p:txBody>
      </p:sp>
      <p:sp>
        <p:nvSpPr>
          <p:cNvPr id="7" name="stat-0">
            <a:extLst xmlns:a="http://schemas.openxmlformats.org/drawingml/2006/main">
              <a:ext uri="{FF2B5EF4-FFF2-40B4-BE49-F238E27FC236}">
                <a16:creationId xmlns:a16="http://schemas.microsoft.com/office/drawing/2014/main" id="{A64EB69F-1AD3-45AE-93F6-D916A93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步骤 3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7261F069-84D1-4836-A1CB-0A3A5D5C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模型问题回归入口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C2588DEE-1FC2-4818-B044-00FEF0E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不变</a:t>
            </a:r>
          </a:p>
        </p:txBody>
      </p:sp>
      <p:sp>
        <p:nvSpPr>
          <p:cNvPr id="10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F2DA5F17-C3CD-4B4D-96F7-5057D54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SOP hash</a:t>
            </a:r>
          </a:p>
        </p:txBody>
      </p:sp>
      <p:sp>
        <p:nvSpPr>
          <p:cNvPr id="11" name="stat-2">
            <a:extLst xmlns:a="http://schemas.openxmlformats.org/drawingml/2006/main">
              <a:ext uri="{FF2B5EF4-FFF2-40B4-BE49-F238E27FC236}">
                <a16:creationId xmlns:a16="http://schemas.microsoft.com/office/drawing/2014/main" id="{A2568244-186A-4F43-AECE-BB8E99D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不变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46EB030E-F492-46E3-8C5B-6A223CBE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Checklist hash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demo_server.py / _plan_payload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return_step = {"instruction": 2, "target_model": 3}[category]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sop_changed = (category == "instruction")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regression_request.json · 固定 hash 同尺重测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71875FB-1E0E-4D7E-850B-F8DA480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722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精妙：模型问题回第 3 步同尺重测；SOP 问题回第 2 步重建评分尺，责任与动作一一对应。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d199ccbee4879"/>
          <a:srcRect xmlns:a="http://schemas.openxmlformats.org/drawingml/2006/main" l="0" t="6719" r="0" b="6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2026-07-14T05:35:11.7150000Z</dcterms:created>
  <dcterms:modified xsi:type="dcterms:W3CDTF">2026-07-14T05:35:11.7150000Z</dcterms:modified>
</coreProperties>
</file>