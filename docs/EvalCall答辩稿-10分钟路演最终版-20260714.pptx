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f72da9ce44cfb" /><Relationship Type="http://schemas.openxmlformats.org/officeDocument/2006/relationships/extended-properties" Target="/docProps/app.xml" Id="R247f96279e0d4a16" /><Relationship Type="http://schemas.openxmlformats.org/officeDocument/2006/relationships/officeDocument" Target="/ppt/presentation.xml" Id="Rf504b6e4d446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a69d9c6564af9"/>
  </p:sldMasterIdLst>
  <p:notesMasterIdLst>
    <p:notesMasterId xmlns:r="http://schemas.openxmlformats.org/officeDocument/2006/relationships" r:id="Ra9098d6d2b784e25"/>
  </p:notesMasterIdLst>
  <p:sldIdLst>
    <p:sldId xmlns:r="http://schemas.openxmlformats.org/officeDocument/2006/relationships" id="256" r:id="Ra4c102c1f079454c"/>
    <p:sldId xmlns:r="http://schemas.openxmlformats.org/officeDocument/2006/relationships" id="257" r:id="Rd18411482d8f4d28"/>
    <p:sldId xmlns:r="http://schemas.openxmlformats.org/officeDocument/2006/relationships" id="258" r:id="R2de8ebfb5abd4a3f"/>
    <p:sldId xmlns:r="http://schemas.openxmlformats.org/officeDocument/2006/relationships" id="259" r:id="R50c4cd27828e48d0"/>
    <p:sldId xmlns:r="http://schemas.openxmlformats.org/officeDocument/2006/relationships" id="260" r:id="R7d043ada75a04dc7"/>
    <p:sldId xmlns:r="http://schemas.openxmlformats.org/officeDocument/2006/relationships" id="261" r:id="Raa7127de89f44e10"/>
    <p:sldId xmlns:r="http://schemas.openxmlformats.org/officeDocument/2006/relationships" id="262" r:id="Rdb4f575e431e4462"/>
    <p:sldId xmlns:r="http://schemas.openxmlformats.org/officeDocument/2006/relationships" id="263" r:id="Rd31e48b8ceca4c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fa0c94ece5468f" /><Relationship Type="http://schemas.openxmlformats.org/officeDocument/2006/relationships/slideMaster" Target="/ppt/slideMasters/slideMaster1.xml" Id="Rbc9a69d9c6564af9" /><Relationship Type="http://schemas.openxmlformats.org/officeDocument/2006/relationships/notesMaster" Target="/ppt/notesMasters/notesMaster1.xml" Id="Ra9098d6d2b784e25" /><Relationship Type="http://schemas.openxmlformats.org/officeDocument/2006/relationships/presProps" Target="/ppt/presProps.xml" Id="R575073c6087b4a99" /><Relationship Type="http://schemas.openxmlformats.org/officeDocument/2006/relationships/tableStyles" Target="/ppt/tableStyles.xml" Id="R0b353df0160c4bc1" /><Relationship Type="http://schemas.openxmlformats.org/officeDocument/2006/relationships/slide" Target="/ppt/slides/slide1.xml" Id="Ra4c102c1f079454c" /><Relationship Type="http://schemas.openxmlformats.org/officeDocument/2006/relationships/slide" Target="/ppt/slides/slide2.xml" Id="Rd18411482d8f4d28" /><Relationship Type="http://schemas.openxmlformats.org/officeDocument/2006/relationships/slide" Target="/ppt/slides/slide3.xml" Id="R2de8ebfb5abd4a3f" /><Relationship Type="http://schemas.openxmlformats.org/officeDocument/2006/relationships/slide" Target="/ppt/slides/slide4.xml" Id="R50c4cd27828e48d0" /><Relationship Type="http://schemas.openxmlformats.org/officeDocument/2006/relationships/slide" Target="/ppt/slides/slide5.xml" Id="R7d043ada75a04dc7" /><Relationship Type="http://schemas.openxmlformats.org/officeDocument/2006/relationships/slide" Target="/ppt/slides/slide6.xml" Id="Raa7127de89f44e10" /><Relationship Type="http://schemas.openxmlformats.org/officeDocument/2006/relationships/slide" Target="/ppt/slides/slide7.xml" Id="Rdb4f575e431e4462" /><Relationship Type="http://schemas.openxmlformats.org/officeDocument/2006/relationships/slide" Target="/ppt/slides/slide8.xml" Id="Rd31e48b8ceca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51dd45e6594a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f265253a141cd" /><Relationship Type="http://schemas.openxmlformats.org/officeDocument/2006/relationships/notesMaster" Target="/ppt/notesMasters/notesMaster1.xml" Id="Rbccf66d8a4b848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3a571387714ca8" /><Relationship Type="http://schemas.openxmlformats.org/officeDocument/2006/relationships/notesMaster" Target="/ppt/notesMasters/notesMaster1.xml" Id="Rcfb927f3641146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c8519346649ef" /><Relationship Type="http://schemas.openxmlformats.org/officeDocument/2006/relationships/notesMaster" Target="/ppt/notesMasters/notesMaster1.xml" Id="Rc9ce15e02cbb43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e73041261c4168" /><Relationship Type="http://schemas.openxmlformats.org/officeDocument/2006/relationships/notesMaster" Target="/ppt/notesMasters/notesMaster1.xml" Id="Rccf3d8b49bb3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39a7e738324752" /><Relationship Type="http://schemas.openxmlformats.org/officeDocument/2006/relationships/notesMaster" Target="/ppt/notesMasters/notesMaster1.xml" Id="R5ddc13230e4e4d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35b9e7a36e4f2a" /><Relationship Type="http://schemas.openxmlformats.org/officeDocument/2006/relationships/notesMaster" Target="/ppt/notesMasters/notesMaster1.xml" Id="R2de998a6851b4e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c37f996564480e" /><Relationship Type="http://schemas.openxmlformats.org/officeDocument/2006/relationships/notesMaster" Target="/ppt/notesMasters/notesMaster1.xml" Id="Rb3122f50225945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375150cad48c6" /><Relationship Type="http://schemas.openxmlformats.org/officeDocument/2006/relationships/notesMaster" Target="/ppt/notesMasters/notesMaster1.xml" Id="R1a69f5b54f40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704f5dbc74c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827449375248c5" /><Relationship Type="http://schemas.openxmlformats.org/officeDocument/2006/relationships/slideLayout" Target="/ppt/slideLayouts/slideLayout1.xml" Id="R9bad36cb1c6b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d36cb1c6b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f4b00b61c4da3" /><Relationship Type="http://schemas.openxmlformats.org/officeDocument/2006/relationships/notesSlide" Target="/ppt/notesSlides/notesSlide1.xml" Id="R9319218d4659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b3ee494114a7f" /><Relationship Type="http://schemas.openxmlformats.org/officeDocument/2006/relationships/notesSlide" Target="/ppt/notesSlides/notesSlide2.xml" Id="R05bf89e7f203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365213274251" /><Relationship Type="http://schemas.openxmlformats.org/officeDocument/2006/relationships/notesSlide" Target="/ppt/notesSlides/notesSlide3.xml" Id="R9a435cf39ae7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f0016d53f4420" /><Relationship Type="http://schemas.openxmlformats.org/officeDocument/2006/relationships/notesSlide" Target="/ppt/notesSlides/notesSlide4.xml" Id="R53603626b76742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b3435cf64f7e" /><Relationship Type="http://schemas.openxmlformats.org/officeDocument/2006/relationships/notesSlide" Target="/ppt/notesSlides/notesSlide5.xml" Id="Rcee6858f374745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7352e96604826" /><Relationship Type="http://schemas.openxmlformats.org/officeDocument/2006/relationships/chart" Target="/ppt/slides/charts/chart1.xml" Id="R4f65e44682e04685" /><Relationship Type="http://schemas.openxmlformats.org/officeDocument/2006/relationships/notesSlide" Target="/ppt/notesSlides/notesSlide6.xml" Id="Rf49d0b5358a845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0a20eff59426a" /><Relationship Type="http://schemas.openxmlformats.org/officeDocument/2006/relationships/notesSlide" Target="/ppt/notesSlides/notesSlide7.xml" Id="Raa5b590fbcbc41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2c5edda904f0c" /><Relationship Type="http://schemas.openxmlformats.org/officeDocument/2006/relationships/notesSlide" Target="/ppt/notesSlides/notesSlide8.xml" Id="Rb489b399fbd74c4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准确率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流程 flow</c:v>
              </c:pt>
              <c:pt idx="1">
                <c:v>约束 constraint</c:v>
              </c:pt>
              <c:pt idx="2">
                <c:v>话术 style</c:v>
              </c:pt>
              <c:pt idx="3">
                <c:v>禁令 forbidden</c:v>
              </c:pt>
            </c:strLit>
          </c:cat>
          <c:val>
            <c:numLit>
              <c:formatCode>General</c:formatCode>
              <c:ptCount val="4"/>
              <c:pt idx="0">
                <c:v>92.17</c:v>
              </c:pt>
              <c:pt idx="1">
                <c:v>100</c:v>
              </c:pt>
              <c:pt idx="2">
                <c:v>70</c:v>
              </c:pt>
              <c:pt idx="3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F2F3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8C1320E4-0883-4CAE-83CD-5170D02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211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367AE2C-8EAA-48AA-9A6E-99FFBE0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 · 命题二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1A74519-D173-4239-8AF6-989FD261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76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自动测试外呼模型，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评估任务指令遵循。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326B335-E077-4AF8-8DFE-F5122E84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主线：评模型 · 保障：审 SOP / 校裁判 / 做归因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50FBCDE-0BBB-48E9-87D3-B057ED0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用户模拟器官方交付  ·  六步真实链路  ·  缓存/实时分标  ·  每个数字可追溯</a:t>
            </a:r>
          </a:p>
        </p:txBody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1C40933E-B6B7-4887-B516-46A2D49C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19700"/>
            <a:ext cx="81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DBB8B2B-0F81-490B-8334-CF0A4257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2903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D5BD869-E4D0-487F-B1E3-5723ABAE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AFCB1A-7D38-4459-9600-A0A2EB88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先把四个角色摆正，才不会把问题归错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4F9AF1-9F37-4F4F-8F2F-062066AF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E67A00B-6514-444D-BE69-FCC972EE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D7B73E7C-3BDF-4971-848A-66BAB236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495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被评对象，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只有外呼模型。</a:t>
            </a:r>
          </a:p>
        </p:txBody>
      </p:sp>
      <p:sp>
        <p:nvSpPr>
          <p:cNvPr id="6" name="thesis-sub">
            <a:extLst xmlns:a="http://schemas.openxmlformats.org/drawingml/2006/main">
              <a:ext uri="{FF2B5EF4-FFF2-40B4-BE49-F238E27FC236}">
                <a16:creationId xmlns:a16="http://schemas.microsoft.com/office/drawing/2014/main" id="{E2D91175-ED95-48EF-A21D-E6C4A28E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是评分依据；模拟器是测试工具；日志是过程证据。</a:t>
            </a:r>
          </a:p>
        </p:txBody>
      </p:sp>
      <p:sp>
        <p:nvSpPr>
          <p:cNvPr id="7" name="row-0">
            <a:extLst xmlns:a="http://schemas.openxmlformats.org/drawingml/2006/main">
              <a:ext uri="{FF2B5EF4-FFF2-40B4-BE49-F238E27FC236}">
                <a16:creationId xmlns:a16="http://schemas.microsoft.com/office/drawing/2014/main" id="{84BB58FA-F732-4A1F-B88E-AC91D0A9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AEA4C8E3-2089-447E-A581-F64D924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1F50CCDA-6CB8-4E32-8195-D4684B29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外呼模型</a:t>
            </a:r>
          </a:p>
        </p:txBody>
      </p:sp>
      <p:sp>
        <p:nvSpPr>
          <p:cNvPr id="10" name="body-0">
            <a:extLst xmlns:a="http://schemas.openxmlformats.org/drawingml/2006/main">
              <a:ext uri="{FF2B5EF4-FFF2-40B4-BE49-F238E27FC236}">
                <a16:creationId xmlns:a16="http://schemas.microsoft.com/office/drawing/2014/main" id="{F4F53B62-3B20-4599-99B8-B42B7F2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在特定任务指令下完成任务并守住红线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B7D9BF6A-84C6-4818-9E69-F44B4FA8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1">
            <a:extLst xmlns:a="http://schemas.openxmlformats.org/drawingml/2006/main">
              <a:ext uri="{FF2B5EF4-FFF2-40B4-BE49-F238E27FC236}">
                <a16:creationId xmlns:a16="http://schemas.microsoft.com/office/drawing/2014/main" id="{F7A767D4-33BA-4306-BE15-CACAC1B8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956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4D6FB679-605F-4761-9713-D0D685BB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 + Checklist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31C12497-2EDB-4BE9-82B7-15988E97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195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定义应该怎么做，是固定评分尺</a:t>
            </a:r>
          </a:p>
        </p:txBody>
      </p:sp>
      <p:sp>
        <p:nvSpPr>
          <p:cNvPr id="15" name="row-2">
            <a:extLst xmlns:a="http://schemas.openxmlformats.org/drawingml/2006/main">
              <a:ext uri="{FF2B5EF4-FFF2-40B4-BE49-F238E27FC236}">
                <a16:creationId xmlns:a16="http://schemas.microsoft.com/office/drawing/2014/main" id="{B9B99AD5-CB03-489B-88FB-F04E28D7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170D729E-789E-4345-B8CA-081B6E7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52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0371E863-CA3E-4053-B2BA-D6F653E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用户模拟器 + 日志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648EDC08-4AD5-49F1-ADB4-ABAAAF1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7680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生成可控测试对话，并保留逐轮证据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ACEDE55A-34DA-4A0D-943E-24380FF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赛题主线：任务指令遵循效果；诊断、校准与归因只负责保障结论可信。</a:t>
            </a:r>
          </a:p>
        </p:txBody>
      </p:sp>
    </p:spTree>
    <p:extLst>
      <p:ext uri="{BB962C8B-B14F-4D97-AF65-F5344CB8AC3E}">
        <p14:creationId xmlns:p14="http://schemas.microsoft.com/office/powerpoint/2010/main" val="321294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六步真实链路：第 4 步交付模型评测报告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配置任务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+ 被测模型 / 日志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建立标准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通用安全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用户模拟器 / 已有日志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评测报告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+ 履约 + P0 + 覆盖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 4 步是核心交付终点；第 5–6 步只在失败后解释和闭环。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双入口：模拟测试模式 / 已有日志质检模式 · 统一保留版本、hash 与下载产物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分析根因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优化回归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对应优化 + 同尺重测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40B12DE-ABA5-42D1-81AE-240F173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632429-A0E9-4BA4-8325-1603B2A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评模型是主线，三类保障防止错误归责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04EBBFD-D124-4D33-9A52-106B9DD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6FA89AD-65F9-414B-9CF6-9EF2A0B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v-rule-1">
            <a:extLst xmlns:a="http://schemas.openxmlformats.org/drawingml/2006/main">
              <a:ext uri="{FF2B5EF4-FFF2-40B4-BE49-F238E27FC236}">
                <a16:creationId xmlns:a16="http://schemas.microsoft.com/office/drawing/2014/main" id="{BD2AC75D-3B93-4466-B8D5-B07A505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812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-rule-2">
            <a:extLst xmlns:a="http://schemas.openxmlformats.org/drawingml/2006/main">
              <a:ext uri="{FF2B5EF4-FFF2-40B4-BE49-F238E27FC236}">
                <a16:creationId xmlns:a16="http://schemas.microsoft.com/office/drawing/2014/main" id="{2EE76CFF-C4E6-441D-88D1-2E743572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l-n-0">
            <a:extLst xmlns:a="http://schemas.openxmlformats.org/drawingml/2006/main">
              <a:ext uri="{FF2B5EF4-FFF2-40B4-BE49-F238E27FC236}">
                <a16:creationId xmlns:a16="http://schemas.microsoft.com/office/drawing/2014/main" id="{16A8FBB5-3798-4A3E-8E5D-54F60CC2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主线</a:t>
            </a:r>
          </a:p>
        </p:txBody>
      </p:sp>
      <p:sp>
        <p:nvSpPr>
          <p:cNvPr id="8" name="col-title-0">
            <a:extLst xmlns:a="http://schemas.openxmlformats.org/drawingml/2006/main">
              <a:ext uri="{FF2B5EF4-FFF2-40B4-BE49-F238E27FC236}">
                <a16:creationId xmlns:a16="http://schemas.microsoft.com/office/drawing/2014/main" id="{937B9171-E195-4ED4-9BCB-4C428E2D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评外呼模型</a:t>
            </a:r>
          </a:p>
        </p:txBody>
      </p:sp>
      <p:sp>
        <p:nvSpPr>
          <p:cNvPr id="9" name="col-q-0">
            <a:extLst xmlns:a="http://schemas.openxmlformats.org/drawingml/2006/main">
              <a:ext uri="{FF2B5EF4-FFF2-40B4-BE49-F238E27FC236}">
                <a16:creationId xmlns:a16="http://schemas.microsoft.com/office/drawing/2014/main" id="{0C0FBE93-D7A1-4A0F-A0EE-0A06BD0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它守不守任务指令？</a:t>
            </a:r>
          </a:p>
        </p:txBody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E909F648-5683-48D1-977C-4960DBA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用户模拟器生成对话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逐项判定 → 模型报告</a:t>
            </a:r>
          </a:p>
        </p:txBody>
      </p:sp>
      <p:sp>
        <p:nvSpPr>
          <p:cNvPr id="11" name="col-foot-0">
            <a:extLst xmlns:a="http://schemas.openxmlformats.org/drawingml/2006/main">
              <a:ext uri="{FF2B5EF4-FFF2-40B4-BE49-F238E27FC236}">
                <a16:creationId xmlns:a16="http://schemas.microsoft.com/office/drawing/2014/main" id="{05BBE201-550D-4616-9A63-12EE004D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第 4 步交付上线门禁</a:t>
            </a:r>
          </a:p>
        </p:txBody>
      </p:sp>
      <p:sp>
        <p:nvSpPr>
          <p:cNvPr id="12" name="col-n-1">
            <a:extLst xmlns:a="http://schemas.openxmlformats.org/drawingml/2006/main">
              <a:ext uri="{FF2B5EF4-FFF2-40B4-BE49-F238E27FC236}">
                <a16:creationId xmlns:a16="http://schemas.microsoft.com/office/drawing/2014/main" id="{E9EA7227-B354-4B84-AAF0-9261C658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A71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A7100"/>
                </a:solidFill>
                <a:latin typeface="PingFang SC"/>
                <a:ea typeface="PingFang SC"/>
                <a:cs typeface="PingFang SC"/>
              </a:rPr>
              <a:t>保障</a:t>
            </a:r>
          </a:p>
        </p:txBody>
      </p:sp>
      <p:sp>
        <p:nvSpPr>
          <p:cNvPr id="13" name="col-title-1">
            <a:extLst xmlns:a="http://schemas.openxmlformats.org/drawingml/2006/main">
              <a:ext uri="{FF2B5EF4-FFF2-40B4-BE49-F238E27FC236}">
                <a16:creationId xmlns:a16="http://schemas.microsoft.com/office/drawing/2014/main" id="{7D322B6F-DE14-4494-8C35-A1CBA001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 SOP</a:t>
            </a:r>
          </a:p>
        </p:txBody>
      </p:sp>
      <p:sp>
        <p:nvSpPr>
          <p:cNvPr id="14" name="col-q-1">
            <a:extLst xmlns:a="http://schemas.openxmlformats.org/drawingml/2006/main">
              <a:ext uri="{FF2B5EF4-FFF2-40B4-BE49-F238E27FC236}">
                <a16:creationId xmlns:a16="http://schemas.microsoft.com/office/drawing/2014/main" id="{E2C43780-D375-4DA7-BF97-F3CA3D0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评分尺自己健康吗？</a:t>
            </a:r>
          </a:p>
        </p:txBody>
      </p:sp>
      <p:sp>
        <p:nvSpPr>
          <p:cNvPr id="15" name="col-body-1">
            <a:extLst xmlns:a="http://schemas.openxmlformats.org/drawingml/2006/main">
              <a:ext uri="{FF2B5EF4-FFF2-40B4-BE49-F238E27FC236}">
                <a16:creationId xmlns:a16="http://schemas.microsoft.com/office/drawing/2014/main" id="{6382BDA7-5344-4F23-A51C-C4518DC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冲突 / 不可行 / 歧义 / 缺支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先审尺，再解释低分</a:t>
            </a:r>
          </a:p>
        </p:txBody>
      </p:sp>
      <p:sp>
        <p:nvSpPr>
          <p:cNvPr id="16" name="col-foot-1">
            <a:extLst xmlns:a="http://schemas.openxmlformats.org/drawingml/2006/main">
              <a:ext uri="{FF2B5EF4-FFF2-40B4-BE49-F238E27FC236}">
                <a16:creationId xmlns:a16="http://schemas.microsoft.com/office/drawing/2014/main" id="{DB36BE60-2974-495B-B083-3278C550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只在 SOP 真有问题时归责</a:t>
            </a:r>
          </a:p>
        </p:txBody>
      </p:sp>
      <p:sp>
        <p:nvSpPr>
          <p:cNvPr id="17" name="col-n-2">
            <a:extLst xmlns:a="http://schemas.openxmlformats.org/drawingml/2006/main">
              <a:ext uri="{FF2B5EF4-FFF2-40B4-BE49-F238E27FC236}">
                <a16:creationId xmlns:a16="http://schemas.microsoft.com/office/drawing/2014/main" id="{BD9E4C8D-FECC-4BA7-B9E9-8B7228D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24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保障</a:t>
            </a:r>
          </a:p>
        </p:txBody>
      </p:sp>
      <p:sp>
        <p:nvSpPr>
          <p:cNvPr id="18" name="col-title-2">
            <a:extLst xmlns:a="http://schemas.openxmlformats.org/drawingml/2006/main">
              <a:ext uri="{FF2B5EF4-FFF2-40B4-BE49-F238E27FC236}">
                <a16:creationId xmlns:a16="http://schemas.microsoft.com/office/drawing/2014/main" id="{663DDBAC-8F26-4B4F-AACD-3C77C5C7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校准与归因</a:t>
            </a:r>
          </a:p>
        </p:txBody>
      </p:sp>
      <p:sp>
        <p:nvSpPr>
          <p:cNvPr id="19" name="col-q-2">
            <a:extLst xmlns:a="http://schemas.openxmlformats.org/drawingml/2006/main">
              <a:ext uri="{FF2B5EF4-FFF2-40B4-BE49-F238E27FC236}">
                <a16:creationId xmlns:a16="http://schemas.microsoft.com/office/drawing/2014/main" id="{3E2C8E27-AF30-40A6-B0A3-DAEBB55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裁判和证据可靠吗？</a:t>
            </a:r>
          </a:p>
        </p:txBody>
      </p:sp>
      <p:sp>
        <p:nvSpPr>
          <p:cNvPr id="20" name="col-body-2">
            <a:extLst xmlns:a="http://schemas.openxmlformats.org/drawingml/2006/main">
              <a:ext uri="{FF2B5EF4-FFF2-40B4-BE49-F238E27FC236}">
                <a16:creationId xmlns:a16="http://schemas.microsoft.com/office/drawing/2014/main" id="{9E48C8E0-8211-4A2C-95AC-3BCFEB23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0000"/>
            <a:ext cx="3028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黄金集 / NA / 分歧 / 覆盖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四类根因确定性收口</a:t>
            </a:r>
          </a:p>
        </p:txBody>
      </p:sp>
      <p:sp>
        <p:nvSpPr>
          <p:cNvPr id="21" name="col-foot-2">
            <a:extLst xmlns:a="http://schemas.openxmlformats.org/drawingml/2006/main">
              <a:ext uri="{FF2B5EF4-FFF2-40B4-BE49-F238E27FC236}">
                <a16:creationId xmlns:a16="http://schemas.microsoft.com/office/drawing/2014/main" id="{4E2F1529-3ED8-46AE-99E9-0654449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10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降低误判，不替代评模型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2AA18A06-6183-4D7E-8A38-23772C30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所有保障都服务于同一个结果：对外呼模型的指令遵循结论可信、可审计、可回归。</a:t>
            </a:r>
          </a:p>
        </p:txBody>
      </p:sp>
    </p:spTree>
    <p:extLst>
      <p:ext uri="{BB962C8B-B14F-4D97-AF65-F5344CB8AC3E}">
        <p14:creationId xmlns:p14="http://schemas.microsoft.com/office/powerpoint/2010/main" val="1036341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固定 SOP / Checklist 下，系统把失败归给外呼模型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⛔ 打回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 通固定测试（模拟器 6 + 分支夹具 4）· delivery-baseline-v1 · GPT-5.6-sol/xhigh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通测试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打回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56959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64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A6400"/>
                </a:solidFill>
                <a:latin typeface="PingFang SC"/>
                <a:ea typeface="PingFang SC"/>
                <a:cs typeface="PingFang SC"/>
              </a:rPr>
              <a:t>首要归因 · 外呼模型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履约 10.0% · 关键失败 225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 体检草稿不自动绑定归因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 NA 40.0% · 分歧 0.0%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动作：只改模型/对话策略，SOP 与 Checklist 哈希不变。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证据：runs/demo_main_t02_healthy_20260713/ · 无手工修改 judgments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5D20F9C-3097-41D6-9889-5FD8DA5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CC0E2D-2111-4DE1-AFE5-8828AC3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裁判也要考试，但它只是可信度保障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646E5B-96DF-4FE1-B691-1DC2175A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D104CC5-A329-464A-900F-F2A5FAE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33400" y="1924050"/>
          <a:ext xmlns:a="http://schemas.openxmlformats.org/drawingml/2006/main" cx="63246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65e44682e04685"/>
          </a:graphicData>
        </a:graphic>
      </p:graphicFrame>
      <p:sp>
        <p:nvSpPr>
          <p:cNvPr id="6" name="cal-panel">
            <a:extLst xmlns:a="http://schemas.openxmlformats.org/drawingml/2006/main">
              <a:ext uri="{FF2B5EF4-FFF2-40B4-BE49-F238E27FC236}">
                <a16:creationId xmlns:a16="http://schemas.microsoft.com/office/drawing/2014/main" id="{64A65B56-6F5B-4730-8C7D-DD847D0B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24050"/>
            <a:ext cx="4210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l-acc">
            <a:extLst xmlns:a="http://schemas.openxmlformats.org/drawingml/2006/main">
              <a:ext uri="{FF2B5EF4-FFF2-40B4-BE49-F238E27FC236}">
                <a16:creationId xmlns:a16="http://schemas.microsoft.com/office/drawing/2014/main" id="{CE1D5938-6F1C-4FD4-AF2C-6B3B479A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92.73%</a:t>
            </a:r>
          </a:p>
        </p:txBody>
      </p:sp>
      <p:sp>
        <p:nvSpPr>
          <p:cNvPr id="8" name="cal-acc-label">
            <a:extLst xmlns:a="http://schemas.openxmlformats.org/drawingml/2006/main">
              <a:ext uri="{FF2B5EF4-FFF2-40B4-BE49-F238E27FC236}">
                <a16:creationId xmlns:a16="http://schemas.microsoft.com/office/drawing/2014/main" id="{AF8852FB-9511-4E89-B6EC-87E72EB2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总体准确率 · 153 / 165</a:t>
            </a:r>
          </a:p>
        </p:txBody>
      </p:sp>
      <p:sp>
        <p:nvSpPr>
          <p:cNvPr id="9" name="cal-p0">
            <a:extLst xmlns:a="http://schemas.openxmlformats.org/drawingml/2006/main">
              <a:ext uri="{FF2B5EF4-FFF2-40B4-BE49-F238E27FC236}">
                <a16:creationId xmlns:a16="http://schemas.microsoft.com/office/drawing/2014/main" id="{DE1D0EC5-6DC0-4E7D-A5DC-0C04727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0" name="cal-p0-label">
            <a:extLst xmlns:a="http://schemas.openxmlformats.org/drawingml/2006/main">
              <a:ext uri="{FF2B5EF4-FFF2-40B4-BE49-F238E27FC236}">
                <a16:creationId xmlns:a16="http://schemas.microsoft.com/office/drawing/2014/main" id="{EC68296A-80B3-449E-82A0-04E2733A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24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fail recall · 11 / 11</a:t>
            </a:r>
          </a:p>
        </p:txBody>
      </p:sp>
      <p:sp>
        <p:nvSpPr>
          <p:cNvPr id="11" name="cal-warn">
            <a:extLst xmlns:a="http://schemas.openxmlformats.org/drawingml/2006/main">
              <a:ext uri="{FF2B5EF4-FFF2-40B4-BE49-F238E27FC236}">
                <a16:creationId xmlns:a16="http://schemas.microsoft.com/office/drawing/2014/main" id="{99D8FD49-CFCC-4A55-88A5-242753B6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style 仅 70%；错误时仍可能高置信。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B27A001B-FB15-4E5A-84AD-1BCC98B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32 case / 165 真值 · 单模型 1 票 · 校准结果不外推为线上准确率</a:t>
            </a:r>
          </a:p>
        </p:txBody>
      </p:sp>
    </p:spTree>
    <p:extLst>
      <p:ext uri="{BB962C8B-B14F-4D97-AF65-F5344CB8AC3E}">
        <p14:creationId xmlns:p14="http://schemas.microsoft.com/office/powerpoint/2010/main" val="144069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B393ECA-81D8-4939-8442-5AF153B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美团 AI HACKATHON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742BEA-8D1F-433A-96E8-AB0FB0FF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同一套归因框架，能区分模型问题与 SOP 问题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E925885-A53C-4DC5-90E9-89CDD7F8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9499219-6297-4EFF-B6B5-AD66A11C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FC5AAA36-08CC-4DB4-B83D-FD82001E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配送时间改约</a:t>
            </a:r>
          </a:p>
        </p:txBody>
      </p:sp>
      <p:sp>
        <p:nvSpPr>
          <p:cNvPr id="6" name="col-head-1">
            <a:extLst xmlns:a="http://schemas.openxmlformats.org/drawingml/2006/main">
              <a:ext uri="{FF2B5EF4-FFF2-40B4-BE49-F238E27FC236}">
                <a16:creationId xmlns:a16="http://schemas.microsoft.com/office/drawing/2014/main" id="{141C34B2-3D6C-411E-88E7-C09BED50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低延迟直播升级</a:t>
            </a:r>
          </a:p>
        </p:txBody>
      </p:sp>
      <p:sp>
        <p:nvSpPr>
          <p:cNvPr id="7" name="row-rule-0">
            <a:extLst xmlns:a="http://schemas.openxmlformats.org/drawingml/2006/main">
              <a:ext uri="{FF2B5EF4-FFF2-40B4-BE49-F238E27FC236}">
                <a16:creationId xmlns:a16="http://schemas.microsoft.com/office/drawing/2014/main" id="{2C310D33-5B4F-4B07-9615-BD8849B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0">
            <a:extLst xmlns:a="http://schemas.openxmlformats.org/drawingml/2006/main">
              <a:ext uri="{FF2B5EF4-FFF2-40B4-BE49-F238E27FC236}">
                <a16:creationId xmlns:a16="http://schemas.microsoft.com/office/drawing/2014/main" id="{40B76F10-739B-4B4E-BF7D-77A1127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首要根因</a:t>
            </a:r>
          </a:p>
        </p:txBody>
      </p:sp>
      <p:sp>
        <p:nvSpPr>
          <p:cNvPr id="9" name="claude-0">
            <a:extLst xmlns:a="http://schemas.openxmlformats.org/drawingml/2006/main">
              <a:ext uri="{FF2B5EF4-FFF2-40B4-BE49-F238E27FC236}">
                <a16:creationId xmlns:a16="http://schemas.microsoft.com/office/drawing/2014/main" id="{0280D199-77A2-454C-9799-7B9058F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288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外呼模型</a:t>
            </a:r>
          </a:p>
        </p:txBody>
      </p:sp>
      <p:sp>
        <p:nvSpPr>
          <p:cNvPr id="10" name="gpt-0">
            <a:extLst xmlns:a="http://schemas.openxmlformats.org/drawingml/2006/main">
              <a:ext uri="{FF2B5EF4-FFF2-40B4-BE49-F238E27FC236}">
                <a16:creationId xmlns:a16="http://schemas.microsoft.com/office/drawing/2014/main" id="{6316D431-BFF7-4511-A4E0-121355A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288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92D20"/>
                </a:solidFill>
                <a:latin typeface="PingFang SC"/>
                <a:ea typeface="PingFang SC"/>
                <a:cs typeface="PingFang SC"/>
              </a:rPr>
              <a:t>SOP / 指令</a:t>
            </a:r>
          </a:p>
        </p:txBody>
      </p:sp>
      <p:sp>
        <p:nvSpPr>
          <p:cNvPr id="11" name="row-rule-1">
            <a:extLst xmlns:a="http://schemas.openxmlformats.org/drawingml/2006/main">
              <a:ext uri="{FF2B5EF4-FFF2-40B4-BE49-F238E27FC236}">
                <a16:creationId xmlns:a16="http://schemas.microsoft.com/office/drawing/2014/main" id="{D554BF4D-824B-4848-8957-DA2EB436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F97685C9-15CB-4B1C-8F7A-11E891F2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体检</a:t>
            </a:r>
          </a:p>
        </p:txBody>
      </p:sp>
      <p:sp>
        <p:nvSpPr>
          <p:cNvPr id="13" name="claude-1">
            <a:extLst xmlns:a="http://schemas.openxmlformats.org/drawingml/2006/main">
              <a:ext uri="{FF2B5EF4-FFF2-40B4-BE49-F238E27FC236}">
                <a16:creationId xmlns:a16="http://schemas.microsoft.com/office/drawing/2014/main" id="{B349D28D-AD4D-47CB-990E-DA0AE2AA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718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草稿留痕 · 不自动绑定</a:t>
            </a:r>
          </a:p>
        </p:txBody>
      </p:sp>
      <p:sp>
        <p:nvSpPr>
          <p:cNvPr id="14" name="gpt-1">
            <a:extLst xmlns:a="http://schemas.openxmlformats.org/drawingml/2006/main">
              <a:ext uri="{FF2B5EF4-FFF2-40B4-BE49-F238E27FC236}">
                <a16:creationId xmlns:a16="http://schemas.microsoft.com/office/drawing/2014/main" id="{70C7E590-DFDA-42E2-BFD4-56CCE33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718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 / 100</a:t>
            </a:r>
          </a:p>
        </p:txBody>
      </p:sp>
      <p:sp>
        <p:nvSpPr>
          <p:cNvPr id="15" name="row-rule-2">
            <a:extLst xmlns:a="http://schemas.openxmlformats.org/drawingml/2006/main">
              <a:ext uri="{FF2B5EF4-FFF2-40B4-BE49-F238E27FC236}">
                <a16:creationId xmlns:a16="http://schemas.microsoft.com/office/drawing/2014/main" id="{F7C390A0-A780-4BFC-BCC9-2B1D04C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2">
            <a:extLst xmlns:a="http://schemas.openxmlformats.org/drawingml/2006/main">
              <a:ext uri="{FF2B5EF4-FFF2-40B4-BE49-F238E27FC236}">
                <a16:creationId xmlns:a16="http://schemas.microsoft.com/office/drawing/2014/main" id="{9D28611C-AFAB-4316-8E96-C2009AE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模型表现</a:t>
            </a:r>
          </a:p>
        </p:txBody>
      </p:sp>
      <p:sp>
        <p:nvSpPr>
          <p:cNvPr id="17" name="claude-2">
            <a:extLst xmlns:a="http://schemas.openxmlformats.org/drawingml/2006/main">
              <a:ext uri="{FF2B5EF4-FFF2-40B4-BE49-F238E27FC236}">
                <a16:creationId xmlns:a16="http://schemas.microsoft.com/office/drawing/2014/main" id="{63EB13A1-0C4C-4E7C-84F2-C3C254E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147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 10/10</a:t>
            </a:r>
          </a:p>
        </p:txBody>
      </p:sp>
      <p:sp>
        <p:nvSpPr>
          <p:cNvPr id="18" name="gpt-2">
            <a:extLst xmlns:a="http://schemas.openxmlformats.org/drawingml/2006/main">
              <a:ext uri="{FF2B5EF4-FFF2-40B4-BE49-F238E27FC236}">
                <a16:creationId xmlns:a16="http://schemas.microsoft.com/office/drawing/2014/main" id="{B17C2AC1-E17F-401C-B91A-F69599B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147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 9/10</a:t>
            </a:r>
          </a:p>
        </p:txBody>
      </p:sp>
      <p:sp>
        <p:nvSpPr>
          <p:cNvPr id="19" name="row-rule-3">
            <a:extLst xmlns:a="http://schemas.openxmlformats.org/drawingml/2006/main">
              <a:ext uri="{FF2B5EF4-FFF2-40B4-BE49-F238E27FC236}">
                <a16:creationId xmlns:a16="http://schemas.microsoft.com/office/drawing/2014/main" id="{CB77DDC0-5B39-4601-89A3-05643F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3">
            <a:extLst xmlns:a="http://schemas.openxmlformats.org/drawingml/2006/main">
              <a:ext uri="{FF2B5EF4-FFF2-40B4-BE49-F238E27FC236}">
                <a16:creationId xmlns:a16="http://schemas.microsoft.com/office/drawing/2014/main" id="{4366F1CA-D021-4FC5-A2A0-2532193C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归责动作</a:t>
            </a:r>
          </a:p>
        </p:txBody>
      </p:sp>
      <p:sp>
        <p:nvSpPr>
          <p:cNvPr id="21" name="claude-3">
            <a:extLst xmlns:a="http://schemas.openxmlformats.org/drawingml/2006/main">
              <a:ext uri="{FF2B5EF4-FFF2-40B4-BE49-F238E27FC236}">
                <a16:creationId xmlns:a16="http://schemas.microsoft.com/office/drawing/2014/main" id="{F6455B0C-A92F-478C-94C6-CBEB39EB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改模型 · 回第3步</a:t>
            </a:r>
          </a:p>
        </p:txBody>
      </p:sp>
      <p:sp>
        <p:nvSpPr>
          <p:cNvPr id="22" name="gpt-3">
            <a:extLst xmlns:a="http://schemas.openxmlformats.org/drawingml/2006/main">
              <a:ext uri="{FF2B5EF4-FFF2-40B4-BE49-F238E27FC236}">
                <a16:creationId xmlns:a16="http://schemas.microsoft.com/office/drawing/2014/main" id="{0449FA5C-7EFA-4C57-980B-923B266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 SOP · 回第2步</a:t>
            </a:r>
          </a:p>
        </p:txBody>
      </p:sp>
      <p:sp>
        <p:nvSpPr>
          <p:cNvPr id="23" name="honesty">
            <a:extLst xmlns:a="http://schemas.openxmlformats.org/drawingml/2006/main">
              <a:ext uri="{FF2B5EF4-FFF2-40B4-BE49-F238E27FC236}">
                <a16:creationId xmlns:a16="http://schemas.microsoft.com/office/drawing/2014/main" id="{CAF01728-B45F-417E-9F02-4F0FBEA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onesty-text">
            <a:extLst xmlns:a="http://schemas.openxmlformats.org/drawingml/2006/main">
              <a:ext uri="{FF2B5EF4-FFF2-40B4-BE49-F238E27FC236}">
                <a16:creationId xmlns:a16="http://schemas.microsoft.com/office/drawing/2014/main" id="{834602EA-CDE3-4DCD-9EBD-9DB9ED7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结论：固定 SOP / Checklist 下的高打回、低履约或 P0，不能再被误判成证据不足。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7ADC165B-8FFC-4348-894C-4544F5E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同一指标框架：打回 / 履约 / P0 / 关键失败 / 严重度 / SOP 健康 / NA / 分歧</a:t>
            </a:r>
          </a:p>
        </p:txBody>
      </p:sp>
    </p:spTree>
    <p:extLst>
      <p:ext uri="{BB962C8B-B14F-4D97-AF65-F5344CB8AC3E}">
        <p14:creationId xmlns:p14="http://schemas.microsoft.com/office/powerpoint/2010/main" val="1992125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4FC18B40-978A-4BEC-8755-6265765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211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951F4FA-5D16-4299-9ACD-0E7D470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现场演示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F88ECB1-B743-41C8-A72B-E0234E4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8001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自动测试模型，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输出可审计的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指令遵循报告。</a:t>
            </a:r>
          </a:p>
        </p:txBody>
      </p:sp>
      <p:sp>
        <p:nvSpPr>
          <p:cNvPr id="4" name="close-flow">
            <a:extLst xmlns:a="http://schemas.openxmlformats.org/drawingml/2006/main">
              <a:ext uri="{FF2B5EF4-FFF2-40B4-BE49-F238E27FC236}">
                <a16:creationId xmlns:a16="http://schemas.microsoft.com/office/drawing/2014/main" id="{6558E155-445F-4F69-AD1E-D1E4B5C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模拟测试：SOP → 用户模拟器 → 模型报告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已有日志：SOP + 日志 → 模型报告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389ABE49-50A4-41FA-A331-86598DA6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第 4 步交付报告；失败后按根因回第 2 / 3 步同尺回归。</a:t>
            </a:r>
          </a:p>
        </p:txBody>
      </p:sp>
      <p:sp>
        <p:nvSpPr>
          <p:cNvPr id="6" name="brand-final">
            <a:extLst xmlns:a="http://schemas.openxmlformats.org/drawingml/2006/main">
              <a:ext uri="{FF2B5EF4-FFF2-40B4-BE49-F238E27FC236}">
                <a16:creationId xmlns:a16="http://schemas.microsoft.com/office/drawing/2014/main" id="{E576D13E-641F-4C28-86E4-46452164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19700"/>
            <a:ext cx="1123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EC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1562F01-2BC4-442B-8FFE-B8B107E7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7339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2026-07-14T04:43:51.4800000Z</dcterms:created>
  <dcterms:modified xsi:type="dcterms:W3CDTF">2026-07-14T04:43:51.4800000Z</dcterms:modified>
</coreProperties>
</file>