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16090c318d41e6" /><Relationship Type="http://schemas.openxmlformats.org/officeDocument/2006/relationships/extended-properties" Target="/docProps/app.xml" Id="Rf9c9933af69d4a4f" /><Relationship Type="http://schemas.openxmlformats.org/officeDocument/2006/relationships/officeDocument" Target="/ppt/presentation.xml" Id="R14dc19b692ba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d5e0417b584858"/>
  </p:sldMasterIdLst>
  <p:notesMasterIdLst>
    <p:notesMasterId xmlns:r="http://schemas.openxmlformats.org/officeDocument/2006/relationships" r:id="R999508801583447b"/>
  </p:notesMasterIdLst>
  <p:sldIdLst>
    <p:sldId xmlns:r="http://schemas.openxmlformats.org/officeDocument/2006/relationships" id="256" r:id="R84358fbe7b3c4b9d"/>
    <p:sldId xmlns:r="http://schemas.openxmlformats.org/officeDocument/2006/relationships" id="257" r:id="Re787a98381f64c64"/>
    <p:sldId xmlns:r="http://schemas.openxmlformats.org/officeDocument/2006/relationships" id="258" r:id="Rcb0f98ccf0f44ab2"/>
    <p:sldId xmlns:r="http://schemas.openxmlformats.org/officeDocument/2006/relationships" id="259" r:id="Raa0a8872cdeb48a4"/>
    <p:sldId xmlns:r="http://schemas.openxmlformats.org/officeDocument/2006/relationships" id="260" r:id="Re15b54bb4a1f42b2"/>
    <p:sldId xmlns:r="http://schemas.openxmlformats.org/officeDocument/2006/relationships" id="261" r:id="Rf090b476d11d4c8b"/>
    <p:sldId xmlns:r="http://schemas.openxmlformats.org/officeDocument/2006/relationships" id="262" r:id="Rb440ff3bd4be41f8"/>
    <p:sldId xmlns:r="http://schemas.openxmlformats.org/officeDocument/2006/relationships" id="263" r:id="R4b9bb9e352e14a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5983f3a0cc4b89" /><Relationship Type="http://schemas.openxmlformats.org/officeDocument/2006/relationships/slideMaster" Target="/ppt/slideMasters/slideMaster1.xml" Id="R58d5e0417b584858" /><Relationship Type="http://schemas.openxmlformats.org/officeDocument/2006/relationships/notesMaster" Target="/ppt/notesMasters/notesMaster1.xml" Id="R999508801583447b" /><Relationship Type="http://schemas.openxmlformats.org/officeDocument/2006/relationships/presProps" Target="/ppt/presProps.xml" Id="R2493f4289010448d" /><Relationship Type="http://schemas.openxmlformats.org/officeDocument/2006/relationships/tableStyles" Target="/ppt/tableStyles.xml" Id="R29cca26c7834412d" /><Relationship Type="http://schemas.openxmlformats.org/officeDocument/2006/relationships/slide" Target="/ppt/slides/slide1.xml" Id="R84358fbe7b3c4b9d" /><Relationship Type="http://schemas.openxmlformats.org/officeDocument/2006/relationships/slide" Target="/ppt/slides/slide2.xml" Id="Re787a98381f64c64" /><Relationship Type="http://schemas.openxmlformats.org/officeDocument/2006/relationships/slide" Target="/ppt/slides/slide3.xml" Id="Rcb0f98ccf0f44ab2" /><Relationship Type="http://schemas.openxmlformats.org/officeDocument/2006/relationships/slide" Target="/ppt/slides/slide4.xml" Id="Raa0a8872cdeb48a4" /><Relationship Type="http://schemas.openxmlformats.org/officeDocument/2006/relationships/slide" Target="/ppt/slides/slide5.xml" Id="Re15b54bb4a1f42b2" /><Relationship Type="http://schemas.openxmlformats.org/officeDocument/2006/relationships/slide" Target="/ppt/slides/slide6.xml" Id="Rf090b476d11d4c8b" /><Relationship Type="http://schemas.openxmlformats.org/officeDocument/2006/relationships/slide" Target="/ppt/slides/slide7.xml" Id="Rb440ff3bd4be41f8" /><Relationship Type="http://schemas.openxmlformats.org/officeDocument/2006/relationships/slide" Target="/ppt/slides/slide8.xml" Id="R4b9bb9e352e14a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2479b9fed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54bd5c774f422d" /><Relationship Type="http://schemas.openxmlformats.org/officeDocument/2006/relationships/notesMaster" Target="/ppt/notesMasters/notesMaster1.xml" Id="Rfd6c1b5c262e46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1fa5ad209b444d" /><Relationship Type="http://schemas.openxmlformats.org/officeDocument/2006/relationships/notesMaster" Target="/ppt/notesMasters/notesMaster1.xml" Id="R6b91372780eb46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ea23db0dc4505" /><Relationship Type="http://schemas.openxmlformats.org/officeDocument/2006/relationships/notesMaster" Target="/ppt/notesMasters/notesMaster1.xml" Id="Rdfa04bf81998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d1de6ff624cba" /><Relationship Type="http://schemas.openxmlformats.org/officeDocument/2006/relationships/notesMaster" Target="/ppt/notesMasters/notesMaster1.xml" Id="Radc2d32f5ac0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c50a5d59d6401f" /><Relationship Type="http://schemas.openxmlformats.org/officeDocument/2006/relationships/notesMaster" Target="/ppt/notesMasters/notesMaster1.xml" Id="R31c6c14a4dd74e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c2dc504f0468a" /><Relationship Type="http://schemas.openxmlformats.org/officeDocument/2006/relationships/notesMaster" Target="/ppt/notesMasters/notesMaster1.xml" Id="R7d7c855e5b60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e7c2eba5f8443a" /><Relationship Type="http://schemas.openxmlformats.org/officeDocument/2006/relationships/notesMaster" Target="/ppt/notesMasters/notesMaster1.xml" Id="R86f5cc5528e54f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0c484ec00544b2" /><Relationship Type="http://schemas.openxmlformats.org/officeDocument/2006/relationships/notesMaster" Target="/ppt/notesMasters/notesMaster1.xml" Id="R5cfb5c1b2436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0b2bbf09341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6c2fca2394650" /><Relationship Type="http://schemas.openxmlformats.org/officeDocument/2006/relationships/slideLayout" Target="/ppt/slideLayouts/slideLayout1.xml" Id="R35db1573e4fb47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b1573e4fb47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14b14ce0f40ff" /><Relationship Type="http://schemas.openxmlformats.org/officeDocument/2006/relationships/notesSlide" Target="/ppt/notesSlides/notesSlide1.xml" Id="Rd2b7b302940a43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901a7f3174737" /><Relationship Type="http://schemas.openxmlformats.org/officeDocument/2006/relationships/notesSlide" Target="/ppt/notesSlides/notesSlide2.xml" Id="R492c9ec73d1845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ed8638dab414d" /><Relationship Type="http://schemas.openxmlformats.org/officeDocument/2006/relationships/notesSlide" Target="/ppt/notesSlides/notesSlide3.xml" Id="R57e5feed09464e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8ef35208d4e76" /><Relationship Type="http://schemas.openxmlformats.org/officeDocument/2006/relationships/notesSlide" Target="/ppt/notesSlides/notesSlide4.xml" Id="R0d815232124c4b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bd9420970450d" /><Relationship Type="http://schemas.openxmlformats.org/officeDocument/2006/relationships/notesSlide" Target="/ppt/notesSlides/notesSlide5.xml" Id="R63531413590c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155ef65a9489e" /><Relationship Type="http://schemas.openxmlformats.org/officeDocument/2006/relationships/chart" Target="/ppt/slides/charts/chart1.xml" Id="R59d4bc48cee644e0" /><Relationship Type="http://schemas.openxmlformats.org/officeDocument/2006/relationships/notesSlide" Target="/ppt/notesSlides/notesSlide6.xml" Id="Rc54d0b302c57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6d3d622d942fa" /><Relationship Type="http://schemas.openxmlformats.org/officeDocument/2006/relationships/notesSlide" Target="/ppt/notesSlides/notesSlide7.xml" Id="R93cb8f7a60cc49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fe50ab80a47ef" /><Relationship Type="http://schemas.openxmlformats.org/officeDocument/2006/relationships/notesSlide" Target="/ppt/notesSlides/notesSlide8.xml" Id="R03134df7600849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准确率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流程 flow</c:v>
              </c:pt>
              <c:pt idx="1">
                <c:v>约束 constraint</c:v>
              </c:pt>
              <c:pt idx="2">
                <c:v>话术 style</c:v>
              </c:pt>
              <c:pt idx="3">
                <c:v>禁令 forbidden</c:v>
              </c:pt>
            </c:strLit>
          </c:cat>
          <c:val>
            <c:numLit>
              <c:formatCode>General</c:formatCode>
              <c:ptCount val="4"/>
              <c:pt idx="0">
                <c:v>92.17</c:v>
              </c:pt>
              <c:pt idx="1">
                <c:v>100</c:v>
              </c:pt>
              <c:pt idx="2">
                <c:v>70</c:v>
              </c:pt>
              <c:pt idx="3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F2F3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8C1320E4-0883-4CAE-83CD-5170D02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211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367AE2C-8EAA-48AA-9A6E-99FFBE0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 · 命题二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1A74519-D173-4239-8AF6-989FD261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上传 SOP 和对话，</a:t>
            </a:r>
          </a:p>
          <a:p xmlns:a="http://schemas.openxmlformats.org/drawingml/2006/main">
            <a:pPr algn="l">
              <a:def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给出上线决策。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326B335-E077-4AF8-8DFE-F5122E8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不只打分：评模型 · 审指令 · 校裁判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50FBCDE-0BBB-48E9-87D3-B057ED0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32-case / 165 真值校准  ·  真实生产 SOP 三票评测  ·  每个数字可追溯</a:t>
            </a:r>
          </a:p>
        </p:txBody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1C40933E-B6B7-4887-B516-46A2D49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19700"/>
            <a:ext cx="81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DBB8B2B-0F81-490B-8334-CF0A425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2903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D5BD869-E4D0-487F-B1E3-5723ABAE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AFCB1A-7D38-4459-9600-A0A2EB8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难点不是打分，是证明分数可信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4F9AF1-9F37-4F4F-8F2F-062066AF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E67A00B-6514-444D-BE69-FCC972EE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D7B73E7C-3BDF-4971-848A-66BAB236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495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一个 0 分，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到底该改谁？</a:t>
            </a:r>
          </a:p>
        </p:txBody>
      </p:sp>
      <p:sp>
        <p:nvSpPr>
          <p:cNvPr id="6" name="thesis-sub">
            <a:extLst xmlns:a="http://schemas.openxmlformats.org/drawingml/2006/main">
              <a:ext uri="{FF2B5EF4-FFF2-40B4-BE49-F238E27FC236}">
                <a16:creationId xmlns:a16="http://schemas.microsoft.com/office/drawing/2014/main" id="{E2D91175-ED95-48EF-A21D-E6C4A28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模型、SOP、裁判、测试数据，任一层出错都会让结论失真。</a:t>
            </a:r>
          </a:p>
        </p:txBody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84BB58FA-F732-4A1F-B88E-AC91D0A9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AEA4C8E3-2089-447E-A581-F64D924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1F50CCDA-6CB8-4E32-8195-D4684B2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 自相矛盾</a:t>
            </a:r>
          </a:p>
        </p:txBody>
      </p:sp>
      <p:sp>
        <p:nvSpPr>
          <p:cNvPr id="10" name="body-0">
            <a:extLst xmlns:a="http://schemas.openxmlformats.org/drawingml/2006/main">
              <a:ext uri="{FF2B5EF4-FFF2-40B4-BE49-F238E27FC236}">
                <a16:creationId xmlns:a16="http://schemas.microsoft.com/office/drawing/2014/main" id="{F4F53B62-3B20-4599-99B8-B42B7F2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模型无论怎么答都可能被判错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B7D9BF6A-84C6-4818-9E69-F44B4FA8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1">
            <a:extLst xmlns:a="http://schemas.openxmlformats.org/drawingml/2006/main">
              <a:ext uri="{FF2B5EF4-FFF2-40B4-BE49-F238E27FC236}">
                <a16:creationId xmlns:a16="http://schemas.microsoft.com/office/drawing/2014/main" id="{F7A767D4-33BA-4306-BE15-CACAC1B8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956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4D6FB679-605F-4761-9713-D0D685BB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裁判高置信误判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1C12497-2EDB-4BE9-82B7-15988E97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195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错判时平均置信度仍达 96.25%</a:t>
            </a:r>
          </a:p>
        </p:txBody>
      </p:sp>
      <p:sp>
        <p:nvSpPr>
          <p:cNvPr id="15" name="row-2">
            <a:extLst xmlns:a="http://schemas.openxmlformats.org/drawingml/2006/main">
              <a:ext uri="{FF2B5EF4-FFF2-40B4-BE49-F238E27FC236}">
                <a16:creationId xmlns:a16="http://schemas.microsoft.com/office/drawing/2014/main" id="{B9B99AD5-CB03-489B-88FB-F04E28D7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170D729E-789E-4345-B8CA-081B6E7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52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0371E863-CA3E-4053-B2BA-D6F653E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测试只覆盖顺风局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648EDC08-4AD5-49F1-ADB4-ABAAAF1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768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上线后才遇到真正的拒绝与打断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CEDE55A-34DA-4A0D-943E-24380FF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证据：runs/calibration/calibration_32case_gpt56sol_xhigh_v1.json</a:t>
            </a:r>
          </a:p>
        </p:txBody>
      </p:sp>
    </p:spTree>
    <p:extLst>
      <p:ext uri="{BB962C8B-B14F-4D97-AF65-F5344CB8AC3E}">
        <p14:creationId xmlns:p14="http://schemas.microsoft.com/office/powerpoint/2010/main" val="321294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四步工作台，把评测收口为业务决策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899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选择 SOP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定义该遵循什么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9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导入对话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38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真实 / 脱敏 / ASR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确认检查尺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红线 + L1 业务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670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评测与决策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可上线 / 打回 / 无法判定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输出不止一个分数：门禁、P0、履约、证据、根因 owner、复核队列一次给齐。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产品入口：site-deploy/app.html · 本地服务：python -m evalcall demo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40B12DE-ABA5-42D1-81AE-240F173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632429-A0E9-4BA4-8325-1603B2A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三层闭环，分别回答三个“凭什么”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4EBBFD-D124-4D33-9A52-106B9DD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6FA89AD-65F9-414B-9CF6-9EF2A0B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v-rule-1">
            <a:extLst xmlns:a="http://schemas.openxmlformats.org/drawingml/2006/main">
              <a:ext uri="{FF2B5EF4-FFF2-40B4-BE49-F238E27FC236}">
                <a16:creationId xmlns:a16="http://schemas.microsoft.com/office/drawing/2014/main" id="{BD2AC75D-3B93-4466-B8D5-B07A505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812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-rule-2">
            <a:extLst xmlns:a="http://schemas.openxmlformats.org/drawingml/2006/main">
              <a:ext uri="{FF2B5EF4-FFF2-40B4-BE49-F238E27FC236}">
                <a16:creationId xmlns:a16="http://schemas.microsoft.com/office/drawing/2014/main" id="{2EE76CFF-C4E6-441D-88D1-2E74357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l-n-0">
            <a:extLst xmlns:a="http://schemas.openxmlformats.org/drawingml/2006/main">
              <a:ext uri="{FF2B5EF4-FFF2-40B4-BE49-F238E27FC236}">
                <a16:creationId xmlns:a16="http://schemas.microsoft.com/office/drawing/2014/main" id="{16A8FBB5-3798-4A3E-8E5D-54F60CC2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937B9171-E195-4ED4-9BCB-4C428E2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评模型</a:t>
            </a:r>
          </a:p>
        </p:txBody>
      </p:sp>
      <p:sp>
        <p:nvSpPr>
          <p:cNvPr id="9" name="col-q-0">
            <a:extLst xmlns:a="http://schemas.openxmlformats.org/drawingml/2006/main">
              <a:ext uri="{FF2B5EF4-FFF2-40B4-BE49-F238E27FC236}">
                <a16:creationId xmlns:a16="http://schemas.microsoft.com/office/drawing/2014/main" id="{0C0FBE93-D7A1-4A0F-A0EE-0A06BD0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它守不守指令？</a:t>
            </a:r>
          </a:p>
        </p:txBody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E909F648-5683-48D1-977C-4960DBA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指令编译 + 对抗模拟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规则/LLM 双轨 + 多数票</a:t>
            </a:r>
          </a:p>
        </p:txBody>
      </p:sp>
      <p:sp>
        <p:nvSpPr>
          <p:cNvPr id="11" name="col-foot-0">
            <a:extLst xmlns:a="http://schemas.openxmlformats.org/drawingml/2006/main">
              <a:ext uri="{FF2B5EF4-FFF2-40B4-BE49-F238E27FC236}">
                <a16:creationId xmlns:a16="http://schemas.microsoft.com/office/drawing/2014/main" id="{05BBE201-550D-4616-9A63-12EE004D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每条 fail 引用对话原文</a:t>
            </a:r>
          </a:p>
        </p:txBody>
      </p:sp>
      <p:sp>
        <p:nvSpPr>
          <p:cNvPr id="12" name="col-n-1">
            <a:extLst xmlns:a="http://schemas.openxmlformats.org/drawingml/2006/main">
              <a:ext uri="{FF2B5EF4-FFF2-40B4-BE49-F238E27FC236}">
                <a16:creationId xmlns:a16="http://schemas.microsoft.com/office/drawing/2014/main" id="{E9EA7227-B354-4B84-AAF0-9261C658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71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A71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col-title-1">
            <a:extLst xmlns:a="http://schemas.openxmlformats.org/drawingml/2006/main">
              <a:ext uri="{FF2B5EF4-FFF2-40B4-BE49-F238E27FC236}">
                <a16:creationId xmlns:a16="http://schemas.microsoft.com/office/drawing/2014/main" id="{7D322B6F-DE14-4494-8C35-A1CBA001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审指令</a:t>
            </a:r>
          </a:p>
        </p:txBody>
      </p:sp>
      <p:sp>
        <p:nvSpPr>
          <p:cNvPr id="14" name="col-q-1">
            <a:extLst xmlns:a="http://schemas.openxmlformats.org/drawingml/2006/main">
              <a:ext uri="{FF2B5EF4-FFF2-40B4-BE49-F238E27FC236}">
                <a16:creationId xmlns:a16="http://schemas.microsoft.com/office/drawing/2014/main" id="{E2C43780-D375-4DA7-BF97-F3CA3D0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低分是不是 SOP 的锅？</a:t>
            </a:r>
          </a:p>
        </p:txBody>
      </p:sp>
      <p:sp>
        <p:nvSpPr>
          <p:cNvPr id="15" name="col-body-1">
            <a:extLst xmlns:a="http://schemas.openxmlformats.org/drawingml/2006/main">
              <a:ext uri="{FF2B5EF4-FFF2-40B4-BE49-F238E27FC236}">
                <a16:creationId xmlns:a16="http://schemas.microsoft.com/office/drawing/2014/main" id="{6382BDA7-5344-4F23-A51C-C4518DC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冲突 / 不可行 / 歧义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缺失分支 + source_quote</a:t>
            </a:r>
          </a:p>
        </p:txBody>
      </p:sp>
      <p:sp>
        <p:nvSpPr>
          <p:cNvPr id="16" name="col-foot-1">
            <a:extLst xmlns:a="http://schemas.openxmlformats.org/drawingml/2006/main">
              <a:ext uri="{FF2B5EF4-FFF2-40B4-BE49-F238E27FC236}">
                <a16:creationId xmlns:a16="http://schemas.microsoft.com/office/drawing/2014/main" id="{DB36BE60-2974-495B-B083-3278C550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先治指令，再评模型</a:t>
            </a:r>
          </a:p>
        </p:txBody>
      </p:sp>
      <p:sp>
        <p:nvSpPr>
          <p:cNvPr id="17" name="col-n-2">
            <a:extLst xmlns:a="http://schemas.openxmlformats.org/drawingml/2006/main">
              <a:ext uri="{FF2B5EF4-FFF2-40B4-BE49-F238E27FC236}">
                <a16:creationId xmlns:a16="http://schemas.microsoft.com/office/drawing/2014/main" id="{BD9E4C8D-FECC-4BA7-B9E9-8B7228D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col-title-2">
            <a:extLst xmlns:a="http://schemas.openxmlformats.org/drawingml/2006/main">
              <a:ext uri="{FF2B5EF4-FFF2-40B4-BE49-F238E27FC236}">
                <a16:creationId xmlns:a16="http://schemas.microsoft.com/office/drawing/2014/main" id="{663DDBAC-8F26-4B4F-AACD-3C77C5C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校裁判</a:t>
            </a:r>
          </a:p>
        </p:txBody>
      </p:sp>
      <p:sp>
        <p:nvSpPr>
          <p:cNvPr id="19" name="col-q-2">
            <a:extLst xmlns:a="http://schemas.openxmlformats.org/drawingml/2006/main">
              <a:ext uri="{FF2B5EF4-FFF2-40B4-BE49-F238E27FC236}">
                <a16:creationId xmlns:a16="http://schemas.microsoft.com/office/drawing/2014/main" id="{3E2C8E27-AF30-40A6-B0A3-DAEBB55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为什么信评测器？</a:t>
            </a:r>
          </a:p>
        </p:txBody>
      </p:sp>
      <p:sp>
        <p:nvSpPr>
          <p:cNvPr id="20" name="col-body-2">
            <a:extLst xmlns:a="http://schemas.openxmlformats.org/drawingml/2006/main">
              <a:ext uri="{FF2B5EF4-FFF2-40B4-BE49-F238E27FC236}">
                <a16:creationId xmlns:a16="http://schemas.microsoft.com/office/drawing/2014/main" id="{9E48C8E0-8211-4A2C-95AC-3BCFEB23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已知答案注入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混淆矩阵 + P0 查全率</a:t>
            </a:r>
          </a:p>
        </p:txBody>
      </p:sp>
      <p:sp>
        <p:nvSpPr>
          <p:cNvPr id="21" name="col-foot-2">
            <a:extLst xmlns:a="http://schemas.openxmlformats.org/drawingml/2006/main">
              <a:ext uri="{FF2B5EF4-FFF2-40B4-BE49-F238E27FC236}">
                <a16:creationId xmlns:a16="http://schemas.microsoft.com/office/drawing/2014/main" id="{4E2F1529-3ED8-46AE-99E9-0654449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把裁判准确率印在报告上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2AA18A06-6183-4D7E-8A38-23772C3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三层闭环全部有实际 run / lint / calibration 产物，不依赖演示文案。</a:t>
            </a:r>
          </a:p>
        </p:txBody>
      </p:sp>
    </p:spTree>
    <p:extLst>
      <p:ext uri="{BB962C8B-B14F-4D97-AF65-F5344CB8AC3E}">
        <p14:creationId xmlns:p14="http://schemas.microsoft.com/office/powerpoint/2010/main" val="1036341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真实招聘 SOP：系统没有替坏指令背书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⛔ 打回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 通留档对话 · GPT-5.6-sol/xhigh · 3 票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43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检查点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fail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NA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56959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首要归因 · SOP / 任务指令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指令可行性 0 / 100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 项高严重度问题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模型失败率存在，但只给低置信归因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动作：先由业务 owner 修 SOP，再同尺回归。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证据：runs/m5_real_recruit_gpt56sol_xhigh_v2_20260712/summary.json · attribution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5D20F9C-3097-41D6-9889-5FD8DA5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CC0E2D-2111-4DE1-AFE5-8828AC3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165 个已知真值，把裁判误差印在报告上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646E5B-96DF-4FE1-B691-1DC2175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104CC5-A329-464A-900F-F2A5FAE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33400" y="1924050"/>
          <a:ext xmlns:a="http://schemas.openxmlformats.org/drawingml/2006/main" cx="63246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d4bc48cee644e0"/>
          </a:graphicData>
        </a:graphic>
      </p:graphicFrame>
      <p:sp>
        <p:nvSpPr>
          <p:cNvPr id="6" name="cal-panel">
            <a:extLst xmlns:a="http://schemas.openxmlformats.org/drawingml/2006/main">
              <a:ext uri="{FF2B5EF4-FFF2-40B4-BE49-F238E27FC236}">
                <a16:creationId xmlns:a16="http://schemas.microsoft.com/office/drawing/2014/main" id="{64A65B56-6F5B-4730-8C7D-DD847D0B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24050"/>
            <a:ext cx="4210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l-acc">
            <a:extLst xmlns:a="http://schemas.openxmlformats.org/drawingml/2006/main">
              <a:ext uri="{FF2B5EF4-FFF2-40B4-BE49-F238E27FC236}">
                <a16:creationId xmlns:a16="http://schemas.microsoft.com/office/drawing/2014/main" id="{CE1D5938-6F1C-4FD4-AF2C-6B3B479A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92.73%</a:t>
            </a:r>
          </a:p>
        </p:txBody>
      </p:sp>
      <p:sp>
        <p:nvSpPr>
          <p:cNvPr id="8" name="cal-acc-label">
            <a:extLst xmlns:a="http://schemas.openxmlformats.org/drawingml/2006/main">
              <a:ext uri="{FF2B5EF4-FFF2-40B4-BE49-F238E27FC236}">
                <a16:creationId xmlns:a16="http://schemas.microsoft.com/office/drawing/2014/main" id="{AF8852FB-9511-4E89-B6EC-87E72EB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总体准确率 · 153 / 165</a:t>
            </a:r>
          </a:p>
        </p:txBody>
      </p:sp>
      <p:sp>
        <p:nvSpPr>
          <p:cNvPr id="9" name="cal-p0">
            <a:extLst xmlns:a="http://schemas.openxmlformats.org/drawingml/2006/main">
              <a:ext uri="{FF2B5EF4-FFF2-40B4-BE49-F238E27FC236}">
                <a16:creationId xmlns:a16="http://schemas.microsoft.com/office/drawing/2014/main" id="{DE1D0EC5-6DC0-4E7D-A5DC-0C04727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0" name="cal-p0-label">
            <a:extLst xmlns:a="http://schemas.openxmlformats.org/drawingml/2006/main">
              <a:ext uri="{FF2B5EF4-FFF2-40B4-BE49-F238E27FC236}">
                <a16:creationId xmlns:a16="http://schemas.microsoft.com/office/drawing/2014/main" id="{EC68296A-80B3-449E-82A0-04E2733A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24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fail recall · 11 / 11</a:t>
            </a:r>
          </a:p>
        </p:txBody>
      </p:sp>
      <p:sp>
        <p:nvSpPr>
          <p:cNvPr id="11" name="cal-warn">
            <a:extLst xmlns:a="http://schemas.openxmlformats.org/drawingml/2006/main">
              <a:ext uri="{FF2B5EF4-FFF2-40B4-BE49-F238E27FC236}">
                <a16:creationId xmlns:a16="http://schemas.microsoft.com/office/drawing/2014/main" id="{99D8FD49-CFCC-4A55-88A5-242753B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但 style 仅 70%；错判仍会高置信。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B27A001B-FB15-4E5A-84AD-1BCC98B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32 case 全量黄金集 · 单模型 1 票 · 64 次调用 0 失败 · 不外推为线上漏判率</a:t>
            </a:r>
          </a:p>
        </p:txBody>
      </p:sp>
    </p:spTree>
    <p:extLst>
      <p:ext uri="{BB962C8B-B14F-4D97-AF65-F5344CB8AC3E}">
        <p14:creationId xmlns:p14="http://schemas.microsoft.com/office/powerpoint/2010/main" val="14406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B393ECA-81D8-4939-8442-5AF153B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742BEA-8D1F-433A-96E8-AB0FB0FF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跨模型没有赢家通吃，只有可操作差异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925885-A53C-4DC5-90E9-89CDD7F8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9499219-6297-4EFF-B6B5-AD66A11C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FC5AAA36-08CC-4DB4-B83D-FD82001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Claude Haiku</a:t>
            </a:r>
          </a:p>
        </p:txBody>
      </p:sp>
      <p:sp>
        <p:nvSpPr>
          <p:cNvPr id="6" name="col-head-1">
            <a:extLst xmlns:a="http://schemas.openxmlformats.org/drawingml/2006/main">
              <a:ext uri="{FF2B5EF4-FFF2-40B4-BE49-F238E27FC236}">
                <a16:creationId xmlns:a16="http://schemas.microsoft.com/office/drawing/2014/main" id="{141C34B2-3D6C-411E-88E7-C09BED5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GPT-5.6-sol</a:t>
            </a:r>
          </a:p>
        </p:txBody>
      </p:sp>
      <p:sp>
        <p:nvSpPr>
          <p:cNvPr id="7" name="row-rule-0">
            <a:extLst xmlns:a="http://schemas.openxmlformats.org/drawingml/2006/main">
              <a:ext uri="{FF2B5EF4-FFF2-40B4-BE49-F238E27FC236}">
                <a16:creationId xmlns:a16="http://schemas.microsoft.com/office/drawing/2014/main" id="{2C310D33-5B4F-4B07-9615-BD8849B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0">
            <a:extLst xmlns:a="http://schemas.openxmlformats.org/drawingml/2006/main">
              <a:ext uri="{FF2B5EF4-FFF2-40B4-BE49-F238E27FC236}">
                <a16:creationId xmlns:a16="http://schemas.microsoft.com/office/drawing/2014/main" id="{40B76F10-739B-4B4E-BF7D-77A1127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上线门禁</a:t>
            </a:r>
          </a:p>
        </p:txBody>
      </p:sp>
      <p:sp>
        <p:nvSpPr>
          <p:cNvPr id="9" name="claude-0">
            <a:extLst xmlns:a="http://schemas.openxmlformats.org/drawingml/2006/main">
              <a:ext uri="{FF2B5EF4-FFF2-40B4-BE49-F238E27FC236}">
                <a16:creationId xmlns:a16="http://schemas.microsoft.com/office/drawing/2014/main" id="{0280D199-77A2-454C-9799-7B9058F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288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打回</a:t>
            </a:r>
          </a:p>
        </p:txBody>
      </p:sp>
      <p:sp>
        <p:nvSpPr>
          <p:cNvPr id="10" name="gpt-0">
            <a:extLst xmlns:a="http://schemas.openxmlformats.org/drawingml/2006/main">
              <a:ext uri="{FF2B5EF4-FFF2-40B4-BE49-F238E27FC236}">
                <a16:creationId xmlns:a16="http://schemas.microsoft.com/office/drawing/2014/main" id="{6316D431-BFF7-4511-A4E0-121355A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288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打回</a:t>
            </a:r>
          </a:p>
        </p:txBody>
      </p:sp>
      <p:sp>
        <p:nvSpPr>
          <p:cNvPr id="11" name="row-rule-1">
            <a:extLst xmlns:a="http://schemas.openxmlformats.org/drawingml/2006/main">
              <a:ext uri="{FF2B5EF4-FFF2-40B4-BE49-F238E27FC236}">
                <a16:creationId xmlns:a16="http://schemas.microsoft.com/office/drawing/2014/main" id="{D554BF4D-824B-4848-8957-DA2EB436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F97685C9-15CB-4B1C-8F7A-11E891F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履约达成</a:t>
            </a:r>
          </a:p>
        </p:txBody>
      </p:sp>
      <p:sp>
        <p:nvSpPr>
          <p:cNvPr id="13" name="claude-1">
            <a:extLst xmlns:a="http://schemas.openxmlformats.org/drawingml/2006/main">
              <a:ext uri="{FF2B5EF4-FFF2-40B4-BE49-F238E27FC236}">
                <a16:creationId xmlns:a16="http://schemas.microsoft.com/office/drawing/2014/main" id="{B349D28D-AD4D-47CB-990E-DA0AE2AA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718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14" name="gpt-1">
            <a:extLst xmlns:a="http://schemas.openxmlformats.org/drawingml/2006/main">
              <a:ext uri="{FF2B5EF4-FFF2-40B4-BE49-F238E27FC236}">
                <a16:creationId xmlns:a16="http://schemas.microsoft.com/office/drawing/2014/main" id="{70C7E590-DFDA-42E2-BFD4-56CCE33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718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15" name="row-rule-2">
            <a:extLst xmlns:a="http://schemas.openxmlformats.org/drawingml/2006/main">
              <a:ext uri="{FF2B5EF4-FFF2-40B4-BE49-F238E27FC236}">
                <a16:creationId xmlns:a16="http://schemas.microsoft.com/office/drawing/2014/main" id="{F7C390A0-A780-4BFC-BCC9-2B1D04C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2">
            <a:extLst xmlns:a="http://schemas.openxmlformats.org/drawingml/2006/main">
              <a:ext uri="{FF2B5EF4-FFF2-40B4-BE49-F238E27FC236}">
                <a16:creationId xmlns:a16="http://schemas.microsoft.com/office/drawing/2014/main" id="{9D28611C-AFAB-4316-8E96-C2009AE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违规 / 百判定</a:t>
            </a:r>
          </a:p>
        </p:txBody>
      </p:sp>
      <p:sp>
        <p:nvSpPr>
          <p:cNvPr id="17" name="claude-2">
            <a:extLst xmlns:a="http://schemas.openxmlformats.org/drawingml/2006/main">
              <a:ext uri="{FF2B5EF4-FFF2-40B4-BE49-F238E27FC236}">
                <a16:creationId xmlns:a16="http://schemas.microsoft.com/office/drawing/2014/main" id="{63EB13A1-0C4C-4E7C-84F2-C3C254E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147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37.2</a:t>
            </a:r>
          </a:p>
        </p:txBody>
      </p:sp>
      <p:sp>
        <p:nvSpPr>
          <p:cNvPr id="18" name="gpt-2">
            <a:extLst xmlns:a="http://schemas.openxmlformats.org/drawingml/2006/main">
              <a:ext uri="{FF2B5EF4-FFF2-40B4-BE49-F238E27FC236}">
                <a16:creationId xmlns:a16="http://schemas.microsoft.com/office/drawing/2014/main" id="{B17C2AC1-E17F-401C-B91A-F69599B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147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34.5</a:t>
            </a:r>
          </a:p>
        </p:txBody>
      </p:sp>
      <p:sp>
        <p:nvSpPr>
          <p:cNvPr id="19" name="row-rule-3">
            <a:extLst xmlns:a="http://schemas.openxmlformats.org/drawingml/2006/main">
              <a:ext uri="{FF2B5EF4-FFF2-40B4-BE49-F238E27FC236}">
                <a16:creationId xmlns:a16="http://schemas.microsoft.com/office/drawing/2014/main" id="{CB77DDC0-5B39-4601-89A3-05643F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3">
            <a:extLst xmlns:a="http://schemas.openxmlformats.org/drawingml/2006/main">
              <a:ext uri="{FF2B5EF4-FFF2-40B4-BE49-F238E27FC236}">
                <a16:creationId xmlns:a16="http://schemas.microsoft.com/office/drawing/2014/main" id="{4366F1CA-D021-4FC5-A2A0-2532193C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同尺检查点</a:t>
            </a:r>
          </a:p>
        </p:txBody>
      </p:sp>
      <p:sp>
        <p:nvSpPr>
          <p:cNvPr id="21" name="claude-3">
            <a:extLst xmlns:a="http://schemas.openxmlformats.org/drawingml/2006/main">
              <a:ext uri="{FF2B5EF4-FFF2-40B4-BE49-F238E27FC236}">
                <a16:creationId xmlns:a16="http://schemas.microsoft.com/office/drawing/2014/main" id="{F6455B0C-A92F-478C-94C6-CBEB39E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2" name="gpt-3">
            <a:extLst xmlns:a="http://schemas.openxmlformats.org/drawingml/2006/main">
              <a:ext uri="{FF2B5EF4-FFF2-40B4-BE49-F238E27FC236}">
                <a16:creationId xmlns:a16="http://schemas.microsoft.com/office/drawing/2014/main" id="{0449FA5C-7EFA-4C57-980B-923B266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 改善 · 2 退化</a:t>
            </a:r>
          </a:p>
        </p:txBody>
      </p:sp>
      <p:sp>
        <p:nvSpPr>
          <p:cNvPr id="23" name="honesty">
            <a:extLst xmlns:a="http://schemas.openxmlformats.org/drawingml/2006/main">
              <a:ext uri="{FF2B5EF4-FFF2-40B4-BE49-F238E27FC236}">
                <a16:creationId xmlns:a16="http://schemas.microsoft.com/office/drawing/2014/main" id="{CAF01728-B45F-417E-9F02-4F0FBEA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onesty-text">
            <a:extLst xmlns:a="http://schemas.openxmlformats.org/drawingml/2006/main">
              <a:ext uri="{FF2B5EF4-FFF2-40B4-BE49-F238E27FC236}">
                <a16:creationId xmlns:a16="http://schemas.microsoft.com/office/drawing/2014/main" id="{834602EA-CDE3-4DCD-9EBD-9DB9ED7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结论：GPT 提升履约与字数约束，但退化知情确认与口语自然度；两边都不能上线。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7ADC165B-8FFC-4348-894C-4544F5E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固定相同 20 个用户轮的 counterfactual replay；可能存在语义衔接限制，不冒充自然会话 A/B。</a:t>
            </a:r>
          </a:p>
        </p:txBody>
      </p:sp>
    </p:spTree>
    <p:extLst>
      <p:ext uri="{BB962C8B-B14F-4D97-AF65-F5344CB8AC3E}">
        <p14:creationId xmlns:p14="http://schemas.microsoft.com/office/powerpoint/2010/main" val="1992125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4FC18B40-978A-4BEC-8755-6265765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211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951F4FA-5D16-4299-9ACD-0E7D470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现场演示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F88ECB1-B743-41C8-A72B-E0234E4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800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交付的不是分数，</a:t>
            </a:r>
          </a:p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是一条可审计的</a:t>
            </a:r>
          </a:p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上线决策链。</a:t>
            </a:r>
          </a:p>
        </p:txBody>
      </p:sp>
      <p:sp>
        <p:nvSpPr>
          <p:cNvPr id="4" name="close-flow">
            <a:extLst xmlns:a="http://schemas.openxmlformats.org/drawingml/2006/main">
              <a:ext uri="{FF2B5EF4-FFF2-40B4-BE49-F238E27FC236}">
                <a16:creationId xmlns:a16="http://schemas.microsoft.com/office/drawing/2014/main" id="{6558E155-445F-4F69-AD1E-D1E4B5C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 SOP  →  导入对话  →  确认检查尺  →  门禁 / 证据 / 归因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389ABE49-50A4-41FA-A331-86598DA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下一步：现场实跑 1 通，30 秒内回到原始证据。</a:t>
            </a:r>
          </a:p>
        </p:txBody>
      </p:sp>
      <p:sp>
        <p:nvSpPr>
          <p:cNvPr id="6" name="brand-final">
            <a:extLst xmlns:a="http://schemas.openxmlformats.org/drawingml/2006/main">
              <a:ext uri="{FF2B5EF4-FFF2-40B4-BE49-F238E27FC236}">
                <a16:creationId xmlns:a16="http://schemas.microsoft.com/office/drawing/2014/main" id="{E576D13E-641F-4C28-86E4-46452164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19700"/>
            <a:ext cx="1123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EC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1562F01-2BC4-442B-8FFE-B8B107E7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339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2026-07-12T04:35:17.8550000Z</dcterms:created>
  <dcterms:modified xsi:type="dcterms:W3CDTF">2026-07-12T04:35:17.8550000Z</dcterms:modified>
</coreProperties>
</file>