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bd314f6b564a31" /><Relationship Type="http://schemas.openxmlformats.org/officeDocument/2006/relationships/extended-properties" Target="/docProps/app.xml" Id="Rec25ed7ca3aa4508" /><Relationship Type="http://schemas.openxmlformats.org/officeDocument/2006/relationships/officeDocument" Target="/ppt/presentation.xml" Id="Rd4707f4362ab44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16af8dc49d4d75"/>
  </p:sldMasterIdLst>
  <p:notesMasterIdLst>
    <p:notesMasterId xmlns:r="http://schemas.openxmlformats.org/officeDocument/2006/relationships" r:id="Rf6f0e75c1dff49dd"/>
  </p:notesMasterIdLst>
  <p:sldIdLst>
    <p:sldId xmlns:r="http://schemas.openxmlformats.org/officeDocument/2006/relationships" id="256" r:id="R8e624a8bb5104c91"/>
    <p:sldId xmlns:r="http://schemas.openxmlformats.org/officeDocument/2006/relationships" id="257" r:id="Rbec874605eee4c66"/>
    <p:sldId xmlns:r="http://schemas.openxmlformats.org/officeDocument/2006/relationships" id="258" r:id="Rf257eba08975429f"/>
    <p:sldId xmlns:r="http://schemas.openxmlformats.org/officeDocument/2006/relationships" id="259" r:id="Rdc731b378fd24998"/>
    <p:sldId xmlns:r="http://schemas.openxmlformats.org/officeDocument/2006/relationships" id="260" r:id="Re83108b3fc3f4903"/>
    <p:sldId xmlns:r="http://schemas.openxmlformats.org/officeDocument/2006/relationships" id="261" r:id="Ra17ba3d7788243fe"/>
    <p:sldId xmlns:r="http://schemas.openxmlformats.org/officeDocument/2006/relationships" id="262" r:id="R4b29076745f148e0"/>
    <p:sldId xmlns:r="http://schemas.openxmlformats.org/officeDocument/2006/relationships" id="263" r:id="R6919a1353d7941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9dfb44029247a6" /><Relationship Type="http://schemas.openxmlformats.org/officeDocument/2006/relationships/slideMaster" Target="/ppt/slideMasters/slideMaster1.xml" Id="R7f16af8dc49d4d75" /><Relationship Type="http://schemas.openxmlformats.org/officeDocument/2006/relationships/notesMaster" Target="/ppt/notesMasters/notesMaster1.xml" Id="Rf6f0e75c1dff49dd" /><Relationship Type="http://schemas.openxmlformats.org/officeDocument/2006/relationships/presProps" Target="/ppt/presProps.xml" Id="R9910cfba4ac54371" /><Relationship Type="http://schemas.openxmlformats.org/officeDocument/2006/relationships/tableStyles" Target="/ppt/tableStyles.xml" Id="R8da50c51e3f34467" /><Relationship Type="http://schemas.openxmlformats.org/officeDocument/2006/relationships/slide" Target="/ppt/slides/slide1.xml" Id="R8e624a8bb5104c91" /><Relationship Type="http://schemas.openxmlformats.org/officeDocument/2006/relationships/slide" Target="/ppt/slides/slide2.xml" Id="Rbec874605eee4c66" /><Relationship Type="http://schemas.openxmlformats.org/officeDocument/2006/relationships/slide" Target="/ppt/slides/slide3.xml" Id="Rf257eba08975429f" /><Relationship Type="http://schemas.openxmlformats.org/officeDocument/2006/relationships/slide" Target="/ppt/slides/slide4.xml" Id="Rdc731b378fd24998" /><Relationship Type="http://schemas.openxmlformats.org/officeDocument/2006/relationships/slide" Target="/ppt/slides/slide5.xml" Id="Re83108b3fc3f4903" /><Relationship Type="http://schemas.openxmlformats.org/officeDocument/2006/relationships/slide" Target="/ppt/slides/slide6.xml" Id="Ra17ba3d7788243fe" /><Relationship Type="http://schemas.openxmlformats.org/officeDocument/2006/relationships/slide" Target="/ppt/slides/slide7.xml" Id="R4b29076745f148e0" /><Relationship Type="http://schemas.openxmlformats.org/officeDocument/2006/relationships/slide" Target="/ppt/slides/slide8.xml" Id="R6919a1353d7941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9d7c0f0f0841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9f5212c40741e9" /><Relationship Type="http://schemas.openxmlformats.org/officeDocument/2006/relationships/notesMaster" Target="/ppt/notesMasters/notesMaster1.xml" Id="Ree61d41d456f44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3c5de8601f4062" /><Relationship Type="http://schemas.openxmlformats.org/officeDocument/2006/relationships/notesMaster" Target="/ppt/notesMasters/notesMaster1.xml" Id="R9e6ba23b58f94a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10d1f91124449f" /><Relationship Type="http://schemas.openxmlformats.org/officeDocument/2006/relationships/notesMaster" Target="/ppt/notesMasters/notesMaster1.xml" Id="R9d89b3d77ac84f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99af4cd1e84a91" /><Relationship Type="http://schemas.openxmlformats.org/officeDocument/2006/relationships/notesMaster" Target="/ppt/notesMasters/notesMaster1.xml" Id="R0e7a43aaf6124e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5ceda7c0574778" /><Relationship Type="http://schemas.openxmlformats.org/officeDocument/2006/relationships/notesMaster" Target="/ppt/notesMasters/notesMaster1.xml" Id="R3979bec5ed8e43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99285240214771" /><Relationship Type="http://schemas.openxmlformats.org/officeDocument/2006/relationships/notesMaster" Target="/ppt/notesMasters/notesMaster1.xml" Id="R83720dc043a742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3d18f6d48b44b9" /><Relationship Type="http://schemas.openxmlformats.org/officeDocument/2006/relationships/notesMaster" Target="/ppt/notesMasters/notesMaster1.xml" Id="R8fff24d476684f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e51e0e4eb14ad3" /><Relationship Type="http://schemas.openxmlformats.org/officeDocument/2006/relationships/notesMaster" Target="/ppt/notesMasters/notesMaster1.xml" Id="R9d150b72eb404f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1c8d5c1b6949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4a31abf4074f07" /><Relationship Type="http://schemas.openxmlformats.org/officeDocument/2006/relationships/slideLayout" Target="/ppt/slideLayouts/slideLayout1.xml" Id="Rd917bd2367894f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17bd2367894f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2a840f9de4bff" /><Relationship Type="http://schemas.openxmlformats.org/officeDocument/2006/relationships/notesSlide" Target="/ppt/notesSlides/notesSlide1.xml" Id="R466f64f5252848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9c63ae35640a8" /><Relationship Type="http://schemas.openxmlformats.org/officeDocument/2006/relationships/notesSlide" Target="/ppt/notesSlides/notesSlide2.xml" Id="R296cc594bb6645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69d9d3e8549a9" /><Relationship Type="http://schemas.openxmlformats.org/officeDocument/2006/relationships/notesSlide" Target="/ppt/notesSlides/notesSlide3.xml" Id="R3d98f3d9ae804a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0a42da9d84c5f" /><Relationship Type="http://schemas.openxmlformats.org/officeDocument/2006/relationships/notesSlide" Target="/ppt/notesSlides/notesSlide4.xml" Id="R1ca26bca56dd40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b1c770e6ce4cb7" /><Relationship Type="http://schemas.openxmlformats.org/officeDocument/2006/relationships/notesSlide" Target="/ppt/notesSlides/notesSlide5.xml" Id="Rfce3c2063fa1440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06b2b4c86463c" /><Relationship Type="http://schemas.openxmlformats.org/officeDocument/2006/relationships/chart" Target="/ppt/slides/charts/chart1.xml" Id="R1eceffb77ef34bcd" /><Relationship Type="http://schemas.openxmlformats.org/officeDocument/2006/relationships/notesSlide" Target="/ppt/notesSlides/notesSlide6.xml" Id="Rde67e81d67534a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1107209a14e6b" /><Relationship Type="http://schemas.openxmlformats.org/officeDocument/2006/relationships/notesSlide" Target="/ppt/notesSlides/notesSlide7.xml" Id="R8944b33d35fc4f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15dec15fb4163" /><Relationship Type="http://schemas.openxmlformats.org/officeDocument/2006/relationships/notesSlide" Target="/ppt/notesSlides/notesSlide8.xml" Id="Rf2b11b0287524ad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准确率 %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流程 flow</c:v>
              </c:pt>
              <c:pt idx="1">
                <c:v>约束 constraint</c:v>
              </c:pt>
              <c:pt idx="2">
                <c:v>话术 style</c:v>
              </c:pt>
              <c:pt idx="3">
                <c:v>禁令 forbidden</c:v>
              </c:pt>
            </c:strLit>
          </c:cat>
          <c:val>
            <c:numLit>
              <c:formatCode>General</c:formatCode>
              <c:ptCount val="4"/>
              <c:pt idx="0">
                <c:v>92.17</c:v>
              </c:pt>
              <c:pt idx="1">
                <c:v>100</c:v>
              </c:pt>
              <c:pt idx="2">
                <c:v>70</c:v>
              </c:pt>
              <c:pt idx="3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9CD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F2F3F5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field">
            <a:extLst xmlns:a="http://schemas.openxmlformats.org/drawingml/2006/main">
              <a:ext uri="{FF2B5EF4-FFF2-40B4-BE49-F238E27FC236}">
                <a16:creationId xmlns:a16="http://schemas.microsoft.com/office/drawing/2014/main" id="{8C1320E4-0883-4CAE-83CD-5170D02F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0"/>
            <a:ext cx="2114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7367AE2C-8EAA-48AA-9A6E-99FFBE05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美团 AI HACKATHON 2026 · 命题二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1A74519-D173-4239-8AF6-989FD261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876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5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上传 SOP 和对话，</a:t>
            </a:r>
          </a:p>
          <a:p xmlns:a="http://schemas.openxmlformats.org/drawingml/2006/main">
            <a:pPr algn="l">
              <a:buNone/>
              <a:defRPr sz="5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5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给出上线决策。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326B335-E077-4AF8-8DFE-F5122E84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71950"/>
            <a:ext cx="790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不只打分：评模型 · 审指令 · 校裁判</a:t>
            </a:r>
          </a:p>
        </p:txBody>
      </p:sp>
      <p:sp>
        <p:nvSpPr>
          <p:cNvPr id="5" name="cover-proof">
            <a:extLst xmlns:a="http://schemas.openxmlformats.org/drawingml/2006/main">
              <a:ext uri="{FF2B5EF4-FFF2-40B4-BE49-F238E27FC236}">
                <a16:creationId xmlns:a16="http://schemas.microsoft.com/office/drawing/2014/main" id="{150FBCDE-0BBB-48E9-87D3-B057ED0A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00650"/>
            <a:ext cx="876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六步真实链路  ·  四类可选样例  ·  32-case / 165 真值校准  ·  每个数字可追溯</a:t>
            </a:r>
          </a:p>
        </p:txBody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1C40933E-B6B7-4887-B516-46A2D49C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219700"/>
            <a:ext cx="819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E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3DBB8B2B-0F81-490B-8334-CF0A4257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529038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DD5BD869-E4D0-487F-B1E3-5723ABAE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美团 AI HACKATHON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0AFCB1A-7D38-4459-9600-A0A2EB88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难点不是打分，是证明分数可信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C44F9AF1-9F37-4F4F-8F2F-062066AF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E67A00B-6514-444D-BE69-FCC972EE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5" name="thesis">
            <a:extLst xmlns:a="http://schemas.openxmlformats.org/drawingml/2006/main">
              <a:ext uri="{FF2B5EF4-FFF2-40B4-BE49-F238E27FC236}">
                <a16:creationId xmlns:a16="http://schemas.microsoft.com/office/drawing/2014/main" id="{D7B73E7C-3BDF-4971-848A-66BAB236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4495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一个 0 分，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到底该改谁？</a:t>
            </a:r>
          </a:p>
        </p:txBody>
      </p:sp>
      <p:sp>
        <p:nvSpPr>
          <p:cNvPr id="6" name="thesis-sub">
            <a:extLst xmlns:a="http://schemas.openxmlformats.org/drawingml/2006/main">
              <a:ext uri="{FF2B5EF4-FFF2-40B4-BE49-F238E27FC236}">
                <a16:creationId xmlns:a16="http://schemas.microsoft.com/office/drawing/2014/main" id="{E2D91175-ED95-48EF-A21D-E6C4A28E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466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模型、SOP、裁判、测试数据，任一层出错都会让结论失真。</a:t>
            </a:r>
          </a:p>
        </p:txBody>
      </p:sp>
      <p:sp>
        <p:nvSpPr>
          <p:cNvPr id="7" name="row-0">
            <a:extLst xmlns:a="http://schemas.openxmlformats.org/drawingml/2006/main">
              <a:ext uri="{FF2B5EF4-FFF2-40B4-BE49-F238E27FC236}">
                <a16:creationId xmlns:a16="http://schemas.microsoft.com/office/drawing/2014/main" id="{84BB58FA-F732-4A1F-B88E-AC91D0A9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47850"/>
            <a:ext cx="57531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num-0">
            <a:extLst xmlns:a="http://schemas.openxmlformats.org/drawingml/2006/main">
              <a:ext uri="{FF2B5EF4-FFF2-40B4-BE49-F238E27FC236}">
                <a16:creationId xmlns:a16="http://schemas.microsoft.com/office/drawing/2014/main" id="{AEA4C8E3-2089-447E-A581-F64D9241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383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9" name="head-0">
            <a:extLst xmlns:a="http://schemas.openxmlformats.org/drawingml/2006/main">
              <a:ext uri="{FF2B5EF4-FFF2-40B4-BE49-F238E27FC236}">
                <a16:creationId xmlns:a16="http://schemas.microsoft.com/office/drawing/2014/main" id="{1F50CCDA-6CB8-4E32-8195-D4684B29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0002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SOP 自相矛盾</a:t>
            </a:r>
          </a:p>
        </p:txBody>
      </p:sp>
      <p:sp>
        <p:nvSpPr>
          <p:cNvPr id="10" name="body-0">
            <a:extLst xmlns:a="http://schemas.openxmlformats.org/drawingml/2006/main">
              <a:ext uri="{FF2B5EF4-FFF2-40B4-BE49-F238E27FC236}">
                <a16:creationId xmlns:a16="http://schemas.microsoft.com/office/drawing/2014/main" id="{F4F53B62-3B20-4599-99B8-B42B7F28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62200"/>
            <a:ext cx="438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07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模型无论怎么答都可能被判错</a:t>
            </a:r>
          </a:p>
        </p:txBody>
      </p:sp>
      <p:sp>
        <p:nvSpPr>
          <p:cNvPr id="11" name="row-1">
            <a:extLst xmlns:a="http://schemas.openxmlformats.org/drawingml/2006/main">
              <a:ext uri="{FF2B5EF4-FFF2-40B4-BE49-F238E27FC236}">
                <a16:creationId xmlns:a16="http://schemas.microsoft.com/office/drawing/2014/main" id="{B7D9BF6A-84C6-4818-9E69-F44B4FA8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105150"/>
            <a:ext cx="57531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um-1">
            <a:extLst xmlns:a="http://schemas.openxmlformats.org/drawingml/2006/main">
              <a:ext uri="{FF2B5EF4-FFF2-40B4-BE49-F238E27FC236}">
                <a16:creationId xmlns:a16="http://schemas.microsoft.com/office/drawing/2014/main" id="{F7A767D4-33BA-4306-BE15-CACAC1B8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956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8A640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8A64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3" name="head-1">
            <a:extLst xmlns:a="http://schemas.openxmlformats.org/drawingml/2006/main">
              <a:ext uri="{FF2B5EF4-FFF2-40B4-BE49-F238E27FC236}">
                <a16:creationId xmlns:a16="http://schemas.microsoft.com/office/drawing/2014/main" id="{4D6FB679-605F-4761-9713-D0D685BB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57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裁判高置信误判</a:t>
            </a:r>
          </a:p>
        </p:txBody>
      </p:sp>
      <p:sp>
        <p:nvSpPr>
          <p:cNvPr id="14" name="body-1">
            <a:extLst xmlns:a="http://schemas.openxmlformats.org/drawingml/2006/main">
              <a:ext uri="{FF2B5EF4-FFF2-40B4-BE49-F238E27FC236}">
                <a16:creationId xmlns:a16="http://schemas.microsoft.com/office/drawing/2014/main" id="{31C12497-2EDB-4BE9-82B7-15988E97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19500"/>
            <a:ext cx="438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07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错判时平均置信度仍达 96.25%</a:t>
            </a:r>
          </a:p>
        </p:txBody>
      </p:sp>
      <p:sp>
        <p:nvSpPr>
          <p:cNvPr id="15" name="row-2">
            <a:extLst xmlns:a="http://schemas.openxmlformats.org/drawingml/2006/main">
              <a:ext uri="{FF2B5EF4-FFF2-40B4-BE49-F238E27FC236}">
                <a16:creationId xmlns:a16="http://schemas.microsoft.com/office/drawing/2014/main" id="{B9B99AD5-CB03-489B-88FB-F04E28D7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57531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170D729E-789E-4345-B8CA-081B6E7F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529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7" name="head-2">
            <a:extLst xmlns:a="http://schemas.openxmlformats.org/drawingml/2006/main">
              <a:ext uri="{FF2B5EF4-FFF2-40B4-BE49-F238E27FC236}">
                <a16:creationId xmlns:a16="http://schemas.microsoft.com/office/drawing/2014/main" id="{0371E863-CA3E-4053-B2BA-D6F653EB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5148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测试只覆盖顺风局</a:t>
            </a:r>
          </a:p>
        </p:txBody>
      </p:sp>
      <p:sp>
        <p:nvSpPr>
          <p:cNvPr id="18" name="body-2">
            <a:extLst xmlns:a="http://schemas.openxmlformats.org/drawingml/2006/main">
              <a:ext uri="{FF2B5EF4-FFF2-40B4-BE49-F238E27FC236}">
                <a16:creationId xmlns:a16="http://schemas.microsoft.com/office/drawing/2014/main" id="{648EDC08-4AD5-49F1-ADB4-ABAAAF1A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876800"/>
            <a:ext cx="438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07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上线后才遇到真正的拒绝与打断</a:t>
            </a:r>
          </a:p>
        </p:txBody>
      </p:sp>
      <p:sp>
        <p:nvSpPr>
          <p:cNvPr id="19" name="source">
            <a:extLst xmlns:a="http://schemas.openxmlformats.org/drawingml/2006/main">
              <a:ext uri="{FF2B5EF4-FFF2-40B4-BE49-F238E27FC236}">
                <a16:creationId xmlns:a16="http://schemas.microsoft.com/office/drawing/2014/main" id="{ACEDE55A-34DA-4A0D-943E-24380FF8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证据：runs/calibration/calibration_32case_gpt56sol_xhigh_v1.json</a:t>
            </a:r>
          </a:p>
        </p:txBody>
      </p:sp>
    </p:spTree>
    <p:extLst>
      <p:ext uri="{BB962C8B-B14F-4D97-AF65-F5344CB8AC3E}">
        <p14:creationId xmlns:p14="http://schemas.microsoft.com/office/powerpoint/2010/main" val="3212940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AEFFADB3-C24B-464A-A482-53E431FC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美团 AI HACKATHON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65D2154-B96E-43F0-B2E9-7CEAA53D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六步工作台，每一步都有可验收产物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7866D9FB-778F-4E38-BBD2-5560C320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9DC85EB-6A27-49A6-A6DB-FF602999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5" name="flow-line">
            <a:extLst xmlns:a="http://schemas.openxmlformats.org/drawingml/2006/main">
              <a:ext uri="{FF2B5EF4-FFF2-40B4-BE49-F238E27FC236}">
                <a16:creationId xmlns:a16="http://schemas.microsoft.com/office/drawing/2014/main" id="{A7B0684F-3DE1-469F-B089-30FA9B47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28875"/>
            <a:ext cx="7600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dot-0">
            <a:extLst xmlns:a="http://schemas.openxmlformats.org/drawingml/2006/main">
              <a:ext uri="{FF2B5EF4-FFF2-40B4-BE49-F238E27FC236}">
                <a16:creationId xmlns:a16="http://schemas.microsoft.com/office/drawing/2014/main" id="{3727BDF2-CC2A-4F3C-AA91-4F0E6BFD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13360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ep-n-0">
            <a:extLst xmlns:a="http://schemas.openxmlformats.org/drawingml/2006/main">
              <a:ext uri="{FF2B5EF4-FFF2-40B4-BE49-F238E27FC236}">
                <a16:creationId xmlns:a16="http://schemas.microsoft.com/office/drawing/2014/main" id="{20F518E8-7FC6-4EAD-A44E-6E969E72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1907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51765322-5A09-483C-A66A-C4834132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上传材料</a:t>
            </a:r>
          </a:p>
        </p:txBody>
      </p:sp>
      <p:sp>
        <p:nvSpPr>
          <p:cNvPr id="9" name="step-body-0">
            <a:extLst xmlns:a="http://schemas.openxmlformats.org/drawingml/2006/main">
              <a:ext uri="{FF2B5EF4-FFF2-40B4-BE49-F238E27FC236}">
                <a16:creationId xmlns:a16="http://schemas.microsoft.com/office/drawing/2014/main" id="{81D68444-C300-41DA-957D-0CADF615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SOP + 对话记录</a:t>
            </a:r>
          </a:p>
        </p:txBody>
      </p:sp>
      <p:sp>
        <p:nvSpPr>
          <p:cNvPr id="10" name="step-dot-1">
            <a:extLst xmlns:a="http://schemas.openxmlformats.org/drawingml/2006/main">
              <a:ext uri="{FF2B5EF4-FFF2-40B4-BE49-F238E27FC236}">
                <a16:creationId xmlns:a16="http://schemas.microsoft.com/office/drawing/2014/main" id="{C1DF2A64-EBDD-4012-8140-CB091C1F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3360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ep-n-1">
            <a:extLst xmlns:a="http://schemas.openxmlformats.org/drawingml/2006/main">
              <a:ext uri="{FF2B5EF4-FFF2-40B4-BE49-F238E27FC236}">
                <a16:creationId xmlns:a16="http://schemas.microsoft.com/office/drawing/2014/main" id="{9020754C-4655-4B67-93A1-D6945B15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907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42C15ABA-AF5B-4574-A693-1AE5E7C6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95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生成标准</a:t>
            </a:r>
          </a:p>
        </p:txBody>
      </p:sp>
      <p:sp>
        <p:nvSpPr>
          <p:cNvPr id="13" name="step-body-1">
            <a:extLst xmlns:a="http://schemas.openxmlformats.org/drawingml/2006/main">
              <a:ext uri="{FF2B5EF4-FFF2-40B4-BE49-F238E27FC236}">
                <a16:creationId xmlns:a16="http://schemas.microsoft.com/office/drawing/2014/main" id="{CC81D6D1-3A42-4375-A2DB-05B84F35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L0 红线 + L1 业务</a:t>
            </a:r>
          </a:p>
        </p:txBody>
      </p:sp>
      <p:sp>
        <p:nvSpPr>
          <p:cNvPr id="14" name="step-dot-2">
            <a:extLst xmlns:a="http://schemas.openxmlformats.org/drawingml/2006/main">
              <a:ext uri="{FF2B5EF4-FFF2-40B4-BE49-F238E27FC236}">
                <a16:creationId xmlns:a16="http://schemas.microsoft.com/office/drawing/2014/main" id="{8B21AB0A-0540-4BED-B85C-74B3C3C5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3360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ep-n-2">
            <a:extLst xmlns:a="http://schemas.openxmlformats.org/drawingml/2006/main">
              <a:ext uri="{FF2B5EF4-FFF2-40B4-BE49-F238E27FC236}">
                <a16:creationId xmlns:a16="http://schemas.microsoft.com/office/drawing/2014/main" id="{BE7D4578-4A77-4ECD-A191-6C6D7285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907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B5412980-B5B8-41C5-BBC7-CC881B86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逐通检查</a:t>
            </a:r>
          </a:p>
        </p:txBody>
      </p:sp>
      <p:sp>
        <p:nvSpPr>
          <p:cNvPr id="17" name="step-body-2">
            <a:extLst xmlns:a="http://schemas.openxmlformats.org/drawingml/2006/main">
              <a:ext uri="{FF2B5EF4-FFF2-40B4-BE49-F238E27FC236}">
                <a16:creationId xmlns:a16="http://schemas.microsoft.com/office/drawing/2014/main" id="{0472E68F-8D8B-4A37-AF40-5384BD04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逐项判定 + 原始证据</a:t>
            </a:r>
          </a:p>
        </p:txBody>
      </p:sp>
      <p:sp>
        <p:nvSpPr>
          <p:cNvPr id="18" name="step-dot-3">
            <a:extLst xmlns:a="http://schemas.openxmlformats.org/drawingml/2006/main">
              <a:ext uri="{FF2B5EF4-FFF2-40B4-BE49-F238E27FC236}">
                <a16:creationId xmlns:a16="http://schemas.microsoft.com/office/drawing/2014/main" id="{4F4ED39A-5F4D-4827-A0E0-05B192C4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09575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1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ep-n-3">
            <a:extLst xmlns:a="http://schemas.openxmlformats.org/drawingml/2006/main">
              <a:ext uri="{FF2B5EF4-FFF2-40B4-BE49-F238E27FC236}">
                <a16:creationId xmlns:a16="http://schemas.microsoft.com/office/drawing/2014/main" id="{F52B6353-AD90-4D20-ADD2-6BAE145C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1529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D97F5F26-12C6-452C-A2DF-1949CF7A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统计决策</a:t>
            </a:r>
          </a:p>
        </p:txBody>
      </p:sp>
      <p:sp>
        <p:nvSpPr>
          <p:cNvPr id="21" name="step-body-3">
            <a:extLst xmlns:a="http://schemas.openxmlformats.org/drawingml/2006/main">
              <a:ext uri="{FF2B5EF4-FFF2-40B4-BE49-F238E27FC236}">
                <a16:creationId xmlns:a16="http://schemas.microsoft.com/office/drawing/2014/main" id="{A8E3E6EE-C136-46CD-9B40-5D5E42AF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门禁 + 问题比例</a:t>
            </a:r>
          </a:p>
        </p:txBody>
      </p:sp>
      <p:sp>
        <p:nvSpPr>
          <p:cNvPr id="22" name="decision-note">
            <a:extLst xmlns:a="http://schemas.openxmlformats.org/drawingml/2006/main">
              <a:ext uri="{FF2B5EF4-FFF2-40B4-BE49-F238E27FC236}">
                <a16:creationId xmlns:a16="http://schemas.microsoft.com/office/drawing/2014/main" id="{85B92780-0A54-4176-AE54-80AED4CD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每步保留输入、输出与产物路径；历史结果与本地实时运行明确区分。</a:t>
            </a:r>
          </a:p>
        </p:txBody>
      </p:sp>
      <p:sp>
        <p:nvSpPr>
          <p:cNvPr id="23" name="source">
            <a:extLst xmlns:a="http://schemas.openxmlformats.org/drawingml/2006/main">
              <a:ext uri="{FF2B5EF4-FFF2-40B4-BE49-F238E27FC236}">
                <a16:creationId xmlns:a16="http://schemas.microsoft.com/office/drawing/2014/main" id="{E648FF3C-1484-417E-9F5E-498A0B75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产品入口：site-deploy/app.html · 本地服务：python -m evalcall demo</a:t>
            </a:r>
          </a:p>
        </p:txBody>
      </p:sp>
      <p:sp>
        <p:nvSpPr>
          <p:cNvPr id="24" name="flow-line-row-2">
            <a:extLst xmlns:a="http://schemas.openxmlformats.org/drawingml/2006/main">
              <a:ext uri="{FF2B5EF4-FFF2-40B4-BE49-F238E27FC236}">
                <a16:creationId xmlns:a16="http://schemas.microsoft.com/office/drawing/2014/main" id="{9FF7EABC-BEE2-4BDE-96F0-2075FF5D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91025"/>
            <a:ext cx="7600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tep-dot-5">
            <a:extLst xmlns:a="http://schemas.openxmlformats.org/drawingml/2006/main">
              <a:ext uri="{FF2B5EF4-FFF2-40B4-BE49-F238E27FC236}">
                <a16:creationId xmlns:a16="http://schemas.microsoft.com/office/drawing/2014/main" id="{F9E6E76D-3B64-4136-83D1-EDAB2A48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957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6" name="step-n-5">
            <a:extLst xmlns:a="http://schemas.openxmlformats.org/drawingml/2006/main">
              <a:ext uri="{FF2B5EF4-FFF2-40B4-BE49-F238E27FC236}">
                <a16:creationId xmlns:a16="http://schemas.microsoft.com/office/drawing/2014/main" id="{A480B850-43FF-4E9C-8036-9539608A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529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step-title-5">
            <a:extLst xmlns:a="http://schemas.openxmlformats.org/drawingml/2006/main">
              <a:ext uri="{FF2B5EF4-FFF2-40B4-BE49-F238E27FC236}">
                <a16:creationId xmlns:a16="http://schemas.microsoft.com/office/drawing/2014/main" id="{4879BEE7-933F-434D-9BC8-9F5EF41E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857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根因归因</a:t>
            </a:r>
          </a:p>
        </p:txBody>
      </p:sp>
      <p:sp>
        <p:nvSpPr>
          <p:cNvPr id="28" name="step-body-5">
            <a:extLst xmlns:a="http://schemas.openxmlformats.org/drawingml/2006/main">
              <a:ext uri="{FF2B5EF4-FFF2-40B4-BE49-F238E27FC236}">
                <a16:creationId xmlns:a16="http://schemas.microsoft.com/office/drawing/2014/main" id="{6A2887F8-74C4-4104-8D6A-242A585D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276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原因 + 证据 + 负责人</a:t>
            </a:r>
          </a:p>
        </p:txBody>
      </p:sp>
      <p:sp>
        <p:nvSpPr>
          <p:cNvPr id="29" name="step-dot-6">
            <a:extLst xmlns:a="http://schemas.openxmlformats.org/drawingml/2006/main">
              <a:ext uri="{FF2B5EF4-FFF2-40B4-BE49-F238E27FC236}">
                <a16:creationId xmlns:a16="http://schemas.microsoft.com/office/drawing/2014/main" id="{23E73DBE-3366-4643-901F-4A27567D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0957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9525">
            <a:solidFill>
              <a:srgbClr val="FFCC00"/>
            </a:solidFill>
            <a:prstDash val="solid"/>
          </a:ln>
        </p:spPr>
      </p:sp>
      <p:sp>
        <p:nvSpPr>
          <p:cNvPr id="30" name="step-n-6">
            <a:extLst xmlns:a="http://schemas.openxmlformats.org/drawingml/2006/main">
              <a:ext uri="{FF2B5EF4-FFF2-40B4-BE49-F238E27FC236}">
                <a16:creationId xmlns:a16="http://schemas.microsoft.com/office/drawing/2014/main" id="{0AF895B3-0C7D-4F4A-AD53-77115BEB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1529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6</a:t>
            </a:r>
          </a:p>
        </p:txBody>
      </p:sp>
      <p:sp>
        <p:nvSpPr>
          <p:cNvPr id="31" name="step-title-6">
            <a:extLst xmlns:a="http://schemas.openxmlformats.org/drawingml/2006/main">
              <a:ext uri="{FF2B5EF4-FFF2-40B4-BE49-F238E27FC236}">
                <a16:creationId xmlns:a16="http://schemas.microsoft.com/office/drawing/2014/main" id="{52A093D1-21A9-4D21-AA78-5E4C7BFE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57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修复回归</a:t>
            </a:r>
          </a:p>
        </p:txBody>
      </p:sp>
      <p:sp>
        <p:nvSpPr>
          <p:cNvPr id="32" name="step-body-6">
            <a:extLst xmlns:a="http://schemas.openxmlformats.org/drawingml/2006/main">
              <a:ext uri="{FF2B5EF4-FFF2-40B4-BE49-F238E27FC236}">
                <a16:creationId xmlns:a16="http://schemas.microsoft.com/office/drawing/2014/main" id="{230A79F8-88BC-4067-BD59-AED39F7B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76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修复草案 + 同尺回归</a:t>
            </a:r>
          </a:p>
        </p:txBody>
      </p:sp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40B12DE-ABA5-42D1-81AE-240F1731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美团 AI HACKATHON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3632429-A0E9-4BA4-8325-1603B2AE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三层闭环，分别回答三个“凭什么”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04EBBFD-D124-4D33-9A52-106B9DD2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6FA89AD-65F9-414B-9CF6-9EF2A0BE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" name="v-rule-1">
            <a:extLst xmlns:a="http://schemas.openxmlformats.org/drawingml/2006/main">
              <a:ext uri="{FF2B5EF4-FFF2-40B4-BE49-F238E27FC236}">
                <a16:creationId xmlns:a16="http://schemas.microsoft.com/office/drawing/2014/main" id="{BD2AC75D-3B93-4466-B8D5-B07A5054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981200"/>
            <a:ext cx="190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v-rule-2">
            <a:extLst xmlns:a="http://schemas.openxmlformats.org/drawingml/2006/main">
              <a:ext uri="{FF2B5EF4-FFF2-40B4-BE49-F238E27FC236}">
                <a16:creationId xmlns:a16="http://schemas.microsoft.com/office/drawing/2014/main" id="{2EE76CFF-C4E6-441D-88D1-2E743572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81200"/>
            <a:ext cx="190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l-n-0">
            <a:extLst xmlns:a="http://schemas.openxmlformats.org/drawingml/2006/main">
              <a:ext uri="{FF2B5EF4-FFF2-40B4-BE49-F238E27FC236}">
                <a16:creationId xmlns:a16="http://schemas.microsoft.com/office/drawing/2014/main" id="{16A8FBB5-3798-4A3E-8E5D-54F60CC2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8" name="col-title-0">
            <a:extLst xmlns:a="http://schemas.openxmlformats.org/drawingml/2006/main">
              <a:ext uri="{FF2B5EF4-FFF2-40B4-BE49-F238E27FC236}">
                <a16:creationId xmlns:a16="http://schemas.microsoft.com/office/drawing/2014/main" id="{937B9171-E195-4ED4-9BCB-4C428E2D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03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评模型</a:t>
            </a:r>
          </a:p>
        </p:txBody>
      </p:sp>
      <p:sp>
        <p:nvSpPr>
          <p:cNvPr id="9" name="col-q-0">
            <a:extLst xmlns:a="http://schemas.openxmlformats.org/drawingml/2006/main">
              <a:ext uri="{FF2B5EF4-FFF2-40B4-BE49-F238E27FC236}">
                <a16:creationId xmlns:a16="http://schemas.microsoft.com/office/drawing/2014/main" id="{0C0FBE93-D7A1-4A0F-A0EE-0A06BD06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它守不守指令？</a:t>
            </a:r>
          </a:p>
        </p:txBody>
      </p:sp>
      <p:sp>
        <p:nvSpPr>
          <p:cNvPr id="10" name="col-body-0">
            <a:extLst xmlns:a="http://schemas.openxmlformats.org/drawingml/2006/main">
              <a:ext uri="{FF2B5EF4-FFF2-40B4-BE49-F238E27FC236}">
                <a16:creationId xmlns:a16="http://schemas.microsoft.com/office/drawing/2014/main" id="{E909F648-5683-48D1-977C-4960DBA7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0"/>
            <a:ext cx="3028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指令编译 + 对抗模拟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规则/LLM 双轨 + 多数票</a:t>
            </a:r>
          </a:p>
        </p:txBody>
      </p:sp>
      <p:sp>
        <p:nvSpPr>
          <p:cNvPr id="11" name="col-foot-0">
            <a:extLst xmlns:a="http://schemas.openxmlformats.org/drawingml/2006/main">
              <a:ext uri="{FF2B5EF4-FFF2-40B4-BE49-F238E27FC236}">
                <a16:creationId xmlns:a16="http://schemas.microsoft.com/office/drawing/2014/main" id="{05BBE201-550D-4616-9A63-12EE004D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>每条 fail 引用对话原文</a:t>
            </a:r>
          </a:p>
        </p:txBody>
      </p:sp>
      <p:sp>
        <p:nvSpPr>
          <p:cNvPr id="12" name="col-n-1">
            <a:extLst xmlns:a="http://schemas.openxmlformats.org/drawingml/2006/main">
              <a:ext uri="{FF2B5EF4-FFF2-40B4-BE49-F238E27FC236}">
                <a16:creationId xmlns:a16="http://schemas.microsoft.com/office/drawing/2014/main" id="{E9EA7227-B354-4B84-AAF0-9261C658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2405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9A71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9A71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3" name="col-title-1">
            <a:extLst xmlns:a="http://schemas.openxmlformats.org/drawingml/2006/main">
              <a:ext uri="{FF2B5EF4-FFF2-40B4-BE49-F238E27FC236}">
                <a16:creationId xmlns:a16="http://schemas.microsoft.com/office/drawing/2014/main" id="{7D322B6F-DE14-4494-8C35-A1CBA001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03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审指令</a:t>
            </a:r>
          </a:p>
        </p:txBody>
      </p:sp>
      <p:sp>
        <p:nvSpPr>
          <p:cNvPr id="14" name="col-q-1">
            <a:extLst xmlns:a="http://schemas.openxmlformats.org/drawingml/2006/main">
              <a:ext uri="{FF2B5EF4-FFF2-40B4-BE49-F238E27FC236}">
                <a16:creationId xmlns:a16="http://schemas.microsoft.com/office/drawing/2014/main" id="{E2C43780-D375-4DA7-BF97-F3CA3D08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4800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低分是不是 SOP 的锅？</a:t>
            </a:r>
          </a:p>
        </p:txBody>
      </p:sp>
      <p:sp>
        <p:nvSpPr>
          <p:cNvPr id="15" name="col-body-1">
            <a:extLst xmlns:a="http://schemas.openxmlformats.org/drawingml/2006/main">
              <a:ext uri="{FF2B5EF4-FFF2-40B4-BE49-F238E27FC236}">
                <a16:creationId xmlns:a16="http://schemas.microsoft.com/office/drawing/2014/main" id="{6382BDA7-5344-4F23-A51C-C4518DC3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10000"/>
            <a:ext cx="3028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冲突 / 不可行 / 歧义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缺失分支 + source_quote</a:t>
            </a:r>
          </a:p>
        </p:txBody>
      </p:sp>
      <p:sp>
        <p:nvSpPr>
          <p:cNvPr id="16" name="col-foot-1">
            <a:extLst xmlns:a="http://schemas.openxmlformats.org/drawingml/2006/main">
              <a:ext uri="{FF2B5EF4-FFF2-40B4-BE49-F238E27FC236}">
                <a16:creationId xmlns:a16="http://schemas.microsoft.com/office/drawing/2014/main" id="{DB36BE60-2974-495B-B083-3278C550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0101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A64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8A6400"/>
                </a:solidFill>
                <a:latin typeface="PingFang SC"/>
                <a:ea typeface="PingFang SC"/>
                <a:cs typeface="PingFang SC"/>
              </a:rPr>
              <a:t>先治指令，再评模型</a:t>
            </a:r>
          </a:p>
        </p:txBody>
      </p:sp>
      <p:sp>
        <p:nvSpPr>
          <p:cNvPr id="17" name="col-n-2">
            <a:extLst xmlns:a="http://schemas.openxmlformats.org/drawingml/2006/main">
              <a:ext uri="{FF2B5EF4-FFF2-40B4-BE49-F238E27FC236}">
                <a16:creationId xmlns:a16="http://schemas.microsoft.com/office/drawing/2014/main" id="{BD9E4C8D-FECC-4BA7-B9E9-8B7228D8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2405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8" name="col-title-2">
            <a:extLst xmlns:a="http://schemas.openxmlformats.org/drawingml/2006/main">
              <a:ext uri="{FF2B5EF4-FFF2-40B4-BE49-F238E27FC236}">
                <a16:creationId xmlns:a16="http://schemas.microsoft.com/office/drawing/2014/main" id="{663DDBAC-8F26-4B4F-AACD-3C77C5C7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003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校裁判</a:t>
            </a:r>
          </a:p>
        </p:txBody>
      </p:sp>
      <p:sp>
        <p:nvSpPr>
          <p:cNvPr id="19" name="col-q-2">
            <a:extLst xmlns:a="http://schemas.openxmlformats.org/drawingml/2006/main">
              <a:ext uri="{FF2B5EF4-FFF2-40B4-BE49-F238E27FC236}">
                <a16:creationId xmlns:a16="http://schemas.microsoft.com/office/drawing/2014/main" id="{3E2C8E27-AF30-40A6-B0A3-DAEBB558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4800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为什么信评测器？</a:t>
            </a:r>
          </a:p>
        </p:txBody>
      </p:sp>
      <p:sp>
        <p:nvSpPr>
          <p:cNvPr id="20" name="col-body-2">
            <a:extLst xmlns:a="http://schemas.openxmlformats.org/drawingml/2006/main">
              <a:ext uri="{FF2B5EF4-FFF2-40B4-BE49-F238E27FC236}">
                <a16:creationId xmlns:a16="http://schemas.microsoft.com/office/drawing/2014/main" id="{9E48C8E0-8211-4A2C-95AC-3BCFEB23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10000"/>
            <a:ext cx="3028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已知答案注入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混淆矩阵 + P0 查全率</a:t>
            </a:r>
          </a:p>
        </p:txBody>
      </p:sp>
      <p:sp>
        <p:nvSpPr>
          <p:cNvPr id="21" name="col-foot-2">
            <a:extLst xmlns:a="http://schemas.openxmlformats.org/drawingml/2006/main">
              <a:ext uri="{FF2B5EF4-FFF2-40B4-BE49-F238E27FC236}">
                <a16:creationId xmlns:a16="http://schemas.microsoft.com/office/drawing/2014/main" id="{4E2F1529-3ED8-46AE-99E9-06544498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0101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>把裁判准确率印在报告上</a:t>
            </a:r>
          </a:p>
        </p:txBody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2AA18A06-6183-4D7E-8A38-23772C30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三层闭环全部有实际 run / lint / calibration 产物，不依赖演示文案。</a:t>
            </a:r>
          </a:p>
        </p:txBody>
      </p:sp>
    </p:spTree>
    <p:extLst>
      <p:ext uri="{BB962C8B-B14F-4D97-AF65-F5344CB8AC3E}">
        <p14:creationId xmlns:p14="http://schemas.microsoft.com/office/powerpoint/2010/main" val="10363415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美团 AI HACKATHON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真实招聘 SOP：系统没有替坏指令背书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5" name="decision">
            <a:extLst xmlns:a="http://schemas.openxmlformats.org/drawingml/2006/main">
              <a:ext uri="{FF2B5EF4-FFF2-40B4-BE49-F238E27FC236}">
                <a16:creationId xmlns:a16="http://schemas.microsoft.com/office/drawing/2014/main" id="{B0CE3BC9-D8B1-4041-B5E5-CD8D93B3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D92D20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D92D20"/>
                </a:solidFill>
                <a:latin typeface="PingFang SC"/>
                <a:ea typeface="PingFang SC"/>
                <a:cs typeface="PingFang SC"/>
              </a:rPr>
              <a:t>⛔ 打回</a:t>
            </a:r>
          </a:p>
        </p:txBody>
      </p:sp>
      <p:sp>
        <p:nvSpPr>
          <p:cNvPr id="6" name="decision-sub">
            <a:extLst xmlns:a="http://schemas.openxmlformats.org/drawingml/2006/main">
              <a:ext uri="{FF2B5EF4-FFF2-40B4-BE49-F238E27FC236}">
                <a16:creationId xmlns:a16="http://schemas.microsoft.com/office/drawing/2014/main" id="{C81463E1-CB7C-4B7A-8684-38803250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1 通留档对话 · GPT-5.6-sol/xhigh · 3 票</a:t>
            </a:r>
          </a:p>
        </p:txBody>
      </p:sp>
      <p:sp>
        <p:nvSpPr>
          <p:cNvPr id="7" name="stat-0">
            <a:extLst xmlns:a="http://schemas.openxmlformats.org/drawingml/2006/main">
              <a:ext uri="{FF2B5EF4-FFF2-40B4-BE49-F238E27FC236}">
                <a16:creationId xmlns:a16="http://schemas.microsoft.com/office/drawing/2014/main" id="{A64EB69F-1AD3-45AE-93F6-D916A936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43</a:t>
            </a:r>
          </a:p>
        </p:txBody>
      </p:sp>
      <p:sp>
        <p:nvSpPr>
          <p:cNvPr id="8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7261F069-84D1-4836-A1CB-0A3A5D5C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检查点</a:t>
            </a:r>
          </a:p>
        </p:txBody>
      </p:sp>
      <p:sp>
        <p:nvSpPr>
          <p:cNvPr id="9" name="stat-1">
            <a:extLst xmlns:a="http://schemas.openxmlformats.org/drawingml/2006/main">
              <a:ext uri="{FF2B5EF4-FFF2-40B4-BE49-F238E27FC236}">
                <a16:creationId xmlns:a16="http://schemas.microsoft.com/office/drawing/2014/main" id="{C2588DEE-1FC2-4818-B044-00FEF0E2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10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F2DA5F17-C3CD-4B4D-96F7-5057D545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fail</a:t>
            </a:r>
          </a:p>
        </p:txBody>
      </p:sp>
      <p:sp>
        <p:nvSpPr>
          <p:cNvPr id="11" name="stat-2">
            <a:extLst xmlns:a="http://schemas.openxmlformats.org/drawingml/2006/main">
              <a:ext uri="{FF2B5EF4-FFF2-40B4-BE49-F238E27FC236}">
                <a16:creationId xmlns:a16="http://schemas.microsoft.com/office/drawing/2014/main" id="{A2568244-186A-4F43-AECE-BB8E99D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12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46EB030E-F492-46E3-8C5B-6A223CBE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NA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09750"/>
            <a:ext cx="5695950" cy="3600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526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A64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8A6400"/>
                </a:solidFill>
                <a:latin typeface="PingFang SC"/>
                <a:ea typeface="PingFang SC"/>
                <a:cs typeface="PingFang SC"/>
              </a:rPr>
              <a:t>首要归因 · SOP / 任务指令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003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指令可行性 0 / 100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338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3 项高严重度问题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模型失败率存在，但只给低置信归因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>动作：先由业务 owner 修 SOP，再同尺回归。</a:t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771875FB-1E0E-4D7E-850B-F8DA480B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证据：runs/m5_real_recruit_gpt56sol_xhigh_v2_20260712/summary.json · attribution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A5D20F9C-3097-41D6-9889-5FD8DA54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美团 AI HACKATHON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CC0E2D-2111-4DE1-AFE5-8828AC32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165 个已知真值，把裁判误差印在报告上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7F646E5B-96DF-4FE1-B691-1DC2175A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D104CC5-A329-464A-900F-F2A5FAEE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6324600" cy="3638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ceffb77ef34bcd"/>
          </a:graphicData>
        </a:graphic>
      </p:graphicFrame>
      <p:sp>
        <p:nvSpPr>
          <p:cNvPr id="6" name="cal-panel">
            <a:extLst xmlns:a="http://schemas.openxmlformats.org/drawingml/2006/main">
              <a:ext uri="{FF2B5EF4-FFF2-40B4-BE49-F238E27FC236}">
                <a16:creationId xmlns:a16="http://schemas.microsoft.com/office/drawing/2014/main" id="{64A65B56-6F5B-4730-8C7D-DD847D0B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42100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al-acc">
            <a:extLst xmlns:a="http://schemas.openxmlformats.org/drawingml/2006/main">
              <a:ext uri="{FF2B5EF4-FFF2-40B4-BE49-F238E27FC236}">
                <a16:creationId xmlns:a16="http://schemas.microsoft.com/office/drawing/2014/main" id="{CE1D5938-6F1C-4FD4-AF2C-6B3B479A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241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92.73%</a:t>
            </a:r>
          </a:p>
        </p:txBody>
      </p:sp>
      <p:sp>
        <p:nvSpPr>
          <p:cNvPr id="8" name="cal-acc-label">
            <a:extLst xmlns:a="http://schemas.openxmlformats.org/drawingml/2006/main">
              <a:ext uri="{FF2B5EF4-FFF2-40B4-BE49-F238E27FC236}">
                <a16:creationId xmlns:a16="http://schemas.microsoft.com/office/drawing/2014/main" id="{AF8852FB-9511-4E89-B6EC-87E72EB2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051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24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总体准确率 · 153 / 165</a:t>
            </a:r>
          </a:p>
        </p:txBody>
      </p:sp>
      <p:sp>
        <p:nvSpPr>
          <p:cNvPr id="9" name="cal-p0">
            <a:extLst xmlns:a="http://schemas.openxmlformats.org/drawingml/2006/main">
              <a:ext uri="{FF2B5EF4-FFF2-40B4-BE49-F238E27FC236}">
                <a16:creationId xmlns:a16="http://schemas.microsoft.com/office/drawing/2014/main" id="{DE1D0EC5-6DC0-4E7D-A5DC-0C04727B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7665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>100%</a:t>
            </a:r>
          </a:p>
        </p:txBody>
      </p:sp>
      <p:sp>
        <p:nvSpPr>
          <p:cNvPr id="10" name="cal-p0-label">
            <a:extLst xmlns:a="http://schemas.openxmlformats.org/drawingml/2006/main">
              <a:ext uri="{FF2B5EF4-FFF2-40B4-BE49-F238E27FC236}">
                <a16:creationId xmlns:a16="http://schemas.microsoft.com/office/drawing/2014/main" id="{EC68296A-80B3-449E-82A0-04E2733A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243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P0 fail recall · 11 / 11</a:t>
            </a:r>
          </a:p>
        </p:txBody>
      </p:sp>
      <p:sp>
        <p:nvSpPr>
          <p:cNvPr id="11" name="cal-warn">
            <a:extLst xmlns:a="http://schemas.openxmlformats.org/drawingml/2006/main">
              <a:ext uri="{FF2B5EF4-FFF2-40B4-BE49-F238E27FC236}">
                <a16:creationId xmlns:a16="http://schemas.microsoft.com/office/drawing/2014/main" id="{99D8FD49-CFCC-4A55-88A5-242753B6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92D20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D92D20"/>
                </a:solidFill>
                <a:latin typeface="PingFang SC"/>
                <a:ea typeface="PingFang SC"/>
                <a:cs typeface="PingFang SC"/>
              </a:rPr>
              <a:t>但 style 仅 70%；错判仍会高置信。</a:t>
            </a:r>
          </a:p>
        </p:txBody>
      </p:sp>
      <p:sp>
        <p:nvSpPr>
          <p:cNvPr id="12" name="source">
            <a:extLst xmlns:a="http://schemas.openxmlformats.org/drawingml/2006/main">
              <a:ext uri="{FF2B5EF4-FFF2-40B4-BE49-F238E27FC236}">
                <a16:creationId xmlns:a16="http://schemas.microsoft.com/office/drawing/2014/main" id="{B27A001B-FB15-4E5A-84AD-1BCC98B8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32 case 全量黄金集 · 单模型 1 票 · 64 次调用 0 失败 · 不外推为线上漏判率</a:t>
            </a:r>
          </a:p>
        </p:txBody>
      </p:sp>
    </p:spTree>
    <p:extLst>
      <p:ext uri="{BB962C8B-B14F-4D97-AF65-F5344CB8AC3E}">
        <p14:creationId xmlns:p14="http://schemas.microsoft.com/office/powerpoint/2010/main" val="1440693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3B393ECA-81D8-4939-8442-5AF153BF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美团 AI HACKATHON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8742BEA-8D1F-433A-96E8-AB0FB0FF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跨模型没有赢家通吃，只有可操作差异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9E925885-A53C-4DC5-90E9-89CDD7F8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9499219-6297-4EFF-B6B5-AD66A11C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5" name="col-head-0">
            <a:extLst xmlns:a="http://schemas.openxmlformats.org/drawingml/2006/main">
              <a:ext uri="{FF2B5EF4-FFF2-40B4-BE49-F238E27FC236}">
                <a16:creationId xmlns:a16="http://schemas.microsoft.com/office/drawing/2014/main" id="{FC5AAA36-08CC-4DB4-B83D-FD82001E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9750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Claude Haiku</a:t>
            </a:r>
          </a:p>
        </p:txBody>
      </p:sp>
      <p:sp>
        <p:nvSpPr>
          <p:cNvPr id="6" name="col-head-1">
            <a:extLst xmlns:a="http://schemas.openxmlformats.org/drawingml/2006/main">
              <a:ext uri="{FF2B5EF4-FFF2-40B4-BE49-F238E27FC236}">
                <a16:creationId xmlns:a16="http://schemas.microsoft.com/office/drawing/2014/main" id="{141C34B2-3D6C-411E-88E7-C09BED50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809750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GPT-5.6-sol</a:t>
            </a:r>
          </a:p>
        </p:txBody>
      </p:sp>
      <p:sp>
        <p:nvSpPr>
          <p:cNvPr id="7" name="row-rule-0">
            <a:extLst xmlns:a="http://schemas.openxmlformats.org/drawingml/2006/main">
              <a:ext uri="{FF2B5EF4-FFF2-40B4-BE49-F238E27FC236}">
                <a16:creationId xmlns:a16="http://schemas.microsoft.com/office/drawing/2014/main" id="{2C310D33-5B4F-4B07-9615-BD8849BE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194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0">
            <a:extLst xmlns:a="http://schemas.openxmlformats.org/drawingml/2006/main">
              <a:ext uri="{FF2B5EF4-FFF2-40B4-BE49-F238E27FC236}">
                <a16:creationId xmlns:a16="http://schemas.microsoft.com/office/drawing/2014/main" id="{40B76F10-739B-4B4E-BF7D-77A11273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上线门禁</a:t>
            </a:r>
          </a:p>
        </p:txBody>
      </p:sp>
      <p:sp>
        <p:nvSpPr>
          <p:cNvPr id="9" name="claude-0">
            <a:extLst xmlns:a="http://schemas.openxmlformats.org/drawingml/2006/main">
              <a:ext uri="{FF2B5EF4-FFF2-40B4-BE49-F238E27FC236}">
                <a16:creationId xmlns:a16="http://schemas.microsoft.com/office/drawing/2014/main" id="{0280D199-77A2-454C-9799-7B9058F0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28875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D92D2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D92D20"/>
                </a:solidFill>
                <a:latin typeface="PingFang SC"/>
                <a:ea typeface="PingFang SC"/>
                <a:cs typeface="PingFang SC"/>
              </a:rPr>
              <a:t>打回</a:t>
            </a:r>
          </a:p>
        </p:txBody>
      </p:sp>
      <p:sp>
        <p:nvSpPr>
          <p:cNvPr id="10" name="gpt-0">
            <a:extLst xmlns:a="http://schemas.openxmlformats.org/drawingml/2006/main">
              <a:ext uri="{FF2B5EF4-FFF2-40B4-BE49-F238E27FC236}">
                <a16:creationId xmlns:a16="http://schemas.microsoft.com/office/drawing/2014/main" id="{6316D431-BFF7-4511-A4E0-121355A1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28875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D92D2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D92D20"/>
                </a:solidFill>
                <a:latin typeface="PingFang SC"/>
                <a:ea typeface="PingFang SC"/>
                <a:cs typeface="PingFang SC"/>
              </a:rPr>
              <a:t>打回</a:t>
            </a:r>
          </a:p>
        </p:txBody>
      </p:sp>
      <p:sp>
        <p:nvSpPr>
          <p:cNvPr id="11" name="row-rule-1">
            <a:extLst xmlns:a="http://schemas.openxmlformats.org/drawingml/2006/main">
              <a:ext uri="{FF2B5EF4-FFF2-40B4-BE49-F238E27FC236}">
                <a16:creationId xmlns:a16="http://schemas.microsoft.com/office/drawing/2014/main" id="{D554BF4D-824B-4848-8957-DA2EB436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62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1">
            <a:extLst xmlns:a="http://schemas.openxmlformats.org/drawingml/2006/main">
              <a:ext uri="{FF2B5EF4-FFF2-40B4-BE49-F238E27FC236}">
                <a16:creationId xmlns:a16="http://schemas.microsoft.com/office/drawing/2014/main" id="{F97685C9-15CB-4B1C-8F7A-11E891F2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7182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履约达成</a:t>
            </a:r>
          </a:p>
        </p:txBody>
      </p:sp>
      <p:sp>
        <p:nvSpPr>
          <p:cNvPr id="13" name="claude-1">
            <a:extLst xmlns:a="http://schemas.openxmlformats.org/drawingml/2006/main">
              <a:ext uri="{FF2B5EF4-FFF2-40B4-BE49-F238E27FC236}">
                <a16:creationId xmlns:a16="http://schemas.microsoft.com/office/drawing/2014/main" id="{B349D28D-AD4D-47CB-990E-DA0AE2AA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171825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0%</a:t>
            </a:r>
          </a:p>
        </p:txBody>
      </p:sp>
      <p:sp>
        <p:nvSpPr>
          <p:cNvPr id="14" name="gpt-1">
            <a:extLst xmlns:a="http://schemas.openxmlformats.org/drawingml/2006/main">
              <a:ext uri="{FF2B5EF4-FFF2-40B4-BE49-F238E27FC236}">
                <a16:creationId xmlns:a16="http://schemas.microsoft.com/office/drawing/2014/main" id="{70C7E590-DFDA-42E2-BFD4-56CCE339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71825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50%</a:t>
            </a:r>
          </a:p>
        </p:txBody>
      </p:sp>
      <p:sp>
        <p:nvSpPr>
          <p:cNvPr id="15" name="row-rule-2">
            <a:extLst xmlns:a="http://schemas.openxmlformats.org/drawingml/2006/main">
              <a:ext uri="{FF2B5EF4-FFF2-40B4-BE49-F238E27FC236}">
                <a16:creationId xmlns:a16="http://schemas.microsoft.com/office/drawing/2014/main" id="{F7C390A0-A780-4BFC-BCC9-2B1D04C0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053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etric-2">
            <a:extLst xmlns:a="http://schemas.openxmlformats.org/drawingml/2006/main">
              <a:ext uri="{FF2B5EF4-FFF2-40B4-BE49-F238E27FC236}">
                <a16:creationId xmlns:a16="http://schemas.microsoft.com/office/drawing/2014/main" id="{9D28611C-AFAB-4316-8E96-C2009AEB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1477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违规 / 百判定</a:t>
            </a:r>
          </a:p>
        </p:txBody>
      </p:sp>
      <p:sp>
        <p:nvSpPr>
          <p:cNvPr id="17" name="claude-2">
            <a:extLst xmlns:a="http://schemas.openxmlformats.org/drawingml/2006/main">
              <a:ext uri="{FF2B5EF4-FFF2-40B4-BE49-F238E27FC236}">
                <a16:creationId xmlns:a16="http://schemas.microsoft.com/office/drawing/2014/main" id="{63EB13A1-0C4C-4E7C-84F2-C3C254EA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14775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37.2</a:t>
            </a:r>
          </a:p>
        </p:txBody>
      </p:sp>
      <p:sp>
        <p:nvSpPr>
          <p:cNvPr id="18" name="gpt-2">
            <a:extLst xmlns:a="http://schemas.openxmlformats.org/drawingml/2006/main">
              <a:ext uri="{FF2B5EF4-FFF2-40B4-BE49-F238E27FC236}">
                <a16:creationId xmlns:a16="http://schemas.microsoft.com/office/drawing/2014/main" id="{B17C2AC1-E17F-401C-B91A-F69599B2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914775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34.5</a:t>
            </a:r>
          </a:p>
        </p:txBody>
      </p:sp>
      <p:sp>
        <p:nvSpPr>
          <p:cNvPr id="19" name="row-rule-3">
            <a:extLst xmlns:a="http://schemas.openxmlformats.org/drawingml/2006/main">
              <a:ext uri="{FF2B5EF4-FFF2-40B4-BE49-F238E27FC236}">
                <a16:creationId xmlns:a16="http://schemas.microsoft.com/office/drawing/2014/main" id="{CB77DDC0-5B39-4601-89A3-05643FB1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482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etric-3">
            <a:extLst xmlns:a="http://schemas.openxmlformats.org/drawingml/2006/main">
              <a:ext uri="{FF2B5EF4-FFF2-40B4-BE49-F238E27FC236}">
                <a16:creationId xmlns:a16="http://schemas.microsoft.com/office/drawing/2014/main" id="{4366F1CA-D021-4FC5-A2A0-2532193C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772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同尺检查点</a:t>
            </a:r>
          </a:p>
        </p:txBody>
      </p:sp>
      <p:sp>
        <p:nvSpPr>
          <p:cNvPr id="21" name="claude-3">
            <a:extLst xmlns:a="http://schemas.openxmlformats.org/drawingml/2006/main">
              <a:ext uri="{FF2B5EF4-FFF2-40B4-BE49-F238E27FC236}">
                <a16:creationId xmlns:a16="http://schemas.microsoft.com/office/drawing/2014/main" id="{F6455B0C-A92F-478C-94C6-CBEB39EB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657725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22" name="gpt-3">
            <a:extLst xmlns:a="http://schemas.openxmlformats.org/drawingml/2006/main">
              <a:ext uri="{FF2B5EF4-FFF2-40B4-BE49-F238E27FC236}">
                <a16:creationId xmlns:a16="http://schemas.microsoft.com/office/drawing/2014/main" id="{0449FA5C-7EFA-4C57-980B-923B2661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657725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 改善 · 2 退化</a:t>
            </a:r>
          </a:p>
        </p:txBody>
      </p:sp>
      <p:sp>
        <p:nvSpPr>
          <p:cNvPr id="23" name="honesty">
            <a:extLst xmlns:a="http://schemas.openxmlformats.org/drawingml/2006/main">
              <a:ext uri="{FF2B5EF4-FFF2-40B4-BE49-F238E27FC236}">
                <a16:creationId xmlns:a16="http://schemas.microsoft.com/office/drawing/2014/main" id="{CAF01728-B45F-417E-9F02-4F0FBEAE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00700"/>
            <a:ext cx="11125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onesty-text">
            <a:extLst xmlns:a="http://schemas.openxmlformats.org/drawingml/2006/main">
              <a:ext uri="{FF2B5EF4-FFF2-40B4-BE49-F238E27FC236}">
                <a16:creationId xmlns:a16="http://schemas.microsoft.com/office/drawing/2014/main" id="{834602EA-CDE3-4DCD-9EBD-9DB9ED70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结论：GPT 提升履约与字数约束，但退化知情确认与口语自然度；两边都不能上线。</a:t>
            </a:r>
          </a:p>
        </p:txBody>
      </p:sp>
      <p:sp>
        <p:nvSpPr>
          <p:cNvPr id="25" name="source">
            <a:extLst xmlns:a="http://schemas.openxmlformats.org/drawingml/2006/main">
              <a:ext uri="{FF2B5EF4-FFF2-40B4-BE49-F238E27FC236}">
                <a16:creationId xmlns:a16="http://schemas.microsoft.com/office/drawing/2014/main" id="{7ADC165B-8FFC-4348-894C-4544F5E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固定相同 20 个用户轮的 counterfactual replay；可能存在语义衔接限制，不冒充自然会话 A/B。</a:t>
            </a:r>
          </a:p>
        </p:txBody>
      </p:sp>
    </p:spTree>
    <p:extLst>
      <p:ext uri="{BB962C8B-B14F-4D97-AF65-F5344CB8AC3E}">
        <p14:creationId xmlns:p14="http://schemas.microsoft.com/office/powerpoint/2010/main" val="19921250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field">
            <a:extLst xmlns:a="http://schemas.openxmlformats.org/drawingml/2006/main">
              <a:ext uri="{FF2B5EF4-FFF2-40B4-BE49-F238E27FC236}">
                <a16:creationId xmlns:a16="http://schemas.microsoft.com/office/drawing/2014/main" id="{4FC18B40-978A-4BEC-8755-6265765E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0"/>
            <a:ext cx="2114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951F4FA-5D16-4299-9ACD-0E7D4702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现场演示</a:t>
            </a:r>
          </a:p>
        </p:txBody>
      </p:sp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6F88ECB1-B743-41C8-A72B-E0234E4B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8001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交付的不是分数，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是一条可审计的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上线决策链。</a:t>
            </a:r>
          </a:p>
        </p:txBody>
      </p:sp>
      <p:sp>
        <p:nvSpPr>
          <p:cNvPr id="4" name="close-flow">
            <a:extLst xmlns:a="http://schemas.openxmlformats.org/drawingml/2006/main">
              <a:ext uri="{FF2B5EF4-FFF2-40B4-BE49-F238E27FC236}">
                <a16:creationId xmlns:a16="http://schemas.microsoft.com/office/drawing/2014/main" id="{6558E155-445F-4F69-AD1E-D1E4B5C8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858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上传材料 → 生成标准 → 逐通检查
统计决策 → 根因归因 → 修复回归</a:t>
            </a:r>
          </a:p>
        </p:txBody>
      </p:sp>
      <p:sp>
        <p:nvSpPr>
          <p:cNvPr id="5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389ABE49-50A4-41FA-A331-86598DA6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1020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>现场演示：选一组样例，六步运行后从结论回到原始证据。</a:t>
            </a:r>
          </a:p>
        </p:txBody>
      </p:sp>
      <p:sp>
        <p:nvSpPr>
          <p:cNvPr id="6" name="brand-final">
            <a:extLst xmlns:a="http://schemas.openxmlformats.org/drawingml/2006/main">
              <a:ext uri="{FF2B5EF4-FFF2-40B4-BE49-F238E27FC236}">
                <a16:creationId xmlns:a16="http://schemas.microsoft.com/office/drawing/2014/main" id="{E576D13E-641F-4C28-86E4-46452164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219700"/>
            <a:ext cx="1123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EC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1562F01-2BC4-442B-8FFE-B8B107E7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97339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2026-07-13T07:44:16.0620000Z</dcterms:created>
  <dcterms:modified xsi:type="dcterms:W3CDTF">2026-07-13T07:44:16.0630000Z</dcterms:modified>
</coreProperties>
</file>