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d2bf39f43f4de3" /><Relationship Type="http://schemas.openxmlformats.org/officeDocument/2006/relationships/extended-properties" Target="/docProps/app.xml" Id="Rc7bc72f2868c4ef5" /><Relationship Type="http://schemas.openxmlformats.org/officeDocument/2006/relationships/officeDocument" Target="/ppt/presentation.xml" Id="R37efc35e56af4b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b4a933eb5f4577"/>
  </p:sldMasterIdLst>
  <p:notesMasterIdLst>
    <p:notesMasterId xmlns:r="http://schemas.openxmlformats.org/officeDocument/2006/relationships" r:id="R6efc30ad8e8c417e"/>
  </p:notesMasterIdLst>
  <p:sldIdLst>
    <p:sldId xmlns:r="http://schemas.openxmlformats.org/officeDocument/2006/relationships" id="256" r:id="Rb42fef7c871b45f5"/>
    <p:sldId xmlns:r="http://schemas.openxmlformats.org/officeDocument/2006/relationships" id="257" r:id="R376a9b96dccf4e8a"/>
    <p:sldId xmlns:r="http://schemas.openxmlformats.org/officeDocument/2006/relationships" id="258" r:id="Rbd4298b1667d442a"/>
    <p:sldId xmlns:r="http://schemas.openxmlformats.org/officeDocument/2006/relationships" id="259" r:id="Rce9e5bd3a90a4274"/>
    <p:sldId xmlns:r="http://schemas.openxmlformats.org/officeDocument/2006/relationships" id="260" r:id="Rcc1b95da3aa94d38"/>
    <p:sldId xmlns:r="http://schemas.openxmlformats.org/officeDocument/2006/relationships" id="261" r:id="Rd9b259c0218346a7"/>
    <p:sldId xmlns:r="http://schemas.openxmlformats.org/officeDocument/2006/relationships" id="262" r:id="Rd4cc1f1cd8bd4363"/>
    <p:sldId xmlns:r="http://schemas.openxmlformats.org/officeDocument/2006/relationships" id="263" r:id="R3d097fda8cb4410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2a75d8a5774e42" /><Relationship Type="http://schemas.openxmlformats.org/officeDocument/2006/relationships/slideMaster" Target="/ppt/slideMasters/slideMaster1.xml" Id="R76b4a933eb5f4577" /><Relationship Type="http://schemas.openxmlformats.org/officeDocument/2006/relationships/notesMaster" Target="/ppt/notesMasters/notesMaster1.xml" Id="R6efc30ad8e8c417e" /><Relationship Type="http://schemas.openxmlformats.org/officeDocument/2006/relationships/presProps" Target="/ppt/presProps.xml" Id="Rd2679b18f7a14021" /><Relationship Type="http://schemas.openxmlformats.org/officeDocument/2006/relationships/tableStyles" Target="/ppt/tableStyles.xml" Id="R6ac7681a978d4a95" /><Relationship Type="http://schemas.openxmlformats.org/officeDocument/2006/relationships/slide" Target="/ppt/slides/slide1.xml" Id="Rb42fef7c871b45f5" /><Relationship Type="http://schemas.openxmlformats.org/officeDocument/2006/relationships/slide" Target="/ppt/slides/slide2.xml" Id="R376a9b96dccf4e8a" /><Relationship Type="http://schemas.openxmlformats.org/officeDocument/2006/relationships/slide" Target="/ppt/slides/slide3.xml" Id="Rbd4298b1667d442a" /><Relationship Type="http://schemas.openxmlformats.org/officeDocument/2006/relationships/slide" Target="/ppt/slides/slide4.xml" Id="Rce9e5bd3a90a4274" /><Relationship Type="http://schemas.openxmlformats.org/officeDocument/2006/relationships/slide" Target="/ppt/slides/slide5.xml" Id="Rcc1b95da3aa94d38" /><Relationship Type="http://schemas.openxmlformats.org/officeDocument/2006/relationships/slide" Target="/ppt/slides/slide6.xml" Id="Rd9b259c0218346a7" /><Relationship Type="http://schemas.openxmlformats.org/officeDocument/2006/relationships/slide" Target="/ppt/slides/slide7.xml" Id="Rd4cc1f1cd8bd4363" /><Relationship Type="http://schemas.openxmlformats.org/officeDocument/2006/relationships/slide" Target="/ppt/slides/slide8.xml" Id="R3d097fda8cb441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afc7daf53140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78e764dd2c421c" /><Relationship Type="http://schemas.openxmlformats.org/officeDocument/2006/relationships/notesMaster" Target="/ppt/notesMasters/notesMaster1.xml" Id="R1ac47b46429a47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02094f7cf84624" /><Relationship Type="http://schemas.openxmlformats.org/officeDocument/2006/relationships/notesMaster" Target="/ppt/notesMasters/notesMaster1.xml" Id="Rf09c6574f52f42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385c21d9834b18" /><Relationship Type="http://schemas.openxmlformats.org/officeDocument/2006/relationships/notesMaster" Target="/ppt/notesMasters/notesMaster1.xml" Id="Rd04d1fc640f644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7655c4c9b0443d" /><Relationship Type="http://schemas.openxmlformats.org/officeDocument/2006/relationships/notesMaster" Target="/ppt/notesMasters/notesMaster1.xml" Id="R4a25a0c8cafb40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cf46a6f88a4b8f" /><Relationship Type="http://schemas.openxmlformats.org/officeDocument/2006/relationships/notesMaster" Target="/ppt/notesMasters/notesMaster1.xml" Id="Rdf7e2be18f9a43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74a30c1ea646b3" /><Relationship Type="http://schemas.openxmlformats.org/officeDocument/2006/relationships/notesMaster" Target="/ppt/notesMasters/notesMaster1.xml" Id="R6aedcf077f554e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86ac81fc7e4cc6" /><Relationship Type="http://schemas.openxmlformats.org/officeDocument/2006/relationships/notesMaster" Target="/ppt/notesMasters/notesMaster1.xml" Id="R0a73926161da41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891cb7bbfa4b9d" /><Relationship Type="http://schemas.openxmlformats.org/officeDocument/2006/relationships/notesMaster" Target="/ppt/notesMasters/notesMaster1.xml" Id="Rb5a530b3988d4a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我是杨凯杰，团队名称是降临派。</a:t>
            </a:r>
          </a:p>
          <a:p xmlns:a="http://schemas.openxmlformats.org/drawingml/2006/main">
            <a:r>
              <a:t>我们的作品 EvalCall 面向美团黑客松赛道二：复杂指令下的多轮对话评测系统。</a:t>
            </a:r>
          </a:p>
          <a:p xmlns:a="http://schemas.openxmlformats.org/drawingml/2006/main">
            <a:r>
              <a:t>它把复杂任务指令变成可测试、可归责、可回归的模型上线标准。接下来我用六步解释为什么这样设计。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开场只建立设计主线：六步依次解决不可比、不可执行、测不到、不能决策、错误归责和无法验证修复。</a:t>
            </a:r>
          </a:p>
          <a:p xmlns:a="http://schemas.openxmlformats.org/drawingml/2006/main">
            <a:r>
              <a:t>明确分工：PPT 解释为什么这样设计；Demo 证明真实运行；报告与产物供评委复核。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先讲风险：输入不冻结，模型对比就没有实验意义。</a:t>
            </a:r>
          </a:p>
          <a:p xmlns:a="http://schemas.openxmlformats.org/drawingml/2006/main">
            <a:r>
              <a:t>再讲机制：模拟测试和已有日志先归一成同一种任务包，冻结 SOP、模型、用户批次和哈希，六步只认这一个事实源。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先讲风险：直接把自然语言 SOP 塞给 Judge，每次理解可能不同。</a:t>
            </a:r>
          </a:p>
          <a:p xmlns:a="http://schemas.openxmlformats.org/drawingml/2006/main">
            <a:r>
              <a:t>再讲机制：LLM 只负责理解；确定性代码负责 L0/L1 分层、结构约束、严重度和来源校验，所以它是一份可执行合同。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先讲风险：历史日志只能覆盖已经发生过的情况。</a:t>
            </a:r>
          </a:p>
          <a:p xmlns:a="http://schemas.openxmlformats.org/drawingml/2006/main">
            <a:r>
              <a:t>再讲机制：Persona、对抗目标和固定 seed 主动制造边界，同时保证场景可复现；用户模拟器是官方测试工具，不是被评对象。</a:t>
            </a:r>
          </a:p>
          <a:p xmlns:a="http://schemas.openxmlformats.org/drawingml/2006/main">
            <a:r>
              <a:t>讲完点击“在线跑六步”。若实时通道异常，立即使用已验证结果，不在台上排障。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 PPT 后先讲风险：平均分会掩盖 P0 和关键流程中断。</a:t>
            </a:r>
          </a:p>
          <a:p xmlns:a="http://schemas.openxmlformats.org/drawingml/2006/main">
            <a:r>
              <a:t>再讲机制：门禁、履约和逐项证据分别回答能否上线、任务是否完成、为什么这样判断；第 4 步是核心交付终点。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先讲风险：低分可能来自模型、SOP、Judge 或测试数据。</a:t>
            </a:r>
          </a:p>
          <a:p xmlns:a="http://schemas.openxmlformats.org/drawingml/2006/main">
            <a:r>
              <a:t>再讲机制：把模型表现、SOP 健康、裁判状态和数据覆盖放在同一套确定性规则中互证，先分清责任，再谈优化。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先讲风险：模型和评分尺同时变化，回归变好也无法证明是谁起作用。</a:t>
            </a:r>
          </a:p>
          <a:p xmlns:a="http://schemas.openxmlformats.org/drawingml/2006/main">
            <a:r>
              <a:t>再讲机制：按根因只改责任对象，锁定 SOP、Checklist 和用户批次，返回第 3 步同尺重放。</a:t>
            </a:r>
          </a:p>
          <a:p xmlns:a="http://schemas.openxmlformats.org/drawingml/2006/main">
            <a:r>
              <a:t>收尾：EvalCall 交付的不是另一张排行榜，而是一套可测试、可归责、可回归的上线质量基础设施。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09bda26c24e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4e52a767dc48fe" /><Relationship Type="http://schemas.openxmlformats.org/officeDocument/2006/relationships/slideLayout" Target="/ppt/slideLayouts/slideLayout1.xml" Id="R3885e37cb46c4a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85e37cb46c4a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53c4cc1b345e5" /><Relationship Type="http://schemas.openxmlformats.org/officeDocument/2006/relationships/notesSlide" Target="/ppt/notesSlides/notesSlide1.xml" Id="R8fc71f11ad9341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6647df8364d90" /><Relationship Type="http://schemas.openxmlformats.org/officeDocument/2006/relationships/hyperlink" Target="https://kaijie0074-art.github.io/evalcall/live.html?access=evalcall-final-20260716-4c9a7e2d8f1b6a03c5d7e9f2b4a6810d" TargetMode="External" Id="R5efdd0597e4f47ad" /><Relationship Type="http://schemas.openxmlformats.org/officeDocument/2006/relationships/hyperlink" Target="https://kaijie0074-art.github.io/evalcall/app.html" TargetMode="External" Id="R16397ffc0f3a4f58" /><Relationship Type="http://schemas.openxmlformats.org/officeDocument/2006/relationships/notesSlide" Target="/ppt/notesSlides/notesSlide2.xml" Id="R28886cca0bcf46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f04bd5d0842f1" /><Relationship Type="http://schemas.openxmlformats.org/officeDocument/2006/relationships/image" Target="/ppt/media/image.png" Id="Raac65389f3a240a2" /><Relationship Type="http://schemas.openxmlformats.org/officeDocument/2006/relationships/hyperlink" Target="https://kaijie0074-art.github.io/evalcall/live.html?access=evalcall-final-20260716-4c9a7e2d8f1b6a03c5d7e9f2b4a6810d" TargetMode="External" Id="R0567e258a9bc45e9" /><Relationship Type="http://schemas.openxmlformats.org/officeDocument/2006/relationships/hyperlink" Target="https://kaijie0074-art.github.io/evalcall/app.html" TargetMode="External" Id="Rb7102fb3593a4b5f" /><Relationship Type="http://schemas.openxmlformats.org/officeDocument/2006/relationships/notesSlide" Target="/ppt/notesSlides/notesSlide3.xml" Id="Re6faff6165f949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5925e371f4966" /><Relationship Type="http://schemas.openxmlformats.org/officeDocument/2006/relationships/image" Target="/ppt/media/image2.png" Id="Rf408c81126b140ab" /><Relationship Type="http://schemas.openxmlformats.org/officeDocument/2006/relationships/hyperlink" Target="https://kaijie0074-art.github.io/evalcall/live.html?access=evalcall-final-20260716-4c9a7e2d8f1b6a03c5d7e9f2b4a6810d" TargetMode="External" Id="R1e63d2739bd443be" /><Relationship Type="http://schemas.openxmlformats.org/officeDocument/2006/relationships/hyperlink" Target="https://kaijie0074-art.github.io/evalcall/app.html" TargetMode="External" Id="Rfc5d4876008143a2" /><Relationship Type="http://schemas.openxmlformats.org/officeDocument/2006/relationships/notesSlide" Target="/ppt/notesSlides/notesSlide4.xml" Id="Rd619b8054d3d47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b48007e9a4146" /><Relationship Type="http://schemas.openxmlformats.org/officeDocument/2006/relationships/image" Target="/ppt/media/image3.png" Id="R95f89c3dbf834bd4" /><Relationship Type="http://schemas.openxmlformats.org/officeDocument/2006/relationships/hyperlink" Target="https://kaijie0074-art.github.io/evalcall/live.html?access=evalcall-final-20260716-4c9a7e2d8f1b6a03c5d7e9f2b4a6810d" TargetMode="External" Id="R91ed7eb3526e449a" /><Relationship Type="http://schemas.openxmlformats.org/officeDocument/2006/relationships/hyperlink" Target="https://kaijie0074-art.github.io/evalcall/app.html" TargetMode="External" Id="R1af64d351b224507" /><Relationship Type="http://schemas.openxmlformats.org/officeDocument/2006/relationships/notesSlide" Target="/ppt/notesSlides/notesSlide5.xml" Id="R35c516149ffb4c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a6841ca404b09" /><Relationship Type="http://schemas.openxmlformats.org/officeDocument/2006/relationships/image" Target="/ppt/media/image4.png" Id="R4ede4f6299924762" /><Relationship Type="http://schemas.openxmlformats.org/officeDocument/2006/relationships/hyperlink" Target="https://kaijie0074-art.github.io/evalcall/live.html?access=evalcall-final-20260716-4c9a7e2d8f1b6a03c5d7e9f2b4a6810d" TargetMode="External" Id="R111c875dbe5c4c28" /><Relationship Type="http://schemas.openxmlformats.org/officeDocument/2006/relationships/hyperlink" Target="https://kaijie0074-art.github.io/evalcall/app.html" TargetMode="External" Id="R71be0f13da3642f5" /><Relationship Type="http://schemas.openxmlformats.org/officeDocument/2006/relationships/notesSlide" Target="/ppt/notesSlides/notesSlide6.xml" Id="R14d0e2e9a69d4b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8b5490427405a" /><Relationship Type="http://schemas.openxmlformats.org/officeDocument/2006/relationships/image" Target="/ppt/media/image5.png" Id="R5f7aab3b610647c0" /><Relationship Type="http://schemas.openxmlformats.org/officeDocument/2006/relationships/hyperlink" Target="https://kaijie0074-art.github.io/evalcall/live.html?access=evalcall-final-20260716-4c9a7e2d8f1b6a03c5d7e9f2b4a6810d" TargetMode="External" Id="Rf5d41cc8b12d4d2a" /><Relationship Type="http://schemas.openxmlformats.org/officeDocument/2006/relationships/hyperlink" Target="https://kaijie0074-art.github.io/evalcall/app.html" TargetMode="External" Id="R998716a4dd954a2f" /><Relationship Type="http://schemas.openxmlformats.org/officeDocument/2006/relationships/notesSlide" Target="/ppt/notesSlides/notesSlide7.xml" Id="R49cd6291b82d46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e5e3c563e4882" /><Relationship Type="http://schemas.openxmlformats.org/officeDocument/2006/relationships/image" Target="/ppt/media/image4.png" Id="R053d30bba1ca4fd1" /><Relationship Type="http://schemas.openxmlformats.org/officeDocument/2006/relationships/hyperlink" Target="https://kaijie0074-art.github.io/evalcall/live.html?access=evalcall-final-20260716-4c9a7e2d8f1b6a03c5d7e9f2b4a6810d" TargetMode="External" Id="R191d494a0e7b4917" /><Relationship Type="http://schemas.openxmlformats.org/officeDocument/2006/relationships/hyperlink" Target="https://kaijie0074-art.github.io/evalcall/app.html" TargetMode="External" Id="Ra0e3d555e62543f6" /><Relationship Type="http://schemas.openxmlformats.org/officeDocument/2006/relationships/notesSlide" Target="/ppt/notesSlides/notesSlide8.xml" Id="R5938e085975742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EFFADB3-C24B-464A-A482-53E431F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美团黑客松 · 赛道二 · 决赛路演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5D2154-B96E-43F0-B2E9-7CEAA53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EvalCall｜外呼对话模型指令遵循自动评测系统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66D9FB-778F-4E38-BBD2-5560C32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dot-0">
            <a:extLst xmlns:a="http://schemas.openxmlformats.org/drawingml/2006/main">
              <a:ext uri="{FF2B5EF4-FFF2-40B4-BE49-F238E27FC236}">
                <a16:creationId xmlns:a16="http://schemas.microsoft.com/office/drawing/2014/main" id="{3727BDF2-CC2A-4F3C-AA91-4F0E6BFD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-0">
            <a:extLst xmlns:a="http://schemas.openxmlformats.org/drawingml/2006/main">
              <a:ext uri="{FF2B5EF4-FFF2-40B4-BE49-F238E27FC236}">
                <a16:creationId xmlns:a16="http://schemas.microsoft.com/office/drawing/2014/main" id="{20F518E8-7FC6-4EAD-A44E-6E969E7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题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1765322-5A09-483C-A66A-C483413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命题</a:t>
            </a:r>
          </a:p>
        </p:txBody>
      </p:sp>
      <p:sp>
        <p:nvSpPr>
          <p:cNvPr id="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1D68444-C300-41DA-957D-0CADF61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219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复杂指令下的多轮对话评测系统</a:t>
            </a:r>
          </a:p>
        </p:txBody>
      </p:sp>
      <p:sp>
        <p:nvSpPr>
          <p:cNvPr id="10" name="step-dot-1">
            <a:extLst xmlns:a="http://schemas.openxmlformats.org/drawingml/2006/main">
              <a:ext uri="{FF2B5EF4-FFF2-40B4-BE49-F238E27FC236}">
                <a16:creationId xmlns:a16="http://schemas.microsoft.com/office/drawing/2014/main" id="{C1DF2A64-EBDD-4012-8140-CB091C1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-1">
            <a:extLst xmlns:a="http://schemas.openxmlformats.org/drawingml/2006/main">
              <a:ext uri="{FF2B5EF4-FFF2-40B4-BE49-F238E27FC236}">
                <a16:creationId xmlns:a16="http://schemas.microsoft.com/office/drawing/2014/main" id="{9020754C-4655-4B67-93A1-D6945B1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队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2C15ABA-AF5B-4574-A693-1AE5E7C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团队名称</a:t>
            </a:r>
          </a:p>
        </p:txBody>
      </p:sp>
      <p:sp>
        <p:nvSpPr>
          <p:cNvPr id="1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C81D6D1-3A42-4375-A2DB-05B84F3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降临派</a:t>
            </a:r>
          </a:p>
        </p:txBody>
      </p:sp>
      <p:sp>
        <p:nvSpPr>
          <p:cNvPr id="14" name="step-dot-2">
            <a:extLst xmlns:a="http://schemas.openxmlformats.org/drawingml/2006/main">
              <a:ext uri="{FF2B5EF4-FFF2-40B4-BE49-F238E27FC236}">
                <a16:creationId xmlns:a16="http://schemas.microsoft.com/office/drawing/2014/main" id="{8B21AB0A-0540-4BED-B85C-74B3C3C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-2">
            <a:extLst xmlns:a="http://schemas.openxmlformats.org/drawingml/2006/main">
              <a:ext uri="{FF2B5EF4-FFF2-40B4-BE49-F238E27FC236}">
                <a16:creationId xmlns:a16="http://schemas.microsoft.com/office/drawing/2014/main" id="{BE7D4578-4A77-4ECD-A191-6C6D728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5412980-B5B8-41C5-BBC7-CC881B8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团队成员</a:t>
            </a:r>
          </a:p>
        </p:txBody>
      </p:sp>
      <p:sp>
        <p:nvSpPr>
          <p:cNvPr id="1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472E68F-8D8B-4A37-AF40-5384BD0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杨凯杰</a:t>
            </a:r>
          </a:p>
        </p:txBody>
      </p:sp>
      <p:sp>
        <p:nvSpPr>
          <p:cNvPr id="22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85B92780-0A54-4176-AE54-80AED4C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让复杂任务指令变成可测试、可归责、可回归的上线标准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E648FF3C-1484-417E-9F5E-498A0B7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自动测试 · 可解释门禁 · 同尺回归</a:t>
            </a:r>
          </a:p>
        </p:txBody>
      </p:sp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EFFADB3-C24B-464A-A482-53E431F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外呼模型上线前的自动化指令遵循评测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5D2154-B96E-43F0-B2E9-7CEAA53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让外呼模型在上线前，先失败十次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66D9FB-778F-4E38-BBD2-5560C32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9DC85EB-6A27-49A6-A6DB-FF60299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flow-line">
            <a:extLst xmlns:a="http://schemas.openxmlformats.org/drawingml/2006/main">
              <a:ext uri="{FF2B5EF4-FFF2-40B4-BE49-F238E27FC236}">
                <a16:creationId xmlns:a16="http://schemas.microsoft.com/office/drawing/2014/main" id="{A7B0684F-3DE1-469F-B089-30FA9B47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2887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dot-0">
            <a:extLst xmlns:a="http://schemas.openxmlformats.org/drawingml/2006/main">
              <a:ext uri="{FF2B5EF4-FFF2-40B4-BE49-F238E27FC236}">
                <a16:creationId xmlns:a16="http://schemas.microsoft.com/office/drawing/2014/main" id="{3727BDF2-CC2A-4F3C-AA91-4F0E6BFD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-0">
            <a:extLst xmlns:a="http://schemas.openxmlformats.org/drawingml/2006/main">
              <a:ext uri="{FF2B5EF4-FFF2-40B4-BE49-F238E27FC236}">
                <a16:creationId xmlns:a16="http://schemas.microsoft.com/office/drawing/2014/main" id="{20F518E8-7FC6-4EAD-A44E-6E969E7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1765322-5A09-483C-A66A-C483413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冻结测试任务</a:t>
            </a:r>
          </a:p>
        </p:txBody>
      </p:sp>
      <p:sp>
        <p:nvSpPr>
          <p:cNvPr id="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1D68444-C300-41DA-957D-0CADF61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模型 / 输入 / SOP / hash</a:t>
            </a:r>
          </a:p>
        </p:txBody>
      </p:sp>
      <p:sp>
        <p:nvSpPr>
          <p:cNvPr id="10" name="step-dot-1">
            <a:extLst xmlns:a="http://schemas.openxmlformats.org/drawingml/2006/main">
              <a:ext uri="{FF2B5EF4-FFF2-40B4-BE49-F238E27FC236}">
                <a16:creationId xmlns:a16="http://schemas.microsoft.com/office/drawing/2014/main" id="{C1DF2A64-EBDD-4012-8140-CB091C1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-1">
            <a:extLst xmlns:a="http://schemas.openxmlformats.org/drawingml/2006/main">
              <a:ext uri="{FF2B5EF4-FFF2-40B4-BE49-F238E27FC236}">
                <a16:creationId xmlns:a16="http://schemas.microsoft.com/office/drawing/2014/main" id="{9020754C-4655-4B67-93A1-D6945B1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2C15ABA-AF5B-4574-A693-1AE5E7C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编译评分合同</a:t>
            </a:r>
          </a:p>
        </p:txBody>
      </p:sp>
      <p:sp>
        <p:nvSpPr>
          <p:cNvPr id="1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C81D6D1-3A42-4375-A2DB-05B84F3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L0 安全 + L1 业务</a:t>
            </a:r>
          </a:p>
        </p:txBody>
      </p:sp>
      <p:sp>
        <p:nvSpPr>
          <p:cNvPr id="14" name="step-dot-2">
            <a:extLst xmlns:a="http://schemas.openxmlformats.org/drawingml/2006/main">
              <a:ext uri="{FF2B5EF4-FFF2-40B4-BE49-F238E27FC236}">
                <a16:creationId xmlns:a16="http://schemas.microsoft.com/office/drawing/2014/main" id="{8B21AB0A-0540-4BED-B85C-74B3C3C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-2">
            <a:extLst xmlns:a="http://schemas.openxmlformats.org/drawingml/2006/main">
              <a:ext uri="{FF2B5EF4-FFF2-40B4-BE49-F238E27FC236}">
                <a16:creationId xmlns:a16="http://schemas.microsoft.com/office/drawing/2014/main" id="{BE7D4578-4A77-4ECD-A191-6C6D728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5412980-B5B8-41C5-BBC7-CC881B8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主动测试模型</a:t>
            </a:r>
          </a:p>
        </p:txBody>
      </p:sp>
      <p:sp>
        <p:nvSpPr>
          <p:cNvPr id="1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472E68F-8D8B-4A37-AF40-5384BD0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Persona × 对抗分支</a:t>
            </a:r>
          </a:p>
        </p:txBody>
      </p:sp>
      <p:sp>
        <p:nvSpPr>
          <p:cNvPr id="18" name="step-dot-3">
            <a:extLst xmlns:a="http://schemas.openxmlformats.org/drawingml/2006/main">
              <a:ext uri="{FF2B5EF4-FFF2-40B4-BE49-F238E27FC236}">
                <a16:creationId xmlns:a16="http://schemas.microsoft.com/office/drawing/2014/main" id="{4F4ED39A-5F4D-4827-A0E0-05B192C4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-3">
            <a:extLst xmlns:a="http://schemas.openxmlformats.org/drawingml/2006/main">
              <a:ext uri="{FF2B5EF4-FFF2-40B4-BE49-F238E27FC236}">
                <a16:creationId xmlns:a16="http://schemas.microsoft.com/office/drawing/2014/main" id="{F52B6353-AD90-4D20-ADD2-6BAE145C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97F5F26-12C6-452C-A2DF-1949CF7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决定是否上线</a:t>
            </a:r>
          </a:p>
        </p:txBody>
      </p:sp>
      <p:sp>
        <p:nvSpPr>
          <p:cNvPr id="2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8E3E6EE-C136-46CD-9B40-5D5E42A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门禁 / 履约 / P0 / 证据</a:t>
            </a:r>
          </a:p>
        </p:txBody>
      </p:sp>
      <p:sp>
        <p:nvSpPr>
          <p:cNvPr id="22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85B92780-0A54-4176-AE54-80AED4C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跑完六步，精确回答三个问题：能不能上线？失败在哪里？到底该改谁？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E648FF3C-1484-417E-9F5E-498A0B7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PPT 解释为什么这样设计 · Demo 证明真实运行 · 报告与产物负责结果复核</a:t>
            </a:r>
          </a:p>
        </p:txBody>
      </p:sp>
      <p:sp>
        <p:nvSpPr>
          <p:cNvPr id="24" name="flow-line-row-2">
            <a:extLst xmlns:a="http://schemas.openxmlformats.org/drawingml/2006/main">
              <a:ext uri="{FF2B5EF4-FFF2-40B4-BE49-F238E27FC236}">
                <a16:creationId xmlns:a16="http://schemas.microsoft.com/office/drawing/2014/main" id="{9FF7EABC-BEE2-4BDE-96F0-2075FF5D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9102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dot-5">
            <a:extLst xmlns:a="http://schemas.openxmlformats.org/drawingml/2006/main">
              <a:ext uri="{FF2B5EF4-FFF2-40B4-BE49-F238E27FC236}">
                <a16:creationId xmlns:a16="http://schemas.microsoft.com/office/drawing/2014/main" id="{F9E6E76D-3B64-4136-83D1-EDAB2A48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step-n-5">
            <a:extLst xmlns:a="http://schemas.openxmlformats.org/drawingml/2006/main">
              <a:ext uri="{FF2B5EF4-FFF2-40B4-BE49-F238E27FC236}">
                <a16:creationId xmlns:a16="http://schemas.microsoft.com/office/drawing/2014/main" id="{A480B850-43FF-4E9C-8036-9539608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4879BEE7-933F-434D-9BC8-9F5EF41E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分离真实根因</a:t>
            </a:r>
          </a:p>
        </p:txBody>
      </p:sp>
      <p:sp>
        <p:nvSpPr>
          <p:cNvPr id="28" name="step-body-5">
            <a:extLst xmlns:a="http://schemas.openxmlformats.org/drawingml/2006/main">
              <a:ext uri="{FF2B5EF4-FFF2-40B4-BE49-F238E27FC236}">
                <a16:creationId xmlns:a16="http://schemas.microsoft.com/office/drawing/2014/main" id="{6A2887F8-74C4-4104-8D6A-242A585D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模型 / SOP / 裁判 / 数据</a:t>
            </a:r>
          </a:p>
        </p:txBody>
      </p:sp>
      <p:sp>
        <p:nvSpPr>
          <p:cNvPr id="29" name="step-dot-6">
            <a:extLst xmlns:a="http://schemas.openxmlformats.org/drawingml/2006/main">
              <a:ext uri="{FF2B5EF4-FFF2-40B4-BE49-F238E27FC236}">
                <a16:creationId xmlns:a16="http://schemas.microsoft.com/office/drawing/2014/main" id="{23E73DBE-3366-4643-901F-4A27567D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9525">
            <a:solidFill>
              <a:srgbClr val="FFCC00"/>
            </a:solidFill>
            <a:prstDash val="solid"/>
          </a:ln>
        </p:spPr>
      </p:sp>
      <p:sp>
        <p:nvSpPr>
          <p:cNvPr id="30" name="step-n-6">
            <a:extLst xmlns:a="http://schemas.openxmlformats.org/drawingml/2006/main">
              <a:ext uri="{FF2B5EF4-FFF2-40B4-BE49-F238E27FC236}">
                <a16:creationId xmlns:a16="http://schemas.microsoft.com/office/drawing/2014/main" id="{0AF895B3-0C7D-4F4A-AD53-77115BEB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31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52A093D1-21A9-4D21-AA78-5E4C7BF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同尺回归闭环</a:t>
            </a:r>
          </a:p>
        </p:txBody>
      </p:sp>
      <p:sp>
        <p:nvSpPr>
          <p:cNvPr id="32" name="step-body-6">
            <a:extLst xmlns:a="http://schemas.openxmlformats.org/drawingml/2006/main">
              <a:ext uri="{FF2B5EF4-FFF2-40B4-BE49-F238E27FC236}">
                <a16:creationId xmlns:a16="http://schemas.microsoft.com/office/drawing/2014/main" id="{230A79F8-88BC-4067-BD59-AED39F7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只改责任对象，再测一次</a:t>
            </a:r>
          </a:p>
        </p:txBody>
      </p:sp>
      <p:sp>
        <p:nvSpPr>
          <p:cNvPr id="33" name="live-demo-link-1">
            <a:extLst xmlns:a="http://schemas.openxmlformats.org/drawingml/2006/main">
              <a:ext uri="{FF2B5EF4-FFF2-40B4-BE49-F238E27FC236}">
                <a16:creationId xmlns:a16="http://schemas.microsoft.com/office/drawing/2014/main" id="{40AEA778-D098-42AA-9C4B-6F7D4059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5efdd0597e4f47ad"/>
              </a:rPr>
              <a:t>▶ 在线 Demo</a:t>
            </a:r>
          </a:p>
        </p:txBody>
      </p:sp>
      <p:sp>
        <p:nvSpPr>
          <p:cNvPr id="34" name="public-demo-link-1">
            <a:extLst xmlns:a="http://schemas.openxmlformats.org/drawingml/2006/main">
              <a:ext uri="{FF2B5EF4-FFF2-40B4-BE49-F238E27FC236}">
                <a16:creationId xmlns:a16="http://schemas.microsoft.com/office/drawing/2014/main" id="{00C861CC-9BCF-4D46-AB6E-57BFA80C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6397ffc0f3a4f58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01 · 冻结测试任务｜先把评测变成一次可复现的实验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先冻结变量，再评价模型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不做这一步：用户、SOP 或模型版本一变，任何好坏对比都失去意义。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双轨输入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模拟 / 日志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版本冻结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SOP·模型·用户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同批贯穿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六步共用任务包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demo_server.py + provenance.py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task = freeze(sop, model, users, batch)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manifest = hash_every_input(task)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精妙：双入口先归一，后续六步不再偷换输入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设计闭环：双轨输入 → 统一任务包 → 哈希冻结；整个评测只认一个版本事实源。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65389f3a240a2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2">
            <a:extLst xmlns:a="http://schemas.openxmlformats.org/drawingml/2006/main">
              <a:ext uri="{FF2B5EF4-FFF2-40B4-BE49-F238E27FC236}">
                <a16:creationId xmlns:a16="http://schemas.microsoft.com/office/drawing/2014/main" id="{756737C3-9C64-4C8A-AD93-12198F63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567e258a9bc45e9"/>
              </a:rPr>
              <a:t>▶ 在线 Demo</a:t>
            </a:r>
          </a:p>
        </p:txBody>
      </p:sp>
      <p:sp>
        <p:nvSpPr>
          <p:cNvPr id="21" name="public-demo-link-2">
            <a:extLst xmlns:a="http://schemas.openxmlformats.org/drawingml/2006/main">
              <a:ext uri="{FF2B5EF4-FFF2-40B4-BE49-F238E27FC236}">
                <a16:creationId xmlns:a16="http://schemas.microsoft.com/office/drawing/2014/main" id="{CD853EDC-9D98-4FD5-A535-FCA37C30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b7102fb3593a4b5f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02 · 建立评分标准｜评分标准不是提示词，而是可执行合同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LLM 理解规则，代码守住边界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4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不做这一步：自然语言有歧义，Judge 每次都可能理解成不同标准。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L0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通用安全红线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L1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任务业务规则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溯源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原文·严重度·条件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compiler.py / compile_task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L0 = safety_policy(); L1 = compile(sop)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checkpoint = verify(source, severity, condition)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精妙：生成能力与可审计约束解耦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设计闭环：SOP → 原子检查点 → 来源校验 → Checklist hash；评分标准由提示词变成合同。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8c81126b140ab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3">
            <a:extLst xmlns:a="http://schemas.openxmlformats.org/drawingml/2006/main">
              <a:ext uri="{FF2B5EF4-FFF2-40B4-BE49-F238E27FC236}">
                <a16:creationId xmlns:a16="http://schemas.microsoft.com/office/drawing/2014/main" id="{3D4617B6-4996-4E84-AA48-B191C1E9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e63d2739bd443be"/>
              </a:rPr>
              <a:t>▶ 在线 Demo</a:t>
            </a:r>
          </a:p>
        </p:txBody>
      </p:sp>
      <p:sp>
        <p:nvSpPr>
          <p:cNvPr id="21" name="public-demo-link-3">
            <a:extLst xmlns:a="http://schemas.openxmlformats.org/drawingml/2006/main">
              <a:ext uri="{FF2B5EF4-FFF2-40B4-BE49-F238E27FC236}">
                <a16:creationId xmlns:a16="http://schemas.microsoft.com/office/drawing/2014/main" id="{02F4CC26-4408-4620-95DF-C345C0C5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fc5d4876008143a2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03 · 测试外呼模型｜用户模拟器主动制造真实边界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不是等线上出事，而是上线前主动撞边界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不做这一步：历史日志只覆盖已发生情况，危险分支可能漏掉。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03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Persona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用户行为边界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对抗目标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主动撞脆弱点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133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固定 Seed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同场景可复现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simulator.py + arena.py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test = persona × adversarial_target × seed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transcript = run(target_model, test)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精妙：主动覆盖边界，同时保持场景可复现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设计闭环：Persona × 对抗目标 × 固定 seed → 测试对话；两种入口共用后半条评测链。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89c3dbf834bd4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4">
            <a:extLst xmlns:a="http://schemas.openxmlformats.org/drawingml/2006/main">
              <a:ext uri="{FF2B5EF4-FFF2-40B4-BE49-F238E27FC236}">
                <a16:creationId xmlns:a16="http://schemas.microsoft.com/office/drawing/2014/main" id="{AF2CDF5B-3B98-43BB-A50C-8C60C460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1ed7eb3526e449a"/>
              </a:rPr>
              <a:t>▶ 在线跑六步</a:t>
            </a:r>
          </a:p>
        </p:txBody>
      </p:sp>
      <p:sp>
        <p:nvSpPr>
          <p:cNvPr id="21" name="public-demo-link-4">
            <a:extLst xmlns:a="http://schemas.openxmlformats.org/drawingml/2006/main">
              <a:ext uri="{FF2B5EF4-FFF2-40B4-BE49-F238E27FC236}">
                <a16:creationId xmlns:a16="http://schemas.microsoft.com/office/drawing/2014/main" id="{1F7E4DBE-0D2D-439C-84E3-670AF506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af64d351b224507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04 · 输出评测报告｜报告的职责不是打分，而是做上线决策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平均分回答表现，门禁回答能不能上线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不做这一步：高平均分可能掩盖隐私泄露、P0 和关键流程中断。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门禁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P0 一票否决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履约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任务是否完成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逐项引用原话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scoring.py + report.py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gate = FAIL if P0 or critical_flow_failed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report = decision + evidence + blind_spots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精妙：先做发布决策，再解释为什么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设计闭环：P0 / 关键流程 / 履约 → 上线门禁；证据、盲区和复核队列回答“为什么”。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e4f6299924762"/>
          <a:srcRect xmlns:a="http://schemas.openxmlformats.org/drawingml/2006/main" l="0" t="8152" r="0" b="8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5">
            <a:extLst xmlns:a="http://schemas.openxmlformats.org/drawingml/2006/main">
              <a:ext uri="{FF2B5EF4-FFF2-40B4-BE49-F238E27FC236}">
                <a16:creationId xmlns:a16="http://schemas.microsoft.com/office/drawing/2014/main" id="{61C59CF2-0FFC-4D26-9350-735655E5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11c875dbe5c4c28"/>
              </a:rPr>
              <a:t>▶ 在线 Demo</a:t>
            </a:r>
          </a:p>
        </p:txBody>
      </p:sp>
      <p:sp>
        <p:nvSpPr>
          <p:cNvPr id="21" name="public-demo-link-5">
            <a:extLst xmlns:a="http://schemas.openxmlformats.org/drawingml/2006/main">
              <a:ext uri="{FF2B5EF4-FFF2-40B4-BE49-F238E27FC236}">
                <a16:creationId xmlns:a16="http://schemas.microsoft.com/office/drawing/2014/main" id="{80808561-F100-49D4-BBA2-AE4D1C10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71be0f13da3642f5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05 · 分析失败原因｜先分清责任，再决定优化谁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先分清责任，再决定改谁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不做这一步：SOP、Judge 或覆盖问题，都会被误判成模型能力差。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能力与策略问题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SOP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指令可执行性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裁判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Judge / 测试数据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attribution.py / analyze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signals = block + P0 + fulfillment + severity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root = compare(model, instruction, judge, data)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精妙：多信号互证，拒绝单一失败率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设计闭环：模型表现 × SOP 健康 × Judge 状态 × 数据覆盖 → 可解释根因，而不是默认怪模型。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aab3b610647c0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6">
            <a:extLst xmlns:a="http://schemas.openxmlformats.org/drawingml/2006/main">
              <a:ext uri="{FF2B5EF4-FFF2-40B4-BE49-F238E27FC236}">
                <a16:creationId xmlns:a16="http://schemas.microsoft.com/office/drawing/2014/main" id="{5C046E7E-4FC9-4E41-9599-2D40A78B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f5d41cc8b12d4d2a"/>
              </a:rPr>
              <a:t>▶ 在线 Demo</a:t>
            </a:r>
          </a:p>
        </p:txBody>
      </p:sp>
      <p:sp>
        <p:nvSpPr>
          <p:cNvPr id="21" name="public-demo-link-6">
            <a:extLst xmlns:a="http://schemas.openxmlformats.org/drawingml/2006/main">
              <a:ext uri="{FF2B5EF4-FFF2-40B4-BE49-F238E27FC236}">
                <a16:creationId xmlns:a16="http://schemas.microsoft.com/office/drawing/2014/main" id="{8B3A7256-100C-4B4A-9085-9FC1E248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98716a4dd954a2f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06 · 优化与回归｜只改责任对象，用同一把尺重新证明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只改责任对象，评分尺不变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不做这一步：模型和评分尺同时变化，无法证明谁起作用。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只改对象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按根因路由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7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锁定尺子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SOP·Checklist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Step 3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同批用户重放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repair.py + diff.py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repair(root_cause); lock(SOP_HASH, CHECK_HASH)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return step_3(same_users, new_target)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精妙：变化只发生在责任对象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设计闭环：根因路由 → 单变量修复 → 同尺回归 → 原生 diff；形成可证伪的优化闭环。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d30bba1ca4fd1"/>
          <a:srcRect xmlns:a="http://schemas.openxmlformats.org/drawingml/2006/main" l="0" t="8152" r="0" b="8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7">
            <a:extLst xmlns:a="http://schemas.openxmlformats.org/drawingml/2006/main">
              <a:ext uri="{FF2B5EF4-FFF2-40B4-BE49-F238E27FC236}">
                <a16:creationId xmlns:a16="http://schemas.microsoft.com/office/drawing/2014/main" id="{A146C632-4B71-4814-BD5D-B2693336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91d494a0e7b4917"/>
              </a:rPr>
              <a:t>▶ 在线 Demo</a:t>
            </a:r>
          </a:p>
        </p:txBody>
      </p:sp>
      <p:sp>
        <p:nvSpPr>
          <p:cNvPr id="21" name="public-demo-link-7">
            <a:extLst xmlns:a="http://schemas.openxmlformats.org/drawingml/2006/main">
              <a:ext uri="{FF2B5EF4-FFF2-40B4-BE49-F238E27FC236}">
                <a16:creationId xmlns:a16="http://schemas.microsoft.com/office/drawing/2014/main" id="{705C770E-3844-4808-B563-406B189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a0e3d555e62543f6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2026-07-14T18:15:22.5030000Z</dcterms:created>
  <dcterms:modified xsi:type="dcterms:W3CDTF">2026-07-14T18:15:22.5030000Z</dcterms:modified>
</coreProperties>
</file>